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大家好。今天我将为大家汇报一个基于 Steam 平台游戏推荐数据的完整数据科学项目。这个项目涵盖了从原始数据获取、清洗、探索性分析，到特征工程、机器学习建模，以及最终业务建议的全流程。我们使用的数据集包含超过四千一百万条用户推荐记录，来自 Kaggle 平台。</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分为六个部分。首先我会介绍项目背景和四个核心研究问题，然后展示我们构建的数据科学流水线。接着分两个章节深入分析游戏生态和用户行为画像。最后呈现建模评估结果、核心发现，以及面向开发者和平台运营的业务建议。</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的核心关系是一个三元组：哪类用户对什么特征的游戏给出了正面还是负面的评价。数据集包含四个文件，其中最重要的是四千一百万条推荐记录。考虑到内存限制，开发阶段我们采样了五十万条数据进行快速迭代，最终在全量数据上验证关键指标。技术栈方面，我们使用 Python 加 pandas 和 scikit-learn 构建流水线，XGBoost 作为主力模型。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我们围绕四个层层递进的研究问题展开分析。问题一，游戏生态画像：Steam 市场的结构性特征是什么？这包括价格分布、评分分布、类型频率和头部集中度。问题二，用户行为画像：谁在评价，活跃度如何分布？问题三，推荐预测建模：能否基于用户和游戏特征预测推荐行为？这是核心的机器学习任务。问题四，特征驱动因素：什么特征对推荐行为影响最大，以及如何将这些发现转化为可操作的业务建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实现了一个标准化的八阶段数据科学流水线。从数据读取开始，经过清洗预处理、探索性数据分析、可视化、特征工程，再到建模优化、模型评估，最终产出结论和建议。这里有两个关键设计需要强调。第一，我们使用 GroupShuffleSplit 按用户 ID 分组切分数据，严格防止数据泄漏。第二，交互特征的聚合操作必须在训练集上完成后再映射到测试集。整个项目采用测试驱动开发，编写了八十八个测试用例。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来看游戏生态的第一个维度：价格和评分。左边的直方图展示了游戏价格的分布形态。我们可以看到明显的双峰结构：第一个高峰在零到十五美元区间，主要是独立游戏和中小作品；第二个小高峰在六十美元附近，对应 3A 大作的首发定价。中间二十到四十美元的价位相对稀疏，形成了一个价格断层。右边的评分分布图显示评分整体偏高，中位数在零点七五到零点八五之间，呈左偏聚集形态。这种好评偏差意味着评分作为单一特征时区分度有限，需要结合其他维度。</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接下来看类型分布和市场趋势。左边的条形图显示 Indie 标签是数量最多的标签之一，与 Action、Adventure 并列前五，说明独立游戏已经成为平台的内容主体。右边的折线图展示了年度游戏发布量的变化趋势。二零一七年 Steam Direct 上线后，发布量出现了明显的跃升，内容供给持续高速增长。底部的长尾分布曲线揭示了一个更重要的结构特征：推荐量呈极端幂律分布，Gini 系数超过零点五。百分之一的头部游戏占据了三到五成的推荐量，而绝大多数尾部游戏几乎没有可见度。冷启动问题是这个市场最核心的挑战。</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转向用户行为分析。顶部的双直方图清楚地展示了用户评论数和购买数的分布形态——都是极端的右偏长尾分布。大多数用户买的多、评的少，评论行为比购买行为更加稀疏。我们将用户按评论数分为四个层级。最值得关注的是低活跃层：五到六成用户仅发表了一到三条评论，他们是沉默的大多数。这些用户的偏好数据是推荐系统最重要的未开发资源——如果能激励他们发表更多评价，将大幅改善模型质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继续深入用户评价行为。左边的直方图展示了每位用户的推荐率分布：整体推荐率在零点七五到零点八五之间，正面评价远多于负面。这带来了显著的类别不平衡问题——一个总是预测推荐的模型就能达到约八成的准确率，但这样的模型没有区分能力。因此，我们更关注 ROC-AUC 和 F1 分数，而非 Accuracy。右边的散点图展示了购买数和评论数的正相关关系，同时揭示了两类典型用户：收藏家型和意见领袖型。另外，我们发现有两到四成用户是纯好评用户，其中大部分只发表了一条评论。这些用户缺乏区分信息，需要在建模前剔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特征工程阶段，我们构造了三大类特征。游戏侧包括价格、评分、发布年份和标签数量；用户侧包括已购产品数、评论数和两者的比值；最重要的是交互特征——从推荐记录中聚合的游戏口碑、用户评价倾向和游戏热度。右边的热力图展示了各特征之间的相关性。这里必须强调防泄漏原则：所有交互特征必须在训练集上单独聚合，然后映射到测试集，绝对不能在整个数据集上计算后再切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我们对比了三个基线模型和三个机器学习模型。左边的 ROC 曲线图展示了各模型的排序能力。逻辑回归提供了一个可解释的线性基线；随机森林引入了非线性拟合能力；XGBoost 通过梯度提升实现了最优性能，ROC-AUC 在零点七五到零点八五区间。右边的混淆矩阵显示了最优模型对正负样本的区分情况。由于类别不平衡，我们不以 Accuracy 为最终评判标准，而是综合看 ROC-AUC、F1 分数和混淆矩阵中的具体错误类型分布。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模型不仅能预测，还能解释为什么。特征重要性分析揭示了一个清晰的信息：游戏口碑和用户历史评价倾向是最强的两个预测特征。这意味着用户的推荐行为在很大程度上可以被游戏的整体质量和用户自身的行为模式所解释。部分依赖图进一步展示了特征与推荐概率之间的非线性关系：游戏热度对推荐概率的影响并非单调，极热门游戏可能因为过高的期望落差导致推荐率反而有所下降。学习曲线表明，随着训练样本的增加，模型性能稳步提升，且没有出现明显的过拟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让我们总结十项核心发现。游戏生态方面，Steam 是赢家通吃的高度集中市场，评分整体偏高且缺乏区分度，独立游戏已成为内容主体。用户行为方面，评价行为呈极端长尾分布，五到六成用户是沉默的大多数，类别不平衡显著。建模方面，机器学习模型能够有效预测推荐行为，交互特征的预测力最强。每项发现我们都标注了置信度等级——从基于描述性统计的高置信度，到基于模型输出的中置信度，再到需要进一步验证的探索性发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基于这些发现，我们提出了六条业务建议，分两个视角。面向开发者：第一，定价应避开二十到四十美元的价格断层；第二，选择 Indie 标签搭配一个热门大类，使用两到四个精准标签而非堆砌泛标签；第三，游戏上线后前五十到一百条评价至关重要，需要积极管理初期口碑。面向平台运营：第一，推荐算法应将游戏口碑和用户历史倾向作为第一优先级特征；第二，对新游戏给予曝光倾斜、对新用户先用热度锚定推荐；第三，设计机制激励沉默用户发表评价。每条建议都附上了证据强度标注——哪些是基于统计事实的强证据建议，哪些是需要 A/B 测试验证的探索性建议。</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任何研究都有局限性。数据层面，首先结论仅限于 Steam 平台，不能直接套用到主机或移动端。其次用户数据缺乏人口统计信息，这是 Steam 的隐私保护政策所致。另外显式反馈数据固有的自选择偏差——不满意的用户可能直接退款而不评价——导致差评系统性低于真实比例。方法层面，我们没有使用协同过滤作为对比基线，也没有利用 NLP 技术处理游戏描述文本和细粒度标签。后续改进方向包括：引入协同过滤对比实验、使用 NLP 语义特征、深入时序分析、尝试深度学习方法，以及部署一个交互式推荐 Demo 来展示模型能力。</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让我们回顾五个核心要点。第一，我们完成了从原始数据到可落地建议的完整数据科学流水线，八十八个测试用例全部通过。第二，Steam 是赢家通吃的市场，冷启动是核心挑战。第三，用户行为呈极端长尾，沉默用户的数据价值是推荐系统最重要的未开发资源。第四，机器学习模型能有效预测推荐行为，交互特征是最强的预测因子。第五，业务建议覆盖了开发者和平台运营两个视角，每条建议都基于数据支撑并标注了证据强度。以上就是本次汇报的全部内容，欢迎大家提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14123d152855c8e.png"/>
  <Relationship Id="rId3" Type="http://schemas.openxmlformats.org/officeDocument/2006/relationships/image" Target="../media/image_284870d086b8b63d.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80e383c5464e1bb.png"/>
  <Relationship Id="rId3" Type="http://schemas.openxmlformats.org/officeDocument/2006/relationships/image" Target="../media/image_1771c86885fd7340.png"/>
  <Relationship Id="rId4" Type="http://schemas.openxmlformats.org/officeDocument/2006/relationships/image" Target="../media/image_e666f75d5a2c95cf.pn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7a3b638d92ea512.png"/>
  <Relationship Id="rId3" Type="http://schemas.openxmlformats.org/officeDocument/2006/relationships/image" Target="../media/image_1173abe3eef04aff.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ba16fce008fc8cf.png"/>
  <Relationship Id="rId3" Type="http://schemas.openxmlformats.org/officeDocument/2006/relationships/image" Target="../media/image_f3a73b8a620a2f22.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59707faa09b5f97.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493b1e05f6b8c29.png"/>
  <Relationship Id="rId3" Type="http://schemas.openxmlformats.org/officeDocument/2006/relationships/image" Target="../media/image_a361b9bee3779157.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e06e59e7a653783.png"/>
  <Relationship Id="rId3" Type="http://schemas.openxmlformats.org/officeDocument/2006/relationships/image" Target="../media/image_624b4319d72ec572.png"/>
  <Relationship Id="rId4" Type="http://schemas.openxmlformats.org/officeDocument/2006/relationships/image" Target="../media/image_663b03b88c0273ed.png"/>
  <Relationship Id="rId5"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50000">
                <a:srgbClr val="1E4D7B"/>
              </a:gs>
              <a:gs pos="100000">
                <a:srgbClr val="2E86AB"/>
              </a:gs>
            </a:gsLst>
            <a:lin ang="2700000" scaled="1"/>
          </a:gradFill>
          <a:ln>
            <a:noFill/>
          </a:ln>
        </p:spPr>
      </p:sp>
      <p:sp>
        <p:nvSpPr>
          <p:cNvPr id="3" name="Rectangle 3"/>
          <p:cNvSpPr/>
          <p:nvPr/>
        </p:nvSpPr>
        <p:spPr>
          <a:xfrm>
            <a:off x="0" y="0"/>
            <a:ext cx="12192000" cy="6858000"/>
          </a:xfrm>
          <a:prstGeom prst="rect">
            <a:avLst/>
          </a:prstGeom>
          <a:gradFill>
            <a:gsLst>
              <a:gs pos="0">
                <a:srgbClr val="2E86AB">
                  <a:alpha val="30000"/>
                </a:srgbClr>
              </a:gs>
              <a:gs pos="100000">
                <a:srgbClr val="1A3A5C">
                  <a:alpha val="0"/>
                </a:srgbClr>
              </a:gs>
            </a:gsLst>
            <a:path path="circle">
              <a:fillToRect l="50000" t="50000" r="50000" b="50000"/>
            </a:path>
          </a:gradFill>
          <a:ln>
            <a:noFill/>
          </a:ln>
        </p:spPr>
      </p:sp>
      <p:sp>
        <p:nvSpPr>
          <p:cNvPr id="4" name="Ellipse 4"/>
          <p:cNvSpPr/>
          <p:nvPr/>
        </p:nvSpPr>
        <p:spPr>
          <a:xfrm>
            <a:off x="8763000" y="-285750"/>
            <a:ext cx="3429000" cy="3429000"/>
          </a:xfrm>
          <a:prstGeom prst="ellipse">
            <a:avLst/>
          </a:prstGeom>
          <a:noFill/>
          <a:ln w="9525">
            <a:solidFill>
              <a:srgbClr val="FFFFFF">
                <a:alpha val="4000"/>
              </a:srgbClr>
            </a:solidFill>
          </a:ln>
        </p:spPr>
      </p:sp>
      <p:sp>
        <p:nvSpPr>
          <p:cNvPr id="5" name="Ellipse 5"/>
          <p:cNvSpPr/>
          <p:nvPr/>
        </p:nvSpPr>
        <p:spPr>
          <a:xfrm>
            <a:off x="9334500" y="285750"/>
            <a:ext cx="2286000" cy="2286000"/>
          </a:xfrm>
          <a:prstGeom prst="ellipse">
            <a:avLst/>
          </a:prstGeom>
          <a:noFill/>
          <a:ln w="9525">
            <a:solidFill>
              <a:srgbClr val="FFFFFF">
                <a:alpha val="6000"/>
              </a:srgbClr>
            </a:solidFill>
          </a:ln>
        </p:spPr>
      </p:sp>
      <p:sp>
        <p:nvSpPr>
          <p:cNvPr id="6" name="Ellipse 6"/>
          <p:cNvSpPr/>
          <p:nvPr/>
        </p:nvSpPr>
        <p:spPr>
          <a:xfrm>
            <a:off x="952500" y="4762500"/>
            <a:ext cx="1905000" cy="1905000"/>
          </a:xfrm>
          <a:prstGeom prst="ellipse">
            <a:avLst/>
          </a:prstGeom>
          <a:noFill/>
          <a:ln w="9525">
            <a:solidFill>
              <a:srgbClr val="FFFFFF">
                <a:alpha val="4000"/>
              </a:srgbClr>
            </a:solidFill>
          </a:ln>
        </p:spPr>
      </p:sp>
      <p:grpSp>
        <p:nvGrpSpPr>
          <p:cNvPr id="21" name="Group 21"/>
          <p:cNvGrpSpPr/>
          <p:nvPr/>
        </p:nvGrpSpPr>
        <p:grpSpPr>
          <a:xfrm>
            <a:off x="938212" y="938212"/>
            <a:ext cx="10315575" cy="4791075"/>
            <a:chOff x="938212" y="938212"/>
            <a:chExt cx="10315575" cy="4791075"/>
          </a:xfrm>
        </p:grpSpPr>
        <p:sp>
          <p:nvSpPr>
            <p:cNvPr id="7" name="Ellipse 7"/>
            <p:cNvSpPr/>
            <p:nvPr/>
          </p:nvSpPr>
          <p:spPr>
            <a:xfrm>
              <a:off x="938212" y="938212"/>
              <a:ext cx="28575" cy="28575"/>
            </a:xfrm>
            <a:prstGeom prst="ellipse">
              <a:avLst/>
            </a:prstGeom>
            <a:solidFill>
              <a:srgbClr val="FFFFFF">
                <a:alpha val="3000"/>
              </a:srgbClr>
            </a:solidFill>
            <a:ln>
              <a:noFill/>
            </a:ln>
          </p:spPr>
        </p:sp>
        <p:sp>
          <p:nvSpPr>
            <p:cNvPr id="8" name="Ellipse 8"/>
            <p:cNvSpPr/>
            <p:nvPr/>
          </p:nvSpPr>
          <p:spPr>
            <a:xfrm>
              <a:off x="1890712" y="938212"/>
              <a:ext cx="28575" cy="28575"/>
            </a:xfrm>
            <a:prstGeom prst="ellipse">
              <a:avLst/>
            </a:prstGeom>
            <a:solidFill>
              <a:srgbClr val="FFFFFF">
                <a:alpha val="3000"/>
              </a:srgbClr>
            </a:solidFill>
            <a:ln>
              <a:noFill/>
            </a:ln>
          </p:spPr>
        </p:sp>
        <p:sp>
          <p:nvSpPr>
            <p:cNvPr id="9" name="Ellipse 9"/>
            <p:cNvSpPr/>
            <p:nvPr/>
          </p:nvSpPr>
          <p:spPr>
            <a:xfrm>
              <a:off x="2843212" y="938212"/>
              <a:ext cx="28575" cy="28575"/>
            </a:xfrm>
            <a:prstGeom prst="ellipse">
              <a:avLst/>
            </a:prstGeom>
            <a:solidFill>
              <a:srgbClr val="FFFFFF">
                <a:alpha val="3000"/>
              </a:srgbClr>
            </a:solidFill>
            <a:ln>
              <a:noFill/>
            </a:ln>
          </p:spPr>
        </p:sp>
        <p:sp>
          <p:nvSpPr>
            <p:cNvPr id="10" name="Ellipse 10"/>
            <p:cNvSpPr/>
            <p:nvPr/>
          </p:nvSpPr>
          <p:spPr>
            <a:xfrm>
              <a:off x="3795712" y="938212"/>
              <a:ext cx="28575" cy="28575"/>
            </a:xfrm>
            <a:prstGeom prst="ellipse">
              <a:avLst/>
            </a:prstGeom>
            <a:solidFill>
              <a:srgbClr val="FFFFFF">
                <a:alpha val="3000"/>
              </a:srgbClr>
            </a:solidFill>
            <a:ln>
              <a:noFill/>
            </a:ln>
          </p:spPr>
        </p:sp>
        <p:sp>
          <p:nvSpPr>
            <p:cNvPr id="11" name="Ellipse 11"/>
            <p:cNvSpPr/>
            <p:nvPr/>
          </p:nvSpPr>
          <p:spPr>
            <a:xfrm>
              <a:off x="938212" y="1890712"/>
              <a:ext cx="28575" cy="28575"/>
            </a:xfrm>
            <a:prstGeom prst="ellipse">
              <a:avLst/>
            </a:prstGeom>
            <a:solidFill>
              <a:srgbClr val="FFFFFF">
                <a:alpha val="3000"/>
              </a:srgbClr>
            </a:solidFill>
            <a:ln>
              <a:noFill/>
            </a:ln>
          </p:spPr>
        </p:sp>
        <p:sp>
          <p:nvSpPr>
            <p:cNvPr id="12" name="Ellipse 12"/>
            <p:cNvSpPr/>
            <p:nvPr/>
          </p:nvSpPr>
          <p:spPr>
            <a:xfrm>
              <a:off x="1890712" y="1890712"/>
              <a:ext cx="28575" cy="28575"/>
            </a:xfrm>
            <a:prstGeom prst="ellipse">
              <a:avLst/>
            </a:prstGeom>
            <a:solidFill>
              <a:srgbClr val="FFFFFF">
                <a:alpha val="3000"/>
              </a:srgbClr>
            </a:solidFill>
            <a:ln>
              <a:noFill/>
            </a:ln>
          </p:spPr>
        </p:sp>
        <p:sp>
          <p:nvSpPr>
            <p:cNvPr id="13" name="Ellipse 13"/>
            <p:cNvSpPr/>
            <p:nvPr/>
          </p:nvSpPr>
          <p:spPr>
            <a:xfrm>
              <a:off x="938212" y="2843212"/>
              <a:ext cx="28575" cy="28575"/>
            </a:xfrm>
            <a:prstGeom prst="ellipse">
              <a:avLst/>
            </a:prstGeom>
            <a:solidFill>
              <a:srgbClr val="FFFFFF">
                <a:alpha val="3000"/>
              </a:srgbClr>
            </a:solidFill>
            <a:ln>
              <a:noFill/>
            </a:ln>
          </p:spPr>
        </p:sp>
        <p:sp>
          <p:nvSpPr>
            <p:cNvPr id="14" name="Ellipse 14"/>
            <p:cNvSpPr/>
            <p:nvPr/>
          </p:nvSpPr>
          <p:spPr>
            <a:xfrm>
              <a:off x="1890712" y="2843212"/>
              <a:ext cx="28575" cy="28575"/>
            </a:xfrm>
            <a:prstGeom prst="ellipse">
              <a:avLst/>
            </a:prstGeom>
            <a:solidFill>
              <a:srgbClr val="FFFFFF">
                <a:alpha val="3000"/>
              </a:srgbClr>
            </a:solidFill>
            <a:ln>
              <a:noFill/>
            </a:ln>
          </p:spPr>
        </p:sp>
        <p:sp>
          <p:nvSpPr>
            <p:cNvPr id="15" name="Ellipse 15"/>
            <p:cNvSpPr/>
            <p:nvPr/>
          </p:nvSpPr>
          <p:spPr>
            <a:xfrm>
              <a:off x="10272712" y="3795712"/>
              <a:ext cx="28575" cy="28575"/>
            </a:xfrm>
            <a:prstGeom prst="ellipse">
              <a:avLst/>
            </a:prstGeom>
            <a:solidFill>
              <a:srgbClr val="FFFFFF">
                <a:alpha val="3000"/>
              </a:srgbClr>
            </a:solidFill>
            <a:ln>
              <a:noFill/>
            </a:ln>
          </p:spPr>
        </p:sp>
        <p:sp>
          <p:nvSpPr>
            <p:cNvPr id="16" name="Ellipse 16"/>
            <p:cNvSpPr/>
            <p:nvPr/>
          </p:nvSpPr>
          <p:spPr>
            <a:xfrm>
              <a:off x="11225212" y="3795712"/>
              <a:ext cx="28575" cy="28575"/>
            </a:xfrm>
            <a:prstGeom prst="ellipse">
              <a:avLst/>
            </a:prstGeom>
            <a:solidFill>
              <a:srgbClr val="FFFFFF">
                <a:alpha val="3000"/>
              </a:srgbClr>
            </a:solidFill>
            <a:ln>
              <a:noFill/>
            </a:ln>
          </p:spPr>
        </p:sp>
        <p:sp>
          <p:nvSpPr>
            <p:cNvPr id="17" name="Ellipse 17"/>
            <p:cNvSpPr/>
            <p:nvPr/>
          </p:nvSpPr>
          <p:spPr>
            <a:xfrm>
              <a:off x="10272712" y="4748212"/>
              <a:ext cx="28575" cy="28575"/>
            </a:xfrm>
            <a:prstGeom prst="ellipse">
              <a:avLst/>
            </a:prstGeom>
            <a:solidFill>
              <a:srgbClr val="FFFFFF">
                <a:alpha val="3000"/>
              </a:srgbClr>
            </a:solidFill>
            <a:ln>
              <a:noFill/>
            </a:ln>
          </p:spPr>
        </p:sp>
        <p:sp>
          <p:nvSpPr>
            <p:cNvPr id="18" name="Ellipse 18"/>
            <p:cNvSpPr/>
            <p:nvPr/>
          </p:nvSpPr>
          <p:spPr>
            <a:xfrm>
              <a:off x="11225212" y="4748212"/>
              <a:ext cx="28575" cy="28575"/>
            </a:xfrm>
            <a:prstGeom prst="ellipse">
              <a:avLst/>
            </a:prstGeom>
            <a:solidFill>
              <a:srgbClr val="FFFFFF">
                <a:alpha val="3000"/>
              </a:srgbClr>
            </a:solidFill>
            <a:ln>
              <a:noFill/>
            </a:ln>
          </p:spPr>
        </p:sp>
        <p:sp>
          <p:nvSpPr>
            <p:cNvPr id="19" name="Ellipse 19"/>
            <p:cNvSpPr/>
            <p:nvPr/>
          </p:nvSpPr>
          <p:spPr>
            <a:xfrm>
              <a:off x="10272712" y="5700712"/>
              <a:ext cx="28575" cy="28575"/>
            </a:xfrm>
            <a:prstGeom prst="ellipse">
              <a:avLst/>
            </a:prstGeom>
            <a:solidFill>
              <a:srgbClr val="FFFFFF">
                <a:alpha val="3000"/>
              </a:srgbClr>
            </a:solidFill>
            <a:ln>
              <a:noFill/>
            </a:ln>
          </p:spPr>
        </p:sp>
        <p:sp>
          <p:nvSpPr>
            <p:cNvPr id="20" name="Ellipse 20"/>
            <p:cNvSpPr/>
            <p:nvPr/>
          </p:nvSpPr>
          <p:spPr>
            <a:xfrm>
              <a:off x="11225212" y="5700712"/>
              <a:ext cx="28575" cy="28575"/>
            </a:xfrm>
            <a:prstGeom prst="ellipse">
              <a:avLst/>
            </a:prstGeom>
            <a:solidFill>
              <a:srgbClr val="FFFFFF">
                <a:alpha val="3000"/>
              </a:srgbClr>
            </a:solidFill>
            <a:ln>
              <a:noFill/>
            </a:ln>
          </p:spPr>
        </p:sp>
      </p:grpSp>
      <p:sp>
        <p:nvSpPr>
          <p:cNvPr id="22" name="Line 22"/>
          <p:cNvSpPr/>
          <p:nvPr/>
        </p:nvSpPr>
        <p:spPr>
          <a:xfrm>
            <a:off x="5143500" y="3524250"/>
            <a:ext cx="1905000" cy="9525"/>
          </a:xfrm>
          <a:custGeom>
            <a:avLst/>
            <a:gdLst/>
            <a:ahLst/>
            <a:cxnLst/>
            <a:rect l="l" t="t" r="r" b="b"/>
            <a:pathLst>
              <a:path w="1905000" h="9525">
                <a:moveTo>
                  <a:pt x="0" y="0"/>
                </a:moveTo>
                <a:lnTo>
                  <a:pt x="1905000" y="0"/>
                </a:lnTo>
              </a:path>
            </a:pathLst>
          </a:custGeom>
          <a:noFill/>
          <a:ln w="19050">
            <a:gradFill>
              <a:gsLst>
                <a:gs pos="0">
                  <a:srgbClr val="F18F01">
                    <a:alpha val="0"/>
                  </a:srgbClr>
                </a:gs>
                <a:gs pos="50000">
                  <a:srgbClr val="F18F01"/>
                </a:gs>
                <a:gs pos="100000">
                  <a:srgbClr val="F18F01">
                    <a:alpha val="0"/>
                  </a:srgbClr>
                </a:gs>
              </a:gsLst>
              <a:lin ang="0" scaled="1"/>
            </a:gradFill>
          </a:ln>
        </p:spPr>
      </p:sp>
      <p:grpSp>
        <p:nvGrpSpPr>
          <p:cNvPr id="27" name="Group 27"/>
          <p:cNvGrpSpPr/>
          <p:nvPr/>
        </p:nvGrpSpPr>
        <p:grpSpPr>
          <a:xfrm>
            <a:off x="2254567" y="2529840"/>
            <a:ext cx="7682865" cy="3189922"/>
            <a:chOff x="2254567" y="2529840"/>
            <a:chExt cx="7682865" cy="3189922"/>
          </a:xfrm>
        </p:grpSpPr>
        <p:sp>
          <p:nvSpPr>
            <p:cNvPr id="23" name="TextBox 23"/>
            <p:cNvSpPr txBox="1"/>
            <p:nvPr/>
          </p:nvSpPr>
          <p:spPr>
            <a:xfrm>
              <a:off x="2254567" y="2529840"/>
              <a:ext cx="7682865" cy="975360"/>
            </a:xfrm>
            <a:prstGeom prst="rect">
              <a:avLst/>
            </a:prstGeom>
            <a:noFill/>
            <a:ln>
              <a:noFill/>
            </a:ln>
          </p:spPr>
          <p:txBody>
            <a:bodyPr wrap="none" lIns="0" tIns="0" rIns="0" bIns="0" anchor="t" anchorCtr="0">
              <a:spAutoFit/>
            </a:bodyPr>
            <a:lstStyle/>
            <a:p>
              <a:pPr algn="ctr"/>
              <a:r>
                <a:rPr lang="zh-CN" sz="4800" b="1" dirty="0">
                  <a:solidFill>
                    <a:srgbClr val="FFFFFF"/>
                  </a:solidFill>
                  <a:latin typeface="Arial"/>
                  <a:ea typeface="Microsoft YaHei"/>
                  <a:cs typeface="Arial"/>
                </a:rPr>
                <a:t>Steam 游戏推荐数据分析</a:t>
              </a:r>
            </a:p>
          </p:txBody>
        </p:sp>
        <p:sp>
          <p:nvSpPr>
            <p:cNvPr id="24" name="TextBox 24"/>
            <p:cNvSpPr txBox="1"/>
            <p:nvPr/>
          </p:nvSpPr>
          <p:spPr>
            <a:xfrm>
              <a:off x="3006757" y="3710940"/>
              <a:ext cx="6178487" cy="365760"/>
            </a:xfrm>
            <a:prstGeom prst="rect">
              <a:avLst/>
            </a:prstGeom>
            <a:noFill/>
            <a:ln>
              <a:noFill/>
            </a:ln>
          </p:spPr>
          <p:txBody>
            <a:bodyPr wrap="none" lIns="0" tIns="0" rIns="0" bIns="0" anchor="t" anchorCtr="0">
              <a:spAutoFit/>
            </a:bodyPr>
            <a:lstStyle/>
            <a:p>
              <a:pPr algn="ctr"/>
              <a:r>
                <a:rPr lang="zh-CN" sz="1800" dirty="0">
                  <a:solidFill>
                    <a:srgbClr val="FFFFFF">
                      <a:alphaMod val="85000"/>
                    </a:srgbClr>
                  </a:solidFill>
                  <a:latin typeface="Arial"/>
                  <a:ea typeface="Microsoft YaHei"/>
                  <a:cs typeface="Arial"/>
                </a:rPr>
                <a:t>从 4100 万条评价到可落地业务建议的完整数据科学流水线</a:t>
              </a:r>
            </a:p>
          </p:txBody>
        </p:sp>
        <p:sp>
          <p:nvSpPr>
            <p:cNvPr id="25" name="TextBox 25"/>
            <p:cNvSpPr txBox="1"/>
            <p:nvPr/>
          </p:nvSpPr>
          <p:spPr>
            <a:xfrm>
              <a:off x="5600700" y="5204460"/>
              <a:ext cx="990600" cy="243840"/>
            </a:xfrm>
            <a:prstGeom prst="rect">
              <a:avLst/>
            </a:prstGeom>
            <a:noFill/>
            <a:ln>
              <a:noFill/>
            </a:ln>
          </p:spPr>
          <p:txBody>
            <a:bodyPr wrap="none" lIns="0" tIns="0" rIns="0" bIns="0" anchor="t" anchorCtr="0">
              <a:spAutoFit/>
            </a:bodyPr>
            <a:lstStyle/>
            <a:p>
              <a:pPr algn="ctr"/>
              <a:r>
                <a:rPr lang="zh-CN" sz="1200" dirty="0">
                  <a:solidFill>
                    <a:srgbClr val="FFFFFF">
                      <a:alphaMod val="60000"/>
                    </a:srgbClr>
                  </a:solidFill>
                  <a:latin typeface="Arial"/>
                  <a:ea typeface="Microsoft YaHei"/>
                  <a:cs typeface="Arial"/>
                </a:rPr>
                <a:t>课堂项目汇报</a:t>
              </a:r>
            </a:p>
          </p:txBody>
        </p:sp>
        <p:sp>
          <p:nvSpPr>
            <p:cNvPr id="26" name="TextBox 26"/>
            <p:cNvSpPr txBox="1"/>
            <p:nvPr/>
          </p:nvSpPr>
          <p:spPr>
            <a:xfrm>
              <a:off x="5428083" y="5506402"/>
              <a:ext cx="1335834" cy="213360"/>
            </a:xfrm>
            <a:prstGeom prst="rect">
              <a:avLst/>
            </a:prstGeom>
            <a:noFill/>
            <a:ln>
              <a:noFill/>
            </a:ln>
          </p:spPr>
          <p:txBody>
            <a:bodyPr wrap="none" lIns="0" tIns="0" rIns="0" bIns="0" anchor="t" anchorCtr="0">
              <a:spAutoFit/>
            </a:bodyPr>
            <a:lstStyle/>
            <a:p>
              <a:pPr algn="ctr"/>
              <a:r>
                <a:rPr lang="zh-CN" sz="1050" dirty="0">
                  <a:solidFill>
                    <a:srgbClr val="FFFFFF">
                      <a:alphaMod val="40000"/>
                    </a:srgbClr>
                  </a:solidFill>
                  <a:latin typeface="Arial"/>
                  <a:ea typeface="Microsoft YaHei"/>
                  <a:cs typeface="Arial"/>
                </a:rPr>
                <a:t>数据科学课程 · 2026</a:t>
              </a:r>
            </a:p>
          </p:txBody>
        </p:sp>
      </p:grpSp>
      <p:sp>
        <p:nvSpPr>
          <p:cNvPr id="28" name="TextBox 28"/>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FFFFFF">
                    <a:alphaMod val="30000"/>
                  </a:srgbClr>
                </a:solidFill>
                <a:latin typeface="Arial"/>
                <a:ea typeface="Microsoft YaHei"/>
                <a:cs typeface="Arial"/>
              </a:rPr>
              <a:t>01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762000" y="476250"/>
            <a:ext cx="2714797" cy="588169"/>
            <a:chOff x="762000" y="476250"/>
            <a:chExt cx="2714797" cy="588169"/>
          </a:xfrm>
        </p:grpSpPr>
        <p:sp>
          <p:nvSpPr>
            <p:cNvPr id="3" name="Rectangle 3"/>
            <p:cNvSpPr/>
            <p:nvPr/>
          </p:nvSpPr>
          <p:spPr>
            <a:xfrm>
              <a:off x="762000" y="476250"/>
              <a:ext cx="38100" cy="533400"/>
            </a:xfrm>
            <a:prstGeom prst="roundRect">
              <a:avLst>
                <a:gd name="adj" fmla="val 50000"/>
              </a:avLst>
            </a:prstGeom>
            <a:solidFill>
              <a:srgbClr val="1A3A5C"/>
            </a:solidFill>
            <a:ln>
              <a:noFill/>
            </a:ln>
          </p:spPr>
        </p:sp>
        <p:sp>
          <p:nvSpPr>
            <p:cNvPr id="4" name="TextBox 4"/>
            <p:cNvSpPr txBox="1"/>
            <p:nvPr/>
          </p:nvSpPr>
          <p:spPr>
            <a:xfrm>
              <a:off x="923925" y="481012"/>
              <a:ext cx="1317308" cy="457200"/>
            </a:xfrm>
            <a:prstGeom prst="rect">
              <a:avLst/>
            </a:prstGeom>
            <a:noFill/>
            <a:ln>
              <a:noFill/>
            </a:ln>
          </p:spPr>
          <p:txBody>
            <a:bodyPr wrap="none" lIns="0" tIns="0" rIns="0" bIns="0" anchor="t" anchorCtr="0">
              <a:spAutoFit/>
            </a:bodyPr>
            <a:lstStyle/>
            <a:p>
              <a:pPr algn="l"/>
              <a:r>
                <a:rPr lang="zh-CN" sz="2250" b="1" dirty="0">
                  <a:solidFill>
                    <a:srgbClr val="2D3436"/>
                  </a:solidFill>
                  <a:latin typeface="Arial"/>
                  <a:ea typeface="Microsoft YaHei"/>
                  <a:cs typeface="Arial"/>
                </a:rPr>
                <a:t>汇报议程</a:t>
              </a:r>
            </a:p>
          </p:txBody>
        </p:sp>
        <p:sp>
          <p:nvSpPr>
            <p:cNvPr id="5" name="TextBox 5"/>
            <p:cNvSpPr txBox="1"/>
            <p:nvPr/>
          </p:nvSpPr>
          <p:spPr>
            <a:xfrm>
              <a:off x="940118" y="866299"/>
              <a:ext cx="2536679" cy="198120"/>
            </a:xfrm>
            <a:prstGeom prst="rect">
              <a:avLst/>
            </a:prstGeom>
            <a:noFill/>
            <a:ln>
              <a:noFill/>
            </a:ln>
          </p:spPr>
          <p:txBody>
            <a:bodyPr wrap="none" lIns="0" tIns="0" rIns="0" bIns="0" anchor="t" anchorCtr="0">
              <a:spAutoFit/>
            </a:bodyPr>
            <a:lstStyle/>
            <a:p>
              <a:pPr algn="l"/>
              <a:r>
                <a:rPr lang="zh-CN" sz="975" b="1" dirty="0">
                  <a:solidFill>
                    <a:srgbClr val="636E72"/>
                  </a:solidFill>
                  <a:latin typeface="Arial"/>
                  <a:ea typeface="Microsoft YaHei"/>
                  <a:cs typeface="Arial"/>
                </a:rPr>
                <a:t>STEAM 游戏推荐数据分析 · 课堂项目汇报</a:t>
              </a:r>
            </a:p>
          </p:txBody>
        </p:sp>
      </p:grpSp>
      <p:sp>
        <p:nvSpPr>
          <p:cNvPr id="7" name="Line 7"/>
          <p:cNvSpPr/>
          <p:nvPr/>
        </p:nvSpPr>
        <p:spPr>
          <a:xfrm>
            <a:off x="762000" y="1238250"/>
            <a:ext cx="10668000" cy="9525"/>
          </a:xfrm>
          <a:custGeom>
            <a:avLst/>
            <a:gdLst/>
            <a:ahLst/>
            <a:cxnLst/>
            <a:rect l="l" t="t" r="r" b="b"/>
            <a:pathLst>
              <a:path w="10668000" h="9525">
                <a:moveTo>
                  <a:pt x="0" y="0"/>
                </a:moveTo>
                <a:lnTo>
                  <a:pt x="10668000" y="0"/>
                </a:lnTo>
              </a:path>
            </a:pathLst>
          </a:custGeom>
          <a:noFill/>
          <a:ln w="14288">
            <a:solidFill>
              <a:srgbClr val="DFE6E9"/>
            </a:solidFill>
          </a:ln>
        </p:spPr>
      </p:sp>
      <p:sp>
        <p:nvSpPr>
          <p:cNvPr id="8" name="Line 8"/>
          <p:cNvSpPr/>
          <p:nvPr/>
        </p:nvSpPr>
        <p:spPr>
          <a:xfrm>
            <a:off x="1143000" y="1762125"/>
            <a:ext cx="9525" cy="4191000"/>
          </a:xfrm>
          <a:custGeom>
            <a:avLst/>
            <a:gdLst/>
            <a:ahLst/>
            <a:cxnLst/>
            <a:rect l="l" t="t" r="r" b="b"/>
            <a:pathLst>
              <a:path w="9525" h="4191000">
                <a:moveTo>
                  <a:pt x="0" y="0"/>
                </a:moveTo>
                <a:lnTo>
                  <a:pt x="0" y="4191000"/>
                </a:lnTo>
              </a:path>
            </a:pathLst>
          </a:custGeom>
          <a:noFill/>
          <a:ln w="23812" cap="rnd">
            <a:gradFill>
              <a:gsLst>
                <a:gs pos="0">
                  <a:srgbClr val="1A3A5C"/>
                </a:gs>
                <a:gs pos="100000">
                  <a:srgbClr val="2E86AB"/>
                </a:gs>
              </a:gsLst>
              <a:lin ang="5400000" scaled="1"/>
            </a:gradFill>
          </a:ln>
        </p:spPr>
      </p:sp>
      <p:grpSp>
        <p:nvGrpSpPr>
          <p:cNvPr id="13" name="Group 13"/>
          <p:cNvGrpSpPr/>
          <p:nvPr/>
        </p:nvGrpSpPr>
        <p:grpSpPr>
          <a:xfrm>
            <a:off x="933450" y="1790700"/>
            <a:ext cx="3359467" cy="500062"/>
            <a:chOff x="933450" y="1790700"/>
            <a:chExt cx="3359467" cy="500062"/>
          </a:xfrm>
        </p:grpSpPr>
        <p:sp>
          <p:nvSpPr>
            <p:cNvPr id="9" name="Ellipse 9"/>
            <p:cNvSpPr/>
            <p:nvPr/>
          </p:nvSpPr>
          <p:spPr>
            <a:xfrm>
              <a:off x="933450" y="1790700"/>
              <a:ext cx="419100" cy="419100"/>
            </a:xfrm>
            <a:prstGeom prst="ellipse">
              <a:avLst/>
            </a:prstGeom>
            <a:solidFill>
              <a:srgbClr val="FFFFFF"/>
            </a:solidFill>
            <a:ln w="23812">
              <a:solidFill>
                <a:srgbClr val="1A3A5C"/>
              </a:solidFill>
            </a:ln>
          </p:spPr>
        </p:sp>
        <p:sp>
          <p:nvSpPr>
            <p:cNvPr id="10" name="TextBox 10"/>
            <p:cNvSpPr txBox="1"/>
            <p:nvPr/>
          </p:nvSpPr>
          <p:spPr>
            <a:xfrm>
              <a:off x="1067182" y="1953578"/>
              <a:ext cx="151636"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01</a:t>
              </a:r>
            </a:p>
          </p:txBody>
        </p:sp>
        <p:sp>
          <p:nvSpPr>
            <p:cNvPr id="11" name="TextBox 11"/>
            <p:cNvSpPr txBox="1"/>
            <p:nvPr/>
          </p:nvSpPr>
          <p:spPr>
            <a:xfrm>
              <a:off x="1600200" y="1800225"/>
              <a:ext cx="1928336"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项目背景与研究问题</a:t>
              </a:r>
            </a:p>
          </p:txBody>
        </p:sp>
        <p:sp>
          <p:nvSpPr>
            <p:cNvPr id="12" name="TextBox 12"/>
            <p:cNvSpPr txBox="1"/>
            <p:nvPr/>
          </p:nvSpPr>
          <p:spPr>
            <a:xfrm>
              <a:off x="1605915" y="2077402"/>
              <a:ext cx="2687002"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数据来源、四个核心研究问题、技术栈概览</a:t>
              </a:r>
            </a:p>
          </p:txBody>
        </p:sp>
      </p:grpSp>
      <p:grpSp>
        <p:nvGrpSpPr>
          <p:cNvPr id="18" name="Group 18"/>
          <p:cNvGrpSpPr/>
          <p:nvPr/>
        </p:nvGrpSpPr>
        <p:grpSpPr>
          <a:xfrm>
            <a:off x="933450" y="2600325"/>
            <a:ext cx="3758517" cy="500063"/>
            <a:chOff x="933450" y="2600325"/>
            <a:chExt cx="3758517" cy="500063"/>
          </a:xfrm>
        </p:grpSpPr>
        <p:sp>
          <p:nvSpPr>
            <p:cNvPr id="14" name="Ellipse 14"/>
            <p:cNvSpPr/>
            <p:nvPr/>
          </p:nvSpPr>
          <p:spPr>
            <a:xfrm>
              <a:off x="933450" y="2600325"/>
              <a:ext cx="419100" cy="419100"/>
            </a:xfrm>
            <a:prstGeom prst="ellipse">
              <a:avLst/>
            </a:prstGeom>
            <a:solidFill>
              <a:srgbClr val="FFFFFF"/>
            </a:solidFill>
            <a:ln w="23812">
              <a:solidFill>
                <a:srgbClr val="1A3A5C"/>
              </a:solidFill>
            </a:ln>
          </p:spPr>
        </p:sp>
        <p:sp>
          <p:nvSpPr>
            <p:cNvPr id="15" name="TextBox 15"/>
            <p:cNvSpPr txBox="1"/>
            <p:nvPr/>
          </p:nvSpPr>
          <p:spPr>
            <a:xfrm>
              <a:off x="1048805" y="2763202"/>
              <a:ext cx="188390"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02</a:t>
              </a:r>
            </a:p>
          </p:txBody>
        </p:sp>
        <p:sp>
          <p:nvSpPr>
            <p:cNvPr id="16" name="TextBox 16"/>
            <p:cNvSpPr txBox="1"/>
            <p:nvPr/>
          </p:nvSpPr>
          <p:spPr>
            <a:xfrm>
              <a:off x="1600200" y="2609850"/>
              <a:ext cx="2138362"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技术路线与数据流水线</a:t>
              </a:r>
            </a:p>
          </p:txBody>
        </p:sp>
        <p:sp>
          <p:nvSpPr>
            <p:cNvPr id="17" name="TextBox 17"/>
            <p:cNvSpPr txBox="1"/>
            <p:nvPr/>
          </p:nvSpPr>
          <p:spPr>
            <a:xfrm>
              <a:off x="1605915" y="2887028"/>
              <a:ext cx="3086052"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8 阶段数据科学流水线、特征工程、模型训练方法</a:t>
              </a:r>
            </a:p>
          </p:txBody>
        </p:sp>
      </p:grpSp>
      <p:grpSp>
        <p:nvGrpSpPr>
          <p:cNvPr id="23" name="Group 23"/>
          <p:cNvGrpSpPr/>
          <p:nvPr/>
        </p:nvGrpSpPr>
        <p:grpSpPr>
          <a:xfrm>
            <a:off x="933450" y="3409950"/>
            <a:ext cx="3499485" cy="500062"/>
            <a:chOff x="933450" y="3409950"/>
            <a:chExt cx="3499485" cy="500062"/>
          </a:xfrm>
        </p:grpSpPr>
        <p:sp>
          <p:nvSpPr>
            <p:cNvPr id="19" name="Ellipse 19"/>
            <p:cNvSpPr/>
            <p:nvPr/>
          </p:nvSpPr>
          <p:spPr>
            <a:xfrm>
              <a:off x="933450" y="3409950"/>
              <a:ext cx="419100" cy="419100"/>
            </a:xfrm>
            <a:prstGeom prst="ellipse">
              <a:avLst/>
            </a:prstGeom>
            <a:solidFill>
              <a:srgbClr val="FFFFFF"/>
            </a:solidFill>
            <a:ln w="23812">
              <a:solidFill>
                <a:srgbClr val="2E86AB"/>
              </a:solidFill>
            </a:ln>
          </p:spPr>
        </p:sp>
        <p:sp>
          <p:nvSpPr>
            <p:cNvPr id="20" name="TextBox 20"/>
            <p:cNvSpPr txBox="1"/>
            <p:nvPr/>
          </p:nvSpPr>
          <p:spPr>
            <a:xfrm>
              <a:off x="1048805" y="3572828"/>
              <a:ext cx="188390" cy="213360"/>
            </a:xfrm>
            <a:prstGeom prst="rect">
              <a:avLst/>
            </a:prstGeom>
            <a:noFill/>
            <a:ln>
              <a:noFill/>
            </a:ln>
          </p:spPr>
          <p:txBody>
            <a:bodyPr wrap="none" lIns="0" tIns="0" rIns="0" bIns="0" anchor="t" anchorCtr="0">
              <a:spAutoFit/>
            </a:bodyPr>
            <a:lstStyle/>
            <a:p>
              <a:pPr algn="ctr"/>
              <a:r>
                <a:rPr lang="zh-CN" sz="1050" b="1" dirty="0">
                  <a:solidFill>
                    <a:srgbClr val="2E86AB"/>
                  </a:solidFill>
                  <a:latin typeface="Arial"/>
                  <a:ea typeface="Microsoft YaHei"/>
                  <a:cs typeface="Arial"/>
                </a:rPr>
                <a:t>03</a:t>
              </a:r>
            </a:p>
          </p:txBody>
        </p:sp>
        <p:sp>
          <p:nvSpPr>
            <p:cNvPr id="21" name="TextBox 21"/>
            <p:cNvSpPr txBox="1"/>
            <p:nvPr/>
          </p:nvSpPr>
          <p:spPr>
            <a:xfrm>
              <a:off x="1600200" y="3419475"/>
              <a:ext cx="1298258"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游戏生态画像</a:t>
              </a:r>
            </a:p>
          </p:txBody>
        </p:sp>
        <p:sp>
          <p:nvSpPr>
            <p:cNvPr id="22" name="TextBox 22"/>
            <p:cNvSpPr txBox="1"/>
            <p:nvPr/>
          </p:nvSpPr>
          <p:spPr>
            <a:xfrm>
              <a:off x="1605915" y="3696652"/>
              <a:ext cx="2827020"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价格与评分分布、类型趋势、头部集中度分析</a:t>
              </a:r>
            </a:p>
          </p:txBody>
        </p:sp>
      </p:grpSp>
      <p:grpSp>
        <p:nvGrpSpPr>
          <p:cNvPr id="28" name="Group 28"/>
          <p:cNvGrpSpPr/>
          <p:nvPr/>
        </p:nvGrpSpPr>
        <p:grpSpPr>
          <a:xfrm>
            <a:off x="933450" y="4219575"/>
            <a:ext cx="3359467" cy="500063"/>
            <a:chOff x="933450" y="4219575"/>
            <a:chExt cx="3359467" cy="500063"/>
          </a:xfrm>
        </p:grpSpPr>
        <p:sp>
          <p:nvSpPr>
            <p:cNvPr id="24" name="Ellipse 24"/>
            <p:cNvSpPr/>
            <p:nvPr/>
          </p:nvSpPr>
          <p:spPr>
            <a:xfrm>
              <a:off x="933450" y="4219575"/>
              <a:ext cx="419100" cy="419100"/>
            </a:xfrm>
            <a:prstGeom prst="ellipse">
              <a:avLst/>
            </a:prstGeom>
            <a:solidFill>
              <a:srgbClr val="FFFFFF"/>
            </a:solidFill>
            <a:ln w="23812">
              <a:solidFill>
                <a:srgbClr val="2E86AB"/>
              </a:solidFill>
            </a:ln>
          </p:spPr>
        </p:sp>
        <p:sp>
          <p:nvSpPr>
            <p:cNvPr id="25" name="TextBox 25"/>
            <p:cNvSpPr txBox="1"/>
            <p:nvPr/>
          </p:nvSpPr>
          <p:spPr>
            <a:xfrm>
              <a:off x="1048805" y="4382452"/>
              <a:ext cx="188390" cy="213360"/>
            </a:xfrm>
            <a:prstGeom prst="rect">
              <a:avLst/>
            </a:prstGeom>
            <a:noFill/>
            <a:ln>
              <a:noFill/>
            </a:ln>
          </p:spPr>
          <p:txBody>
            <a:bodyPr wrap="none" lIns="0" tIns="0" rIns="0" bIns="0" anchor="t" anchorCtr="0">
              <a:spAutoFit/>
            </a:bodyPr>
            <a:lstStyle/>
            <a:p>
              <a:pPr algn="ctr"/>
              <a:r>
                <a:rPr lang="zh-CN" sz="1050" b="1" dirty="0">
                  <a:solidFill>
                    <a:srgbClr val="2E86AB"/>
                  </a:solidFill>
                  <a:latin typeface="Arial"/>
                  <a:ea typeface="Microsoft YaHei"/>
                  <a:cs typeface="Arial"/>
                </a:rPr>
                <a:t>04</a:t>
              </a:r>
            </a:p>
          </p:txBody>
        </p:sp>
        <p:sp>
          <p:nvSpPr>
            <p:cNvPr id="26" name="TextBox 26"/>
            <p:cNvSpPr txBox="1"/>
            <p:nvPr/>
          </p:nvSpPr>
          <p:spPr>
            <a:xfrm>
              <a:off x="1600200" y="4229100"/>
              <a:ext cx="1298258"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用户行为画像</a:t>
              </a:r>
            </a:p>
          </p:txBody>
        </p:sp>
        <p:sp>
          <p:nvSpPr>
            <p:cNvPr id="27" name="TextBox 27"/>
            <p:cNvSpPr txBox="1"/>
            <p:nvPr/>
          </p:nvSpPr>
          <p:spPr>
            <a:xfrm>
              <a:off x="1605915" y="4506278"/>
              <a:ext cx="2687002"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活跃度分布、评价行为特征、极端用户处理</a:t>
              </a:r>
            </a:p>
          </p:txBody>
        </p:sp>
      </p:grpSp>
      <p:grpSp>
        <p:nvGrpSpPr>
          <p:cNvPr id="33" name="Group 33"/>
          <p:cNvGrpSpPr/>
          <p:nvPr/>
        </p:nvGrpSpPr>
        <p:grpSpPr>
          <a:xfrm>
            <a:off x="933450" y="5029200"/>
            <a:ext cx="3079433" cy="500062"/>
            <a:chOff x="933450" y="5029200"/>
            <a:chExt cx="3079433" cy="500062"/>
          </a:xfrm>
        </p:grpSpPr>
        <p:sp>
          <p:nvSpPr>
            <p:cNvPr id="29" name="Ellipse 29"/>
            <p:cNvSpPr/>
            <p:nvPr/>
          </p:nvSpPr>
          <p:spPr>
            <a:xfrm>
              <a:off x="933450" y="5029200"/>
              <a:ext cx="419100" cy="419100"/>
            </a:xfrm>
            <a:prstGeom prst="ellipse">
              <a:avLst/>
            </a:prstGeom>
            <a:solidFill>
              <a:srgbClr val="FFFFFF"/>
            </a:solidFill>
            <a:ln w="23812">
              <a:solidFill>
                <a:srgbClr val="F18F01"/>
              </a:solidFill>
            </a:ln>
          </p:spPr>
        </p:sp>
        <p:sp>
          <p:nvSpPr>
            <p:cNvPr id="30" name="TextBox 30"/>
            <p:cNvSpPr txBox="1"/>
            <p:nvPr/>
          </p:nvSpPr>
          <p:spPr>
            <a:xfrm>
              <a:off x="1048805" y="5192078"/>
              <a:ext cx="188390" cy="213360"/>
            </a:xfrm>
            <a:prstGeom prst="rect">
              <a:avLst/>
            </a:prstGeom>
            <a:noFill/>
            <a:ln>
              <a:noFill/>
            </a:ln>
          </p:spPr>
          <p:txBody>
            <a:bodyPr wrap="none" lIns="0" tIns="0" rIns="0" bIns="0" anchor="t" anchorCtr="0">
              <a:spAutoFit/>
            </a:bodyPr>
            <a:lstStyle/>
            <a:p>
              <a:pPr algn="ctr"/>
              <a:r>
                <a:rPr lang="zh-CN" sz="1050" b="1" dirty="0">
                  <a:solidFill>
                    <a:srgbClr val="F18F01"/>
                  </a:solidFill>
                  <a:latin typeface="Arial"/>
                  <a:ea typeface="Microsoft YaHei"/>
                  <a:cs typeface="Arial"/>
                </a:rPr>
                <a:t>05</a:t>
              </a:r>
            </a:p>
          </p:txBody>
        </p:sp>
        <p:sp>
          <p:nvSpPr>
            <p:cNvPr id="31" name="TextBox 31"/>
            <p:cNvSpPr txBox="1"/>
            <p:nvPr/>
          </p:nvSpPr>
          <p:spPr>
            <a:xfrm>
              <a:off x="1600200" y="5038725"/>
              <a:ext cx="1088231"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建模与评估</a:t>
              </a:r>
            </a:p>
          </p:txBody>
        </p:sp>
        <p:sp>
          <p:nvSpPr>
            <p:cNvPr id="32" name="TextBox 32"/>
            <p:cNvSpPr txBox="1"/>
            <p:nvPr/>
          </p:nvSpPr>
          <p:spPr>
            <a:xfrm>
              <a:off x="1605915" y="5315902"/>
              <a:ext cx="2406968"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特征工程、模型对比、特征重要性分析</a:t>
              </a:r>
            </a:p>
          </p:txBody>
        </p:sp>
      </p:grpSp>
      <p:grpSp>
        <p:nvGrpSpPr>
          <p:cNvPr id="38" name="Group 38"/>
          <p:cNvGrpSpPr/>
          <p:nvPr/>
        </p:nvGrpSpPr>
        <p:grpSpPr>
          <a:xfrm>
            <a:off x="914400" y="5819775"/>
            <a:ext cx="3938588" cy="500063"/>
            <a:chOff x="914400" y="5819775"/>
            <a:chExt cx="3938588" cy="500063"/>
          </a:xfrm>
        </p:grpSpPr>
        <p:sp>
          <p:nvSpPr>
            <p:cNvPr id="34" name="Ellipse 34"/>
            <p:cNvSpPr/>
            <p:nvPr/>
          </p:nvSpPr>
          <p:spPr>
            <a:xfrm>
              <a:off x="914400" y="5819775"/>
              <a:ext cx="457200" cy="457200"/>
            </a:xfrm>
            <a:prstGeom prst="ellipse">
              <a:avLst/>
            </a:prstGeom>
            <a:solidFill>
              <a:srgbClr val="F18F01"/>
            </a:solidFill>
            <a:ln>
              <a:noFill/>
            </a:ln>
          </p:spPr>
        </p:sp>
        <p:sp>
          <p:nvSpPr>
            <p:cNvPr id="35" name="TextBox 35"/>
            <p:cNvSpPr txBox="1"/>
            <p:nvPr/>
          </p:nvSpPr>
          <p:spPr>
            <a:xfrm>
              <a:off x="1048805" y="6001702"/>
              <a:ext cx="18839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06</a:t>
              </a:r>
            </a:p>
          </p:txBody>
        </p:sp>
        <p:sp>
          <p:nvSpPr>
            <p:cNvPr id="36" name="TextBox 36"/>
            <p:cNvSpPr txBox="1"/>
            <p:nvPr/>
          </p:nvSpPr>
          <p:spPr>
            <a:xfrm>
              <a:off x="1600200" y="5838825"/>
              <a:ext cx="1928336" cy="304800"/>
            </a:xfrm>
            <a:prstGeom prst="rect">
              <a:avLst/>
            </a:prstGeom>
            <a:noFill/>
            <a:ln>
              <a:noFill/>
            </a:ln>
          </p:spPr>
          <p:txBody>
            <a:bodyPr wrap="none" lIns="0" tIns="0" rIns="0" bIns="0" anchor="t" anchorCtr="0">
              <a:spAutoFit/>
            </a:bodyPr>
            <a:lstStyle/>
            <a:p>
              <a:pPr algn="l"/>
              <a:r>
                <a:rPr lang="zh-CN" sz="1500" b="1" dirty="0">
                  <a:solidFill>
                    <a:srgbClr val="2D3436"/>
                  </a:solidFill>
                  <a:latin typeface="Arial"/>
                  <a:ea typeface="Microsoft YaHei"/>
                  <a:cs typeface="Arial"/>
                </a:rPr>
                <a:t>研究发现与业务建议</a:t>
              </a:r>
            </a:p>
          </p:txBody>
        </p:sp>
        <p:sp>
          <p:nvSpPr>
            <p:cNvPr id="37" name="TextBox 37"/>
            <p:cNvSpPr txBox="1"/>
            <p:nvPr/>
          </p:nvSpPr>
          <p:spPr>
            <a:xfrm>
              <a:off x="1605915" y="6106478"/>
              <a:ext cx="3247073"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核心发现、开发者建议、平台运营建议、局限与展望</a:t>
              </a:r>
            </a:p>
          </p:txBody>
        </p:sp>
      </p:grpSp>
      <p:sp>
        <p:nvSpPr>
          <p:cNvPr id="39" name="TextBox 39"/>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Bottom)">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slide(fromBottom)">
                                      <p:cBhvr>
                                        <p:cTn id="15" dur="400"/>
                                        <p:tgtEl>
                                          <p:spTgt spid="2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slide(fromBottom)">
                                      <p:cBhvr>
                                        <p:cTn id="19" dur="400"/>
                                        <p:tgtEl>
                                          <p:spTgt spid="28"/>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slide(fromBottom)">
                                      <p:cBhvr>
                                        <p:cTn id="23" dur="400"/>
                                        <p:tgtEl>
                                          <p:spTgt spid="33"/>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slide(fromBottom)">
                                      <p:cBhvr>
                                        <p:cTn id="2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28" grpId="0"/>
      <p:bldP spid="33"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328612"/>
            <a:ext cx="4201335" cy="552450"/>
            <a:chOff x="571500" y="328612"/>
            <a:chExt cx="4201335" cy="552450"/>
          </a:xfrm>
        </p:grpSpPr>
        <p:sp>
          <p:nvSpPr>
            <p:cNvPr id="3" name="Rectangle 3"/>
            <p:cNvSpPr/>
            <p:nvPr/>
          </p:nvSpPr>
          <p:spPr>
            <a:xfrm>
              <a:off x="571500" y="381000"/>
              <a:ext cx="38100" cy="45720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3425" y="328612"/>
              <a:ext cx="2892504" cy="457200"/>
            </a:xfrm>
            <a:prstGeom prst="rect">
              <a:avLst/>
            </a:prstGeom>
            <a:noFill/>
            <a:ln>
              <a:noFill/>
            </a:ln>
          </p:spPr>
          <p:txBody>
            <a:bodyPr wrap="none" lIns="0" tIns="0" rIns="0" bIns="0" anchor="t" anchorCtr="0">
              <a:spAutoFit/>
            </a:bodyPr>
            <a:lstStyle/>
            <a:p>
              <a:pPr algn="l"/>
              <a:r>
                <a:rPr lang="zh-CN" sz="2250" b="1" dirty="0">
                  <a:solidFill>
                    <a:srgbClr val="2D3436"/>
                  </a:solidFill>
                  <a:latin typeface="Arial"/>
                  <a:ea typeface="Microsoft YaHei"/>
                  <a:cs typeface="Arial"/>
                </a:rPr>
                <a:t>项目背景与数据来源</a:t>
              </a:r>
            </a:p>
          </p:txBody>
        </p:sp>
        <p:sp>
          <p:nvSpPr>
            <p:cNvPr id="5" name="TextBox 5"/>
            <p:cNvSpPr txBox="1"/>
            <p:nvPr/>
          </p:nvSpPr>
          <p:spPr>
            <a:xfrm>
              <a:off x="748665" y="667702"/>
              <a:ext cx="4024170"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Kaggle — Anton Kozyriev "Game Recommendations on Steam"</a:t>
              </a:r>
            </a:p>
          </p:txBody>
        </p:sp>
      </p:grpSp>
      <p:grpSp>
        <p:nvGrpSpPr>
          <p:cNvPr id="26" name="Group 26"/>
          <p:cNvGrpSpPr/>
          <p:nvPr/>
        </p:nvGrpSpPr>
        <p:grpSpPr>
          <a:xfrm>
            <a:off x="571500" y="1143000"/>
            <a:ext cx="5334000" cy="2476500"/>
            <a:chOff x="571500" y="1143000"/>
            <a:chExt cx="5334000" cy="2476500"/>
          </a:xfrm>
        </p:grpSpPr>
        <p:sp>
          <p:nvSpPr>
            <p:cNvPr id="7" name="Rectangle 7"/>
            <p:cNvSpPr/>
            <p:nvPr/>
          </p:nvSpPr>
          <p:spPr>
            <a:xfrm>
              <a:off x="571500" y="1143000"/>
              <a:ext cx="5334000" cy="2476500"/>
            </a:xfrm>
            <a:prstGeom prst="roundRect">
              <a:avLst>
                <a:gd name="adj" fmla="val 3077"/>
              </a:avLst>
            </a:prstGeom>
            <a:solidFill>
              <a:srgbClr val="FFFFFF"/>
            </a:solidFill>
            <a:ln w="9525">
              <a:solidFill>
                <a:srgbClr val="DFE6E9"/>
              </a:solidFill>
            </a:ln>
          </p:spPr>
        </p:sp>
        <p:sp>
          <p:nvSpPr>
            <p:cNvPr id="8" name="Rectangle 8"/>
            <p:cNvSpPr/>
            <p:nvPr/>
          </p:nvSpPr>
          <p:spPr>
            <a:xfrm>
              <a:off x="571500" y="1143000"/>
              <a:ext cx="5334000" cy="38100"/>
            </a:xfrm>
            <a:prstGeom prst="roundRect">
              <a:avLst>
                <a:gd name="adj" fmla="val 50000"/>
              </a:avLst>
            </a:prstGeom>
            <a:gradFill>
              <a:gsLst>
                <a:gs pos="0">
                  <a:srgbClr val="1A3A5C"/>
                </a:gs>
                <a:gs pos="100000">
                  <a:srgbClr val="2E86AB"/>
                </a:gs>
              </a:gsLst>
              <a:lin ang="0" scaled="1"/>
            </a:gradFill>
            <a:ln>
              <a:noFill/>
            </a:ln>
          </p:spPr>
        </p:sp>
        <p:sp>
          <p:nvSpPr>
            <p:cNvPr id="9" name="TextBox 9"/>
            <p:cNvSpPr txBox="1"/>
            <p:nvPr/>
          </p:nvSpPr>
          <p:spPr>
            <a:xfrm>
              <a:off x="782955" y="1330642"/>
              <a:ext cx="1140078"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4 个数据文件</a:t>
              </a:r>
            </a:p>
          </p:txBody>
        </p:sp>
        <p:grpSp>
          <p:nvGrpSpPr>
            <p:cNvPr id="13" name="Group 13"/>
            <p:cNvGrpSpPr/>
            <p:nvPr/>
          </p:nvGrpSpPr>
          <p:grpSpPr>
            <a:xfrm>
              <a:off x="800100" y="1666875"/>
              <a:ext cx="4857750" cy="381000"/>
              <a:chOff x="800100" y="1666875"/>
              <a:chExt cx="4857750" cy="381000"/>
            </a:xfrm>
          </p:grpSpPr>
          <p:sp>
            <p:nvSpPr>
              <p:cNvPr id="10" name="Rectangle 10"/>
              <p:cNvSpPr/>
              <p:nvPr/>
            </p:nvSpPr>
            <p:spPr>
              <a:xfrm>
                <a:off x="800100" y="1666875"/>
                <a:ext cx="4857750" cy="381000"/>
              </a:xfrm>
              <a:prstGeom prst="roundRect">
                <a:avLst>
                  <a:gd name="adj" fmla="val 10000"/>
                </a:avLst>
              </a:prstGeom>
              <a:solidFill>
                <a:srgbClr val="F0F4F8"/>
              </a:solidFill>
              <a:ln>
                <a:noFill/>
              </a:ln>
            </p:spPr>
          </p:sp>
          <p:sp>
            <p:nvSpPr>
              <p:cNvPr id="11" name="TextBox 11"/>
              <p:cNvSpPr txBox="1"/>
              <p:nvPr/>
            </p:nvSpPr>
            <p:spPr>
              <a:xfrm>
                <a:off x="939165" y="1791652"/>
                <a:ext cx="78381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games.csv</a:t>
                </a:r>
              </a:p>
            </p:txBody>
          </p:sp>
          <p:sp>
            <p:nvSpPr>
              <p:cNvPr id="12" name="TextBox 12"/>
              <p:cNvSpPr txBox="1"/>
              <p:nvPr/>
            </p:nvSpPr>
            <p:spPr>
              <a:xfrm>
                <a:off x="2692718" y="1799749"/>
                <a:ext cx="2735604"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游戏元信息：ID、标题、定价、评分、发布日期</a:t>
                </a:r>
              </a:p>
            </p:txBody>
          </p:sp>
        </p:grpSp>
        <p:grpSp>
          <p:nvGrpSpPr>
            <p:cNvPr id="17" name="Group 17"/>
            <p:cNvGrpSpPr/>
            <p:nvPr/>
          </p:nvGrpSpPr>
          <p:grpSpPr>
            <a:xfrm>
              <a:off x="800100" y="2114550"/>
              <a:ext cx="4857750" cy="381000"/>
              <a:chOff x="800100" y="2114550"/>
              <a:chExt cx="4857750" cy="381000"/>
            </a:xfrm>
          </p:grpSpPr>
          <p:sp>
            <p:nvSpPr>
              <p:cNvPr id="14" name="Rectangle 14"/>
              <p:cNvSpPr/>
              <p:nvPr/>
            </p:nvSpPr>
            <p:spPr>
              <a:xfrm>
                <a:off x="800100" y="2114550"/>
                <a:ext cx="4857750" cy="381000"/>
              </a:xfrm>
              <a:prstGeom prst="roundRect">
                <a:avLst>
                  <a:gd name="adj" fmla="val 10000"/>
                </a:avLst>
              </a:prstGeom>
              <a:solidFill>
                <a:srgbClr val="F0F4F8"/>
              </a:solidFill>
              <a:ln>
                <a:noFill/>
              </a:ln>
            </p:spPr>
          </p:sp>
          <p:sp>
            <p:nvSpPr>
              <p:cNvPr id="15" name="TextBox 15"/>
              <p:cNvSpPr txBox="1"/>
              <p:nvPr/>
            </p:nvSpPr>
            <p:spPr>
              <a:xfrm>
                <a:off x="939165" y="2239328"/>
                <a:ext cx="75441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users.csv</a:t>
                </a:r>
              </a:p>
            </p:txBody>
          </p:sp>
          <p:sp>
            <p:nvSpPr>
              <p:cNvPr id="16" name="TextBox 16"/>
              <p:cNvSpPr txBox="1"/>
              <p:nvPr/>
            </p:nvSpPr>
            <p:spPr>
              <a:xfrm>
                <a:off x="2692718" y="2247424"/>
                <a:ext cx="210502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用户档案：已购产品数、已发评论数</a:t>
                </a:r>
              </a:p>
            </p:txBody>
          </p:sp>
        </p:grpSp>
        <p:grpSp>
          <p:nvGrpSpPr>
            <p:cNvPr id="21" name="Group 21"/>
            <p:cNvGrpSpPr/>
            <p:nvPr/>
          </p:nvGrpSpPr>
          <p:grpSpPr>
            <a:xfrm>
              <a:off x="800100" y="2562225"/>
              <a:ext cx="4857750" cy="381000"/>
              <a:chOff x="800100" y="2562225"/>
              <a:chExt cx="4857750" cy="381000"/>
            </a:xfrm>
          </p:grpSpPr>
          <p:sp>
            <p:nvSpPr>
              <p:cNvPr id="18" name="Rectangle 18"/>
              <p:cNvSpPr/>
              <p:nvPr/>
            </p:nvSpPr>
            <p:spPr>
              <a:xfrm>
                <a:off x="800100" y="2562225"/>
                <a:ext cx="4857750" cy="381000"/>
              </a:xfrm>
              <a:prstGeom prst="roundRect">
                <a:avLst>
                  <a:gd name="adj" fmla="val 10000"/>
                </a:avLst>
              </a:prstGeom>
              <a:solidFill>
                <a:srgbClr val="F0F4F8"/>
              </a:solidFill>
              <a:ln>
                <a:noFill/>
              </a:ln>
            </p:spPr>
          </p:sp>
          <p:sp>
            <p:nvSpPr>
              <p:cNvPr id="19" name="TextBox 19"/>
              <p:cNvSpPr txBox="1"/>
              <p:nvPr/>
            </p:nvSpPr>
            <p:spPr>
              <a:xfrm>
                <a:off x="939165" y="2687002"/>
                <a:ext cx="1585065" cy="213360"/>
              </a:xfrm>
              <a:prstGeom prst="rect">
                <a:avLst/>
              </a:prstGeom>
              <a:noFill/>
              <a:ln>
                <a:noFill/>
              </a:ln>
            </p:spPr>
            <p:txBody>
              <a:bodyPr wrap="none" lIns="0" tIns="0" rIns="0" bIns="0" anchor="t" anchorCtr="0">
                <a:spAutoFit/>
              </a:bodyPr>
              <a:lstStyle/>
              <a:p>
                <a:pPr algn="l"/>
                <a:r>
                  <a:rPr lang="zh-CN" sz="1050" b="1" dirty="0">
                    <a:solidFill>
                      <a:srgbClr val="F18F01"/>
                    </a:solidFill>
                    <a:latin typeface="Arial"/>
                    <a:ea typeface="Microsoft YaHei"/>
                    <a:cs typeface="Arial"/>
                  </a:rPr>
                  <a:t>recommendations.csv</a:t>
                </a:r>
              </a:p>
            </p:txBody>
          </p:sp>
          <p:sp>
            <p:nvSpPr>
              <p:cNvPr id="20" name="TextBox 20"/>
              <p:cNvSpPr txBox="1"/>
              <p:nvPr/>
            </p:nvSpPr>
            <p:spPr>
              <a:xfrm>
                <a:off x="2692718" y="2695099"/>
                <a:ext cx="174748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4100 万条推荐记录（核心表）</a:t>
                </a:r>
              </a:p>
            </p:txBody>
          </p:sp>
        </p:grpSp>
        <p:grpSp>
          <p:nvGrpSpPr>
            <p:cNvPr id="25" name="Group 25"/>
            <p:cNvGrpSpPr/>
            <p:nvPr/>
          </p:nvGrpSpPr>
          <p:grpSpPr>
            <a:xfrm>
              <a:off x="800100" y="3009900"/>
              <a:ext cx="4857750" cy="381000"/>
              <a:chOff x="800100" y="3009900"/>
              <a:chExt cx="4857750" cy="381000"/>
            </a:xfrm>
          </p:grpSpPr>
          <p:sp>
            <p:nvSpPr>
              <p:cNvPr id="22" name="Rectangle 22"/>
              <p:cNvSpPr/>
              <p:nvPr/>
            </p:nvSpPr>
            <p:spPr>
              <a:xfrm>
                <a:off x="800100" y="3009900"/>
                <a:ext cx="4857750" cy="381000"/>
              </a:xfrm>
              <a:prstGeom prst="roundRect">
                <a:avLst>
                  <a:gd name="adj" fmla="val 10000"/>
                </a:avLst>
              </a:prstGeom>
              <a:solidFill>
                <a:srgbClr val="F0F4F8"/>
              </a:solidFill>
              <a:ln>
                <a:noFill/>
              </a:ln>
            </p:spPr>
          </p:sp>
          <p:sp>
            <p:nvSpPr>
              <p:cNvPr id="23" name="TextBox 23"/>
              <p:cNvSpPr txBox="1"/>
              <p:nvPr/>
            </p:nvSpPr>
            <p:spPr>
              <a:xfrm>
                <a:off x="939165" y="3134678"/>
                <a:ext cx="158506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games_metadata.json</a:t>
                </a:r>
              </a:p>
            </p:txBody>
          </p:sp>
          <p:sp>
            <p:nvSpPr>
              <p:cNvPr id="24" name="TextBox 24"/>
              <p:cNvSpPr txBox="1"/>
              <p:nvPr/>
            </p:nvSpPr>
            <p:spPr>
              <a:xfrm>
                <a:off x="2692718" y="3142774"/>
                <a:ext cx="206602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游戏描述、用户标签（JSON 格式）</a:t>
                </a:r>
              </a:p>
            </p:txBody>
          </p:sp>
        </p:grpSp>
      </p:grpSp>
      <p:grpSp>
        <p:nvGrpSpPr>
          <p:cNvPr id="42" name="Group 42"/>
          <p:cNvGrpSpPr/>
          <p:nvPr/>
        </p:nvGrpSpPr>
        <p:grpSpPr>
          <a:xfrm>
            <a:off x="6286500" y="1143000"/>
            <a:ext cx="5334000" cy="2476500"/>
            <a:chOff x="6286500" y="1143000"/>
            <a:chExt cx="5334000" cy="2476500"/>
          </a:xfrm>
        </p:grpSpPr>
        <p:sp>
          <p:nvSpPr>
            <p:cNvPr id="27" name="Rectangle 27"/>
            <p:cNvSpPr/>
            <p:nvPr/>
          </p:nvSpPr>
          <p:spPr>
            <a:xfrm>
              <a:off x="6286500" y="1143000"/>
              <a:ext cx="5334000" cy="2476500"/>
            </a:xfrm>
            <a:prstGeom prst="roundRect">
              <a:avLst>
                <a:gd name="adj" fmla="val 3077"/>
              </a:avLst>
            </a:prstGeom>
            <a:solidFill>
              <a:srgbClr val="FFFFFF"/>
            </a:solidFill>
            <a:ln w="9525">
              <a:solidFill>
                <a:srgbClr val="DFE6E9"/>
              </a:solidFill>
            </a:ln>
          </p:spPr>
        </p:sp>
        <p:sp>
          <p:nvSpPr>
            <p:cNvPr id="28" name="Rectangle 28"/>
            <p:cNvSpPr/>
            <p:nvPr/>
          </p:nvSpPr>
          <p:spPr>
            <a:xfrm>
              <a:off x="6286500" y="1143000"/>
              <a:ext cx="5334000" cy="38100"/>
            </a:xfrm>
            <a:prstGeom prst="roundRect">
              <a:avLst>
                <a:gd name="adj" fmla="val 50000"/>
              </a:avLst>
            </a:prstGeom>
            <a:gradFill>
              <a:gsLst>
                <a:gs pos="0">
                  <a:srgbClr val="1A3A5C"/>
                </a:gs>
                <a:gs pos="100000">
                  <a:srgbClr val="2E86AB"/>
                </a:gs>
              </a:gsLst>
              <a:lin ang="0" scaled="1"/>
            </a:gradFill>
            <a:ln>
              <a:noFill/>
            </a:ln>
          </p:spPr>
        </p:sp>
        <p:sp>
          <p:nvSpPr>
            <p:cNvPr id="29" name="TextBox 29"/>
            <p:cNvSpPr txBox="1"/>
            <p:nvPr/>
          </p:nvSpPr>
          <p:spPr>
            <a:xfrm>
              <a:off x="6497955" y="1330642"/>
              <a:ext cx="979408"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核心技术栈</a:t>
              </a:r>
            </a:p>
          </p:txBody>
        </p:sp>
        <p:grpSp>
          <p:nvGrpSpPr>
            <p:cNvPr id="32" name="Group 32"/>
            <p:cNvGrpSpPr/>
            <p:nvPr/>
          </p:nvGrpSpPr>
          <p:grpSpPr>
            <a:xfrm>
              <a:off x="6515100" y="1695450"/>
              <a:ext cx="4857750" cy="342900"/>
              <a:chOff x="6515100" y="1695450"/>
              <a:chExt cx="4857750" cy="342900"/>
            </a:xfrm>
          </p:grpSpPr>
          <p:sp>
            <p:nvSpPr>
              <p:cNvPr id="30" name="Rectangle 30"/>
              <p:cNvSpPr/>
              <p:nvPr/>
            </p:nvSpPr>
            <p:spPr>
              <a:xfrm>
                <a:off x="6515100" y="1695450"/>
                <a:ext cx="4857750" cy="342900"/>
              </a:xfrm>
              <a:prstGeom prst="roundRect">
                <a:avLst>
                  <a:gd name="adj" fmla="val 11111"/>
                </a:avLst>
              </a:prstGeom>
              <a:solidFill>
                <a:srgbClr val="F0F4F8"/>
              </a:solidFill>
              <a:ln>
                <a:noFill/>
              </a:ln>
            </p:spPr>
          </p:sp>
          <p:sp>
            <p:nvSpPr>
              <p:cNvPr id="31" name="TextBox 31"/>
              <p:cNvSpPr txBox="1"/>
              <p:nvPr/>
            </p:nvSpPr>
            <p:spPr>
              <a:xfrm>
                <a:off x="6654165" y="1810702"/>
                <a:ext cx="2841022" cy="213360"/>
              </a:xfrm>
              <a:prstGeom prst="rect">
                <a:avLst/>
              </a:prstGeom>
              <a:noFill/>
              <a:ln>
                <a:noFill/>
              </a:ln>
            </p:spPr>
            <p:txBody>
              <a:bodyPr wrap="none" lIns="0" tIns="0" rIns="0" bIns="0" anchor="t" anchorCtr="0">
                <a:spAutoFit/>
              </a:bodyPr>
              <a:lstStyle/>
              <a:p>
                <a:pPr algn="l"/>
                <a:r>
                  <a:rPr lang="zh-CN" sz="1050" dirty="0">
                    <a:solidFill>
                      <a:srgbClr val="2D3436"/>
                    </a:solidFill>
                    <a:latin typeface="Arial"/>
                    <a:ea typeface="Microsoft YaHei"/>
                    <a:cs typeface="Arial"/>
                  </a:rPr>
                  <a:t>Python 3.13 + pandas + numpy（数据处理）</a:t>
                </a:r>
              </a:p>
            </p:txBody>
          </p:sp>
        </p:grpSp>
        <p:grpSp>
          <p:nvGrpSpPr>
            <p:cNvPr id="35" name="Group 35"/>
            <p:cNvGrpSpPr/>
            <p:nvPr/>
          </p:nvGrpSpPr>
          <p:grpSpPr>
            <a:xfrm>
              <a:off x="6515100" y="2095500"/>
              <a:ext cx="4857750" cy="342900"/>
              <a:chOff x="6515100" y="2095500"/>
              <a:chExt cx="4857750" cy="342900"/>
            </a:xfrm>
          </p:grpSpPr>
          <p:sp>
            <p:nvSpPr>
              <p:cNvPr id="33" name="Rectangle 33"/>
              <p:cNvSpPr/>
              <p:nvPr/>
            </p:nvSpPr>
            <p:spPr>
              <a:xfrm>
                <a:off x="6515100" y="2095500"/>
                <a:ext cx="4857750" cy="342900"/>
              </a:xfrm>
              <a:prstGeom prst="roundRect">
                <a:avLst>
                  <a:gd name="adj" fmla="val 11111"/>
                </a:avLst>
              </a:prstGeom>
              <a:solidFill>
                <a:srgbClr val="F0F4F8"/>
              </a:solidFill>
              <a:ln>
                <a:noFill/>
              </a:ln>
            </p:spPr>
          </p:sp>
          <p:sp>
            <p:nvSpPr>
              <p:cNvPr id="34" name="TextBox 34"/>
              <p:cNvSpPr txBox="1"/>
              <p:nvPr/>
            </p:nvSpPr>
            <p:spPr>
              <a:xfrm>
                <a:off x="6654165" y="2210752"/>
                <a:ext cx="2385965" cy="213360"/>
              </a:xfrm>
              <a:prstGeom prst="rect">
                <a:avLst/>
              </a:prstGeom>
              <a:noFill/>
              <a:ln>
                <a:noFill/>
              </a:ln>
            </p:spPr>
            <p:txBody>
              <a:bodyPr wrap="none" lIns="0" tIns="0" rIns="0" bIns="0" anchor="t" anchorCtr="0">
                <a:spAutoFit/>
              </a:bodyPr>
              <a:lstStyle/>
              <a:p>
                <a:pPr algn="l"/>
                <a:r>
                  <a:rPr lang="zh-CN" sz="1050" dirty="0">
                    <a:solidFill>
                      <a:srgbClr val="2D3436"/>
                    </a:solidFill>
                    <a:latin typeface="Arial"/>
                    <a:ea typeface="Microsoft YaHei"/>
                    <a:cs typeface="Arial"/>
                  </a:rPr>
                  <a:t>scikit-learn（建模、预处理、评估）</a:t>
                </a:r>
              </a:p>
            </p:txBody>
          </p:sp>
        </p:grpSp>
        <p:grpSp>
          <p:nvGrpSpPr>
            <p:cNvPr id="38" name="Group 38"/>
            <p:cNvGrpSpPr/>
            <p:nvPr/>
          </p:nvGrpSpPr>
          <p:grpSpPr>
            <a:xfrm>
              <a:off x="6515100" y="2495550"/>
              <a:ext cx="4857750" cy="342900"/>
              <a:chOff x="6515100" y="2495550"/>
              <a:chExt cx="4857750" cy="342900"/>
            </a:xfrm>
          </p:grpSpPr>
          <p:sp>
            <p:nvSpPr>
              <p:cNvPr id="36" name="Rectangle 36"/>
              <p:cNvSpPr/>
              <p:nvPr/>
            </p:nvSpPr>
            <p:spPr>
              <a:xfrm>
                <a:off x="6515100" y="2495550"/>
                <a:ext cx="4857750" cy="342900"/>
              </a:xfrm>
              <a:prstGeom prst="roundRect">
                <a:avLst>
                  <a:gd name="adj" fmla="val 11111"/>
                </a:avLst>
              </a:prstGeom>
              <a:solidFill>
                <a:srgbClr val="F0F4F8"/>
              </a:solidFill>
              <a:ln>
                <a:noFill/>
              </a:ln>
            </p:spPr>
          </p:sp>
          <p:sp>
            <p:nvSpPr>
              <p:cNvPr id="37" name="TextBox 37"/>
              <p:cNvSpPr txBox="1"/>
              <p:nvPr/>
            </p:nvSpPr>
            <p:spPr>
              <a:xfrm>
                <a:off x="6654165" y="2610802"/>
                <a:ext cx="1825895" cy="213360"/>
              </a:xfrm>
              <a:prstGeom prst="rect">
                <a:avLst/>
              </a:prstGeom>
              <a:noFill/>
              <a:ln>
                <a:noFill/>
              </a:ln>
            </p:spPr>
            <p:txBody>
              <a:bodyPr wrap="none" lIns="0" tIns="0" rIns="0" bIns="0" anchor="t" anchorCtr="0">
                <a:spAutoFit/>
              </a:bodyPr>
              <a:lstStyle/>
              <a:p>
                <a:pPr algn="l"/>
                <a:r>
                  <a:rPr lang="zh-CN" sz="1050" dirty="0">
                    <a:solidFill>
                      <a:srgbClr val="2D3436"/>
                    </a:solidFill>
                    <a:latin typeface="Arial"/>
                    <a:ea typeface="Microsoft YaHei"/>
                    <a:cs typeface="Arial"/>
                  </a:rPr>
                  <a:t>XGBoost（梯度提升分类器）</a:t>
                </a:r>
              </a:p>
            </p:txBody>
          </p:sp>
        </p:grpSp>
        <p:grpSp>
          <p:nvGrpSpPr>
            <p:cNvPr id="41" name="Group 41"/>
            <p:cNvGrpSpPr/>
            <p:nvPr/>
          </p:nvGrpSpPr>
          <p:grpSpPr>
            <a:xfrm>
              <a:off x="6515100" y="2895600"/>
              <a:ext cx="4857750" cy="342900"/>
              <a:chOff x="6515100" y="2895600"/>
              <a:chExt cx="4857750" cy="342900"/>
            </a:xfrm>
          </p:grpSpPr>
          <p:sp>
            <p:nvSpPr>
              <p:cNvPr id="39" name="Rectangle 39"/>
              <p:cNvSpPr/>
              <p:nvPr/>
            </p:nvSpPr>
            <p:spPr>
              <a:xfrm>
                <a:off x="6515100" y="2895600"/>
                <a:ext cx="4857750" cy="342900"/>
              </a:xfrm>
              <a:prstGeom prst="roundRect">
                <a:avLst>
                  <a:gd name="adj" fmla="val 11111"/>
                </a:avLst>
              </a:prstGeom>
              <a:solidFill>
                <a:srgbClr val="F0F4F8"/>
              </a:solidFill>
              <a:ln>
                <a:noFill/>
              </a:ln>
            </p:spPr>
          </p:sp>
          <p:sp>
            <p:nvSpPr>
              <p:cNvPr id="40" name="TextBox 40"/>
              <p:cNvSpPr txBox="1"/>
              <p:nvPr/>
            </p:nvSpPr>
            <p:spPr>
              <a:xfrm>
                <a:off x="6654165" y="3010852"/>
                <a:ext cx="2119932" cy="213360"/>
              </a:xfrm>
              <a:prstGeom prst="rect">
                <a:avLst/>
              </a:prstGeom>
              <a:noFill/>
              <a:ln>
                <a:noFill/>
              </a:ln>
            </p:spPr>
            <p:txBody>
              <a:bodyPr wrap="none" lIns="0" tIns="0" rIns="0" bIns="0" anchor="t" anchorCtr="0">
                <a:spAutoFit/>
              </a:bodyPr>
              <a:lstStyle/>
              <a:p>
                <a:pPr algn="l"/>
                <a:r>
                  <a:rPr lang="zh-CN" sz="1050" dirty="0">
                    <a:solidFill>
                      <a:srgbClr val="2D3436"/>
                    </a:solidFill>
                    <a:latin typeface="Arial"/>
                    <a:ea typeface="Microsoft YaHei"/>
                    <a:cs typeface="Arial"/>
                  </a:rPr>
                  <a:t>matplotlib + seaborn（可视化）</a:t>
                </a:r>
              </a:p>
            </p:txBody>
          </p:sp>
        </p:grpSp>
      </p:grpSp>
      <p:grpSp>
        <p:nvGrpSpPr>
          <p:cNvPr id="48" name="Group 48"/>
          <p:cNvGrpSpPr/>
          <p:nvPr/>
        </p:nvGrpSpPr>
        <p:grpSpPr>
          <a:xfrm>
            <a:off x="571500" y="3905250"/>
            <a:ext cx="11049000" cy="1143000"/>
            <a:chOff x="571500" y="3905250"/>
            <a:chExt cx="11049000" cy="1143000"/>
          </a:xfrm>
        </p:grpSpPr>
        <p:sp>
          <p:nvSpPr>
            <p:cNvPr id="43" name="Rectangle 43"/>
            <p:cNvSpPr/>
            <p:nvPr/>
          </p:nvSpPr>
          <p:spPr>
            <a:xfrm>
              <a:off x="571500" y="3905250"/>
              <a:ext cx="11049000" cy="1143000"/>
            </a:xfrm>
            <a:prstGeom prst="roundRect">
              <a:avLst>
                <a:gd name="adj" fmla="val 6667"/>
              </a:avLst>
            </a:prstGeom>
            <a:solidFill>
              <a:srgbClr val="FFFFFF"/>
            </a:solidFill>
            <a:ln w="9525">
              <a:solidFill>
                <a:srgbClr val="DFE6E9"/>
              </a:solidFill>
            </a:ln>
          </p:spPr>
        </p:sp>
        <p:sp>
          <p:nvSpPr>
            <p:cNvPr id="44" name="Rectangle 44"/>
            <p:cNvSpPr/>
            <p:nvPr/>
          </p:nvSpPr>
          <p:spPr>
            <a:xfrm>
              <a:off x="571500" y="3905250"/>
              <a:ext cx="38100" cy="1143000"/>
            </a:xfrm>
            <a:prstGeom prst="roundRect">
              <a:avLst>
                <a:gd name="adj" fmla="val 50000"/>
              </a:avLst>
            </a:prstGeom>
            <a:solidFill>
              <a:srgbClr val="F18F01"/>
            </a:solidFill>
            <a:ln>
              <a:noFill/>
            </a:ln>
          </p:spPr>
        </p:sp>
        <p:sp>
          <p:nvSpPr>
            <p:cNvPr id="45" name="TextBox 45"/>
            <p:cNvSpPr txBox="1"/>
            <p:nvPr/>
          </p:nvSpPr>
          <p:spPr>
            <a:xfrm>
              <a:off x="840105" y="4092892"/>
              <a:ext cx="254830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核心关系：用户 — 游戏 — 推荐</a:t>
              </a:r>
            </a:p>
          </p:txBody>
        </p:sp>
        <p:sp>
          <p:nvSpPr>
            <p:cNvPr id="46" name="TextBox 46"/>
            <p:cNvSpPr txBox="1"/>
            <p:nvPr/>
          </p:nvSpPr>
          <p:spPr>
            <a:xfrm>
              <a:off x="842962" y="4374356"/>
              <a:ext cx="4079081"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哪类用户、对什么特征的游戏、给出了正面还是负面的评价？</a:t>
              </a:r>
            </a:p>
          </p:txBody>
        </p:sp>
        <p:sp>
          <p:nvSpPr>
            <p:cNvPr id="47" name="TextBox 47"/>
            <p:cNvSpPr txBox="1"/>
            <p:nvPr/>
          </p:nvSpPr>
          <p:spPr>
            <a:xfrm>
              <a:off x="843915" y="4649152"/>
              <a:ext cx="7601617"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目标：基于用户行为特征和游戏属性特征，构建一个</a:t>
              </a:r>
              <a:r>
                <a:rPr lang="zh-CN" sz="1050" b="1" dirty="0">
                  <a:solidFill>
                    <a:srgbClr val="F18F01"/>
                  </a:solidFill>
                  <a:latin typeface="Arial"/>
                  <a:ea typeface="Microsoft YaHei"/>
                  <a:cs typeface="Arial"/>
                </a:rPr>
                <a:t>混合推荐系统</a:t>
              </a:r>
              <a:r>
                <a:rPr lang="zh-CN" sz="1050" dirty="0">
                  <a:solidFill>
                    <a:srgbClr val="636E72"/>
                  </a:solidFill>
                  <a:latin typeface="Arial"/>
                  <a:ea typeface="Microsoft YaHei"/>
                  <a:cs typeface="Arial"/>
                </a:rPr>
                <a:t>——结合内容特征与行为信号，预测用户是否推荐某款游戏</a:t>
              </a:r>
            </a:p>
          </p:txBody>
        </p:sp>
      </p:grpSp>
      <p:grpSp>
        <p:nvGrpSpPr>
          <p:cNvPr id="61" name="Group 61"/>
          <p:cNvGrpSpPr/>
          <p:nvPr/>
        </p:nvGrpSpPr>
        <p:grpSpPr>
          <a:xfrm>
            <a:off x="571500" y="5334000"/>
            <a:ext cx="11049000" cy="952500"/>
            <a:chOff x="571500" y="5334000"/>
            <a:chExt cx="11049000" cy="952500"/>
          </a:xfrm>
        </p:grpSpPr>
        <p:sp>
          <p:nvSpPr>
            <p:cNvPr id="49" name="Rectangle 49"/>
            <p:cNvSpPr/>
            <p:nvPr/>
          </p:nvSpPr>
          <p:spPr>
            <a:xfrm>
              <a:off x="571500" y="5334000"/>
              <a:ext cx="2571750" cy="952500"/>
            </a:xfrm>
            <a:prstGeom prst="roundRect">
              <a:avLst>
                <a:gd name="adj" fmla="val 8000"/>
              </a:avLst>
            </a:prstGeom>
            <a:solidFill>
              <a:srgbClr val="FFFFFF"/>
            </a:solidFill>
            <a:ln w="9525">
              <a:solidFill>
                <a:srgbClr val="DFE6E9"/>
              </a:solidFill>
            </a:ln>
          </p:spPr>
        </p:sp>
        <p:sp>
          <p:nvSpPr>
            <p:cNvPr id="50" name="TextBox 50"/>
            <p:cNvSpPr txBox="1"/>
            <p:nvPr/>
          </p:nvSpPr>
          <p:spPr>
            <a:xfrm>
              <a:off x="1465650" y="5408295"/>
              <a:ext cx="783450" cy="487680"/>
            </a:xfrm>
            <a:prstGeom prst="rect">
              <a:avLst/>
            </a:prstGeom>
            <a:noFill/>
            <a:ln>
              <a:noFill/>
            </a:ln>
          </p:spPr>
          <p:txBody>
            <a:bodyPr wrap="none" lIns="0" tIns="0" rIns="0" bIns="0" anchor="t" anchorCtr="0">
              <a:spAutoFit/>
            </a:bodyPr>
            <a:lstStyle/>
            <a:p>
              <a:pPr algn="ctr"/>
              <a:r>
                <a:rPr lang="zh-CN" sz="2400" b="1" dirty="0">
                  <a:solidFill>
                    <a:srgbClr val="1A3A5C"/>
                  </a:solidFill>
                  <a:latin typeface="Arial"/>
                  <a:ea typeface="Microsoft YaHei"/>
                  <a:cs typeface="Arial"/>
                </a:rPr>
                <a:t>41M+</a:t>
              </a:r>
            </a:p>
          </p:txBody>
        </p:sp>
        <p:sp>
          <p:nvSpPr>
            <p:cNvPr id="51" name="TextBox 51"/>
            <p:cNvSpPr txBox="1"/>
            <p:nvPr/>
          </p:nvSpPr>
          <p:spPr>
            <a:xfrm>
              <a:off x="1584960" y="5800249"/>
              <a:ext cx="544830"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推荐记录</a:t>
              </a:r>
            </a:p>
          </p:txBody>
        </p:sp>
        <p:sp>
          <p:nvSpPr>
            <p:cNvPr id="52" name="Rectangle 52"/>
            <p:cNvSpPr/>
            <p:nvPr/>
          </p:nvSpPr>
          <p:spPr>
            <a:xfrm>
              <a:off x="3381375" y="5334000"/>
              <a:ext cx="2571750" cy="952500"/>
            </a:xfrm>
            <a:prstGeom prst="roundRect">
              <a:avLst>
                <a:gd name="adj" fmla="val 8000"/>
              </a:avLst>
            </a:prstGeom>
            <a:solidFill>
              <a:srgbClr val="FFFFFF"/>
            </a:solidFill>
            <a:ln w="9525">
              <a:solidFill>
                <a:srgbClr val="DFE6E9"/>
              </a:solidFill>
            </a:ln>
          </p:spPr>
        </p:sp>
        <p:sp>
          <p:nvSpPr>
            <p:cNvPr id="53" name="TextBox 53"/>
            <p:cNvSpPr txBox="1"/>
            <p:nvPr/>
          </p:nvSpPr>
          <p:spPr>
            <a:xfrm>
              <a:off x="4267124" y="5408295"/>
              <a:ext cx="800252" cy="487680"/>
            </a:xfrm>
            <a:prstGeom prst="rect">
              <a:avLst/>
            </a:prstGeom>
            <a:noFill/>
            <a:ln>
              <a:noFill/>
            </a:ln>
          </p:spPr>
          <p:txBody>
            <a:bodyPr wrap="none" lIns="0" tIns="0" rIns="0" bIns="0" anchor="t" anchorCtr="0">
              <a:spAutoFit/>
            </a:bodyPr>
            <a:lstStyle/>
            <a:p>
              <a:pPr algn="ctr"/>
              <a:r>
                <a:rPr lang="zh-CN" sz="2400" b="1" dirty="0">
                  <a:solidFill>
                    <a:srgbClr val="2E86AB"/>
                  </a:solidFill>
                  <a:latin typeface="Arial"/>
                  <a:ea typeface="Microsoft YaHei"/>
                  <a:cs typeface="Arial"/>
                </a:rPr>
                <a:t>500K</a:t>
              </a:r>
            </a:p>
          </p:txBody>
        </p:sp>
        <p:sp>
          <p:nvSpPr>
            <p:cNvPr id="54" name="TextBox 54"/>
            <p:cNvSpPr txBox="1"/>
            <p:nvPr/>
          </p:nvSpPr>
          <p:spPr>
            <a:xfrm>
              <a:off x="4199811" y="5800249"/>
              <a:ext cx="934879"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开发阶段采样量</a:t>
              </a:r>
            </a:p>
          </p:txBody>
        </p:sp>
        <p:sp>
          <p:nvSpPr>
            <p:cNvPr id="55" name="Rectangle 55"/>
            <p:cNvSpPr/>
            <p:nvPr/>
          </p:nvSpPr>
          <p:spPr>
            <a:xfrm>
              <a:off x="6191250" y="5334000"/>
              <a:ext cx="2571750" cy="952500"/>
            </a:xfrm>
            <a:prstGeom prst="roundRect">
              <a:avLst>
                <a:gd name="adj" fmla="val 8000"/>
              </a:avLst>
            </a:prstGeom>
            <a:solidFill>
              <a:srgbClr val="FFFFFF"/>
            </a:solidFill>
            <a:ln w="9525">
              <a:solidFill>
                <a:srgbClr val="DFE6E9"/>
              </a:solidFill>
            </a:ln>
          </p:spPr>
        </p:sp>
        <p:sp>
          <p:nvSpPr>
            <p:cNvPr id="56" name="TextBox 56"/>
            <p:cNvSpPr txBox="1"/>
            <p:nvPr/>
          </p:nvSpPr>
          <p:spPr>
            <a:xfrm>
              <a:off x="7261822" y="5408295"/>
              <a:ext cx="430606" cy="487680"/>
            </a:xfrm>
            <a:prstGeom prst="rect">
              <a:avLst/>
            </a:prstGeom>
            <a:noFill/>
            <a:ln>
              <a:noFill/>
            </a:ln>
          </p:spPr>
          <p:txBody>
            <a:bodyPr wrap="none" lIns="0" tIns="0" rIns="0" bIns="0" anchor="t" anchorCtr="0">
              <a:spAutoFit/>
            </a:bodyPr>
            <a:lstStyle/>
            <a:p>
              <a:pPr algn="ctr"/>
              <a:r>
                <a:rPr lang="zh-CN" sz="2400" b="1" dirty="0">
                  <a:solidFill>
                    <a:srgbClr val="27AE60"/>
                  </a:solidFill>
                  <a:latin typeface="Arial"/>
                  <a:ea typeface="Microsoft YaHei"/>
                  <a:cs typeface="Arial"/>
                </a:rPr>
                <a:t>88</a:t>
              </a:r>
            </a:p>
          </p:txBody>
        </p:sp>
        <p:sp>
          <p:nvSpPr>
            <p:cNvPr id="57" name="TextBox 57"/>
            <p:cNvSpPr txBox="1"/>
            <p:nvPr/>
          </p:nvSpPr>
          <p:spPr>
            <a:xfrm>
              <a:off x="7006435" y="5800249"/>
              <a:ext cx="941380"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测试用例 (TDD)</a:t>
              </a:r>
            </a:p>
          </p:txBody>
        </p:sp>
        <p:sp>
          <p:nvSpPr>
            <p:cNvPr id="58" name="Rectangle 58"/>
            <p:cNvSpPr/>
            <p:nvPr/>
          </p:nvSpPr>
          <p:spPr>
            <a:xfrm>
              <a:off x="9001125" y="5334000"/>
              <a:ext cx="2619375" cy="952500"/>
            </a:xfrm>
            <a:prstGeom prst="roundRect">
              <a:avLst>
                <a:gd name="adj" fmla="val 8000"/>
              </a:avLst>
            </a:prstGeom>
            <a:solidFill>
              <a:srgbClr val="FFFFFF"/>
            </a:solidFill>
            <a:ln w="9525">
              <a:solidFill>
                <a:srgbClr val="DFE6E9"/>
              </a:solidFill>
            </a:ln>
          </p:spPr>
        </p:sp>
        <p:sp>
          <p:nvSpPr>
            <p:cNvPr id="59" name="TextBox 59"/>
            <p:cNvSpPr txBox="1"/>
            <p:nvPr/>
          </p:nvSpPr>
          <p:spPr>
            <a:xfrm>
              <a:off x="10183158" y="5408295"/>
              <a:ext cx="245783" cy="487680"/>
            </a:xfrm>
            <a:prstGeom prst="rect">
              <a:avLst/>
            </a:prstGeom>
            <a:noFill/>
            <a:ln>
              <a:noFill/>
            </a:ln>
          </p:spPr>
          <p:txBody>
            <a:bodyPr wrap="none" lIns="0" tIns="0" rIns="0" bIns="0" anchor="t" anchorCtr="0">
              <a:spAutoFit/>
            </a:bodyPr>
            <a:lstStyle/>
            <a:p>
              <a:pPr algn="ctr"/>
              <a:r>
                <a:rPr lang="zh-CN" sz="2400" b="1" dirty="0">
                  <a:solidFill>
                    <a:srgbClr val="F18F01"/>
                  </a:solidFill>
                  <a:latin typeface="Arial"/>
                  <a:ea typeface="Microsoft YaHei"/>
                  <a:cs typeface="Arial"/>
                </a:rPr>
                <a:t>3</a:t>
              </a:r>
            </a:p>
          </p:txBody>
        </p:sp>
        <p:sp>
          <p:nvSpPr>
            <p:cNvPr id="60" name="TextBox 60"/>
            <p:cNvSpPr txBox="1"/>
            <p:nvPr/>
          </p:nvSpPr>
          <p:spPr>
            <a:xfrm>
              <a:off x="9903619" y="5800249"/>
              <a:ext cx="804862"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候选模型对比</a:t>
              </a:r>
            </a:p>
          </p:txBody>
        </p:sp>
      </p:grpSp>
      <p:sp>
        <p:nvSpPr>
          <p:cNvPr id="62" name="TextBox 62"/>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image">
                                      <p:cBhvr>
                                        <p:cTn id="7" dur="400"/>
                                        <p:tgtEl>
                                          <p:spTgt spid="2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00"/>
                                        <p:tgtEl>
                                          <p:spTgt spid="4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400"/>
                                        <p:tgtEl>
                                          <p:spTgt spid="48"/>
                                        </p:tgtEl>
                                      </p:cBhvr>
                                    </p:animEffect>
                                  </p:childTnLst>
                                </p:cTn>
                              </p:par>
                            </p:childTnLst>
                          </p:cTn>
                        </p:par>
                        <p:par>
                          <p:cTn id="16" fill="hold">
                            <p:stCondLst>
                              <p:cond delay="2700"/>
                            </p:stCondLst>
                            <p:childTnLst>
                              <p:par>
                                <p:cTn id="17" presetID="8"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diamond(in)">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2" grpId="0"/>
      <p:bldP spid="48" grpId="0"/>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328612"/>
            <a:ext cx="2739390" cy="552450"/>
            <a:chOff x="571500" y="328612"/>
            <a:chExt cx="2739390" cy="552450"/>
          </a:xfrm>
        </p:grpSpPr>
        <p:sp>
          <p:nvSpPr>
            <p:cNvPr id="3" name="Rectangle 3"/>
            <p:cNvSpPr/>
            <p:nvPr/>
          </p:nvSpPr>
          <p:spPr>
            <a:xfrm>
              <a:off x="571500" y="381000"/>
              <a:ext cx="38100" cy="45720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3425" y="328612"/>
              <a:ext cx="2577465" cy="457200"/>
            </a:xfrm>
            <a:prstGeom prst="rect">
              <a:avLst/>
            </a:prstGeom>
            <a:noFill/>
            <a:ln>
              <a:noFill/>
            </a:ln>
          </p:spPr>
          <p:txBody>
            <a:bodyPr wrap="none" lIns="0" tIns="0" rIns="0" bIns="0" anchor="t" anchorCtr="0">
              <a:spAutoFit/>
            </a:bodyPr>
            <a:lstStyle/>
            <a:p>
              <a:pPr algn="l"/>
              <a:r>
                <a:rPr lang="zh-CN" sz="2250" b="1" dirty="0">
                  <a:solidFill>
                    <a:srgbClr val="2D3436"/>
                  </a:solidFill>
                  <a:latin typeface="Arial"/>
                  <a:ea typeface="Microsoft YaHei"/>
                  <a:cs typeface="Arial"/>
                </a:rPr>
                <a:t>四大核心研究问题</a:t>
              </a:r>
            </a:p>
          </p:txBody>
        </p:sp>
        <p:sp>
          <p:nvSpPr>
            <p:cNvPr id="5" name="TextBox 5"/>
            <p:cNvSpPr txBox="1"/>
            <p:nvPr/>
          </p:nvSpPr>
          <p:spPr>
            <a:xfrm>
              <a:off x="748665" y="667702"/>
              <a:ext cx="2266950"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从描述性统计到预测建模，层层递进</a:t>
              </a:r>
            </a:p>
          </p:txBody>
        </p:sp>
      </p:grpSp>
      <p:grpSp>
        <p:nvGrpSpPr>
          <p:cNvPr id="19" name="Group 19"/>
          <p:cNvGrpSpPr/>
          <p:nvPr/>
        </p:nvGrpSpPr>
        <p:grpSpPr>
          <a:xfrm>
            <a:off x="571500" y="1143000"/>
            <a:ext cx="5334000" cy="1238250"/>
            <a:chOff x="571500" y="1143000"/>
            <a:chExt cx="5334000" cy="1238250"/>
          </a:xfrm>
        </p:grpSpPr>
        <p:sp>
          <p:nvSpPr>
            <p:cNvPr id="7" name="Rectangle 7"/>
            <p:cNvSpPr/>
            <p:nvPr/>
          </p:nvSpPr>
          <p:spPr>
            <a:xfrm>
              <a:off x="571500" y="1143000"/>
              <a:ext cx="5334000" cy="1238250"/>
            </a:xfrm>
            <a:prstGeom prst="roundRect">
              <a:avLst>
                <a:gd name="adj" fmla="val 6154"/>
              </a:avLst>
            </a:prstGeom>
            <a:solidFill>
              <a:srgbClr val="FFFFFF"/>
            </a:solidFill>
            <a:ln w="9525">
              <a:solidFill>
                <a:srgbClr val="DFE6E9"/>
              </a:solidFill>
            </a:ln>
          </p:spPr>
        </p:sp>
        <p:sp>
          <p:nvSpPr>
            <p:cNvPr id="8" name="Rectangle 8"/>
            <p:cNvSpPr/>
            <p:nvPr/>
          </p:nvSpPr>
          <p:spPr>
            <a:xfrm>
              <a:off x="571500" y="1143000"/>
              <a:ext cx="38100" cy="1238250"/>
            </a:xfrm>
            <a:prstGeom prst="roundRect">
              <a:avLst>
                <a:gd name="adj" fmla="val 50000"/>
              </a:avLst>
            </a:prstGeom>
            <a:solidFill>
              <a:srgbClr val="1A3A5C"/>
            </a:solidFill>
            <a:ln>
              <a:noFill/>
            </a:ln>
          </p:spPr>
        </p:sp>
        <p:grpSp>
          <p:nvGrpSpPr>
            <p:cNvPr id="13" name="Group 13"/>
            <p:cNvGrpSpPr/>
            <p:nvPr/>
          </p:nvGrpSpPr>
          <p:grpSpPr>
            <a:xfrm>
              <a:off x="881062" y="1466850"/>
              <a:ext cx="257175" cy="238125"/>
              <a:chOff x="881062" y="1466850"/>
              <a:chExt cx="257175" cy="238125"/>
            </a:xfrm>
          </p:grpSpPr>
          <p:sp>
            <p:nvSpPr>
              <p:cNvPr id="9" name="Freeform 9"/>
              <p:cNvSpPr/>
              <p:nvPr/>
            </p:nvSpPr>
            <p:spPr>
              <a:xfrm>
                <a:off x="881062" y="158115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A3A5C"/>
                </a:solidFill>
              </a:ln>
            </p:spPr>
          </p:sp>
          <p:sp>
            <p:nvSpPr>
              <p:cNvPr id="10" name="Freeform 10"/>
              <p:cNvSpPr/>
              <p:nvPr/>
            </p:nvSpPr>
            <p:spPr>
              <a:xfrm>
                <a:off x="1052512" y="152400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A3A5C"/>
                </a:solidFill>
              </a:ln>
            </p:spPr>
          </p:sp>
          <p:sp>
            <p:nvSpPr>
              <p:cNvPr id="11" name="Freeform 11"/>
              <p:cNvSpPr/>
              <p:nvPr/>
            </p:nvSpPr>
            <p:spPr>
              <a:xfrm>
                <a:off x="966788" y="146685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A3A5C"/>
                </a:solidFill>
              </a:ln>
            </p:spPr>
          </p:sp>
          <p:sp>
            <p:nvSpPr>
              <p:cNvPr id="12" name="Freeform 12"/>
              <p:cNvSpPr/>
              <p:nvPr/>
            </p:nvSpPr>
            <p:spPr>
              <a:xfrm>
                <a:off x="895350" y="1695450"/>
                <a:ext cx="200025" cy="9525"/>
              </a:xfrm>
              <a:custGeom>
                <a:avLst/>
                <a:gdLst/>
                <a:ahLst/>
                <a:cxnLst/>
                <a:rect l="l" t="t" r="r" b="b"/>
                <a:pathLst>
                  <a:path w="200025" h="9525">
                    <a:moveTo>
                      <a:pt x="0" y="0"/>
                    </a:moveTo>
                    <a:lnTo>
                      <a:pt x="200025" y="0"/>
                    </a:lnTo>
                  </a:path>
                </a:pathLst>
              </a:custGeom>
              <a:noFill/>
              <a:ln w="19050">
                <a:solidFill>
                  <a:srgbClr val="1A3A5C"/>
                </a:solidFill>
              </a:ln>
            </p:spPr>
          </p:sp>
        </p:grpSp>
        <p:sp>
          <p:nvSpPr>
            <p:cNvPr id="14" name="Ellipse 14"/>
            <p:cNvSpPr/>
            <p:nvPr/>
          </p:nvSpPr>
          <p:spPr>
            <a:xfrm>
              <a:off x="4667250" y="1476375"/>
              <a:ext cx="571500" cy="571500"/>
            </a:xfrm>
            <a:prstGeom prst="ellipse">
              <a:avLst/>
            </a:prstGeom>
            <a:solidFill>
              <a:srgbClr val="1A3A5C">
                <a:alpha val="8000"/>
              </a:srgbClr>
            </a:solidFill>
            <a:ln>
              <a:noFill/>
            </a:ln>
          </p:spPr>
        </p:sp>
        <p:sp>
          <p:nvSpPr>
            <p:cNvPr id="15" name="TextBox 15"/>
            <p:cNvSpPr txBox="1"/>
            <p:nvPr/>
          </p:nvSpPr>
          <p:spPr>
            <a:xfrm>
              <a:off x="4823686" y="1657350"/>
              <a:ext cx="258628"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Arial"/>
                  <a:ea typeface="Microsoft YaHei"/>
                  <a:cs typeface="Arial"/>
                </a:rPr>
                <a:t>Q1</a:t>
              </a:r>
            </a:p>
          </p:txBody>
        </p:sp>
        <p:sp>
          <p:nvSpPr>
            <p:cNvPr id="16" name="TextBox 16"/>
            <p:cNvSpPr txBox="1"/>
            <p:nvPr/>
          </p:nvSpPr>
          <p:spPr>
            <a:xfrm>
              <a:off x="1316355" y="1454468"/>
              <a:ext cx="1168432" cy="274320"/>
            </a:xfrm>
            <a:prstGeom prst="rect">
              <a:avLst/>
            </a:prstGeom>
            <a:noFill/>
            <a:ln>
              <a:noFill/>
            </a:ln>
          </p:spPr>
          <p:txBody>
            <a:bodyPr wrap="none" lIns="0" tIns="0" rIns="0" bIns="0" anchor="t" anchorCtr="0">
              <a:spAutoFit/>
            </a:bodyPr>
            <a:lstStyle/>
            <a:p>
              <a:pPr algn="l"/>
              <a:r>
                <a:rPr lang="zh-CN" sz="1350" b="1" dirty="0">
                  <a:solidFill>
                    <a:srgbClr val="2D3436"/>
                  </a:solidFill>
                  <a:latin typeface="Arial"/>
                  <a:ea typeface="Microsoft YaHei"/>
                  <a:cs typeface="Arial"/>
                </a:rPr>
                <a:t>游戏生态画像</a:t>
              </a:r>
            </a:p>
          </p:txBody>
        </p:sp>
        <p:sp>
          <p:nvSpPr>
            <p:cNvPr id="17" name="TextBox 17"/>
            <p:cNvSpPr txBox="1"/>
            <p:nvPr/>
          </p:nvSpPr>
          <p:spPr>
            <a:xfrm>
              <a:off x="1320165" y="1734502"/>
              <a:ext cx="2161937"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Steam 市场的结构性特征是什么？</a:t>
              </a:r>
            </a:p>
          </p:txBody>
        </p:sp>
        <p:sp>
          <p:nvSpPr>
            <p:cNvPr id="18" name="TextBox 18"/>
            <p:cNvSpPr txBox="1"/>
            <p:nvPr/>
          </p:nvSpPr>
          <p:spPr>
            <a:xfrm>
              <a:off x="1321118" y="1971199"/>
              <a:ext cx="3613213" cy="198120"/>
            </a:xfrm>
            <a:prstGeom prst="rect">
              <a:avLst/>
            </a:prstGeom>
            <a:noFill/>
            <a:ln>
              <a:noFill/>
            </a:ln>
          </p:spPr>
          <p:txBody>
            <a:bodyPr wrap="none" lIns="0" tIns="0" rIns="0" bIns="0" anchor="t" anchorCtr="0">
              <a:spAutoFit/>
            </a:bodyPr>
            <a:lstStyle/>
            <a:p>
              <a:pPr algn="l"/>
              <a:r>
                <a:rPr lang="zh-CN" sz="975" dirty="0">
                  <a:solidFill>
                    <a:srgbClr val="B2BEC3"/>
                  </a:solidFill>
                  <a:latin typeface="Arial"/>
                  <a:ea typeface="Microsoft YaHei"/>
                  <a:cs typeface="Arial"/>
                </a:rPr>
                <a:t>价格分布 · 评分分布 · 类型频率 · 发布时间趋势 · 头部集中度</a:t>
              </a:r>
            </a:p>
          </p:txBody>
        </p:sp>
      </p:grpSp>
      <p:grpSp>
        <p:nvGrpSpPr>
          <p:cNvPr id="32" name="Group 32"/>
          <p:cNvGrpSpPr/>
          <p:nvPr/>
        </p:nvGrpSpPr>
        <p:grpSpPr>
          <a:xfrm>
            <a:off x="6286500" y="1143000"/>
            <a:ext cx="5334000" cy="1238250"/>
            <a:chOff x="6286500" y="1143000"/>
            <a:chExt cx="5334000" cy="1238250"/>
          </a:xfrm>
        </p:grpSpPr>
        <p:sp>
          <p:nvSpPr>
            <p:cNvPr id="20" name="Rectangle 20"/>
            <p:cNvSpPr/>
            <p:nvPr/>
          </p:nvSpPr>
          <p:spPr>
            <a:xfrm>
              <a:off x="6286500" y="1143000"/>
              <a:ext cx="5334000" cy="1238250"/>
            </a:xfrm>
            <a:prstGeom prst="roundRect">
              <a:avLst>
                <a:gd name="adj" fmla="val 6154"/>
              </a:avLst>
            </a:prstGeom>
            <a:solidFill>
              <a:srgbClr val="FFFFFF"/>
            </a:solidFill>
            <a:ln w="9525">
              <a:solidFill>
                <a:srgbClr val="DFE6E9"/>
              </a:solidFill>
            </a:ln>
          </p:spPr>
        </p:sp>
        <p:sp>
          <p:nvSpPr>
            <p:cNvPr id="21" name="Rectangle 21"/>
            <p:cNvSpPr/>
            <p:nvPr/>
          </p:nvSpPr>
          <p:spPr>
            <a:xfrm>
              <a:off x="6286500" y="1143000"/>
              <a:ext cx="38100" cy="1238250"/>
            </a:xfrm>
            <a:prstGeom prst="roundRect">
              <a:avLst>
                <a:gd name="adj" fmla="val 50000"/>
              </a:avLst>
            </a:prstGeom>
            <a:solidFill>
              <a:srgbClr val="2E86AB"/>
            </a:solidFill>
            <a:ln>
              <a:noFill/>
            </a:ln>
          </p:spPr>
        </p:sp>
        <p:grpSp>
          <p:nvGrpSpPr>
            <p:cNvPr id="26" name="Group 26"/>
            <p:cNvGrpSpPr/>
            <p:nvPr/>
          </p:nvGrpSpPr>
          <p:grpSpPr>
            <a:xfrm>
              <a:off x="6596062" y="1452562"/>
              <a:ext cx="257175" cy="257176"/>
              <a:chOff x="6596062" y="1452562"/>
              <a:chExt cx="257175" cy="257176"/>
            </a:xfrm>
          </p:grpSpPr>
          <p:sp>
            <p:nvSpPr>
              <p:cNvPr id="22" name="Freeform 22"/>
              <p:cNvSpPr/>
              <p:nvPr/>
            </p:nvSpPr>
            <p:spPr>
              <a:xfrm>
                <a:off x="6624638" y="145256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2E86AB"/>
                </a:solidFill>
              </a:ln>
            </p:spPr>
          </p:sp>
          <p:sp>
            <p:nvSpPr>
              <p:cNvPr id="23" name="Freeform 23"/>
              <p:cNvSpPr/>
              <p:nvPr/>
            </p:nvSpPr>
            <p:spPr>
              <a:xfrm>
                <a:off x="6596062" y="162401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2E86AB"/>
                </a:solidFill>
              </a:ln>
            </p:spPr>
          </p:sp>
          <p:sp>
            <p:nvSpPr>
              <p:cNvPr id="24" name="Freeform 24"/>
              <p:cNvSpPr/>
              <p:nvPr/>
            </p:nvSpPr>
            <p:spPr>
              <a:xfrm>
                <a:off x="6781800" y="145442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2E86AB"/>
                </a:solidFill>
              </a:ln>
            </p:spPr>
          </p:sp>
          <p:sp>
            <p:nvSpPr>
              <p:cNvPr id="25" name="Freeform 25"/>
              <p:cNvSpPr/>
              <p:nvPr/>
            </p:nvSpPr>
            <p:spPr>
              <a:xfrm>
                <a:off x="6810375" y="162615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2E86AB"/>
                </a:solidFill>
              </a:ln>
            </p:spPr>
          </p:sp>
        </p:grpSp>
        <p:sp>
          <p:nvSpPr>
            <p:cNvPr id="27" name="Ellipse 27"/>
            <p:cNvSpPr/>
            <p:nvPr/>
          </p:nvSpPr>
          <p:spPr>
            <a:xfrm>
              <a:off x="10382250" y="1476375"/>
              <a:ext cx="571500" cy="571500"/>
            </a:xfrm>
            <a:prstGeom prst="ellipse">
              <a:avLst/>
            </a:prstGeom>
            <a:solidFill>
              <a:srgbClr val="2E86AB">
                <a:alpha val="8000"/>
              </a:srgbClr>
            </a:solidFill>
            <a:ln>
              <a:noFill/>
            </a:ln>
          </p:spPr>
        </p:sp>
        <p:sp>
          <p:nvSpPr>
            <p:cNvPr id="28" name="TextBox 28"/>
            <p:cNvSpPr txBox="1"/>
            <p:nvPr/>
          </p:nvSpPr>
          <p:spPr>
            <a:xfrm>
              <a:off x="10512433" y="1657350"/>
              <a:ext cx="311134" cy="304800"/>
            </a:xfrm>
            <a:prstGeom prst="rect">
              <a:avLst/>
            </a:prstGeom>
            <a:noFill/>
            <a:ln>
              <a:noFill/>
            </a:ln>
          </p:spPr>
          <p:txBody>
            <a:bodyPr wrap="none" lIns="0" tIns="0" rIns="0" bIns="0" anchor="t" anchorCtr="0">
              <a:spAutoFit/>
            </a:bodyPr>
            <a:lstStyle/>
            <a:p>
              <a:pPr algn="ctr"/>
              <a:r>
                <a:rPr lang="zh-CN" sz="1500" b="1" dirty="0">
                  <a:solidFill>
                    <a:srgbClr val="2E86AB"/>
                  </a:solidFill>
                  <a:latin typeface="Arial"/>
                  <a:ea typeface="Microsoft YaHei"/>
                  <a:cs typeface="Arial"/>
                </a:rPr>
                <a:t>Q2</a:t>
              </a:r>
            </a:p>
          </p:txBody>
        </p:sp>
        <p:sp>
          <p:nvSpPr>
            <p:cNvPr id="29" name="TextBox 29"/>
            <p:cNvSpPr txBox="1"/>
            <p:nvPr/>
          </p:nvSpPr>
          <p:spPr>
            <a:xfrm>
              <a:off x="7031355" y="1454468"/>
              <a:ext cx="1168432" cy="274320"/>
            </a:xfrm>
            <a:prstGeom prst="rect">
              <a:avLst/>
            </a:prstGeom>
            <a:noFill/>
            <a:ln>
              <a:noFill/>
            </a:ln>
          </p:spPr>
          <p:txBody>
            <a:bodyPr wrap="none" lIns="0" tIns="0" rIns="0" bIns="0" anchor="t" anchorCtr="0">
              <a:spAutoFit/>
            </a:bodyPr>
            <a:lstStyle/>
            <a:p>
              <a:pPr algn="l"/>
              <a:r>
                <a:rPr lang="zh-CN" sz="1350" b="1" dirty="0">
                  <a:solidFill>
                    <a:srgbClr val="2D3436"/>
                  </a:solidFill>
                  <a:latin typeface="Arial"/>
                  <a:ea typeface="Microsoft YaHei"/>
                  <a:cs typeface="Arial"/>
                </a:rPr>
                <a:t>用户行为画像</a:t>
              </a:r>
            </a:p>
          </p:txBody>
        </p:sp>
        <p:sp>
          <p:nvSpPr>
            <p:cNvPr id="30" name="TextBox 30"/>
            <p:cNvSpPr txBox="1"/>
            <p:nvPr/>
          </p:nvSpPr>
          <p:spPr>
            <a:xfrm>
              <a:off x="7035165" y="1734502"/>
              <a:ext cx="1846898"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谁在评价？活跃度分布如何？</a:t>
              </a:r>
            </a:p>
          </p:txBody>
        </p:sp>
        <p:sp>
          <p:nvSpPr>
            <p:cNvPr id="31" name="TextBox 31"/>
            <p:cNvSpPr txBox="1"/>
            <p:nvPr/>
          </p:nvSpPr>
          <p:spPr>
            <a:xfrm>
              <a:off x="7036118" y="1971199"/>
              <a:ext cx="3275171" cy="198120"/>
            </a:xfrm>
            <a:prstGeom prst="rect">
              <a:avLst/>
            </a:prstGeom>
            <a:noFill/>
            <a:ln>
              <a:noFill/>
            </a:ln>
          </p:spPr>
          <p:txBody>
            <a:bodyPr wrap="none" lIns="0" tIns="0" rIns="0" bIns="0" anchor="t" anchorCtr="0">
              <a:spAutoFit/>
            </a:bodyPr>
            <a:lstStyle/>
            <a:p>
              <a:pPr algn="l"/>
              <a:r>
                <a:rPr lang="zh-CN" sz="975" dirty="0">
                  <a:solidFill>
                    <a:srgbClr val="B2BEC3"/>
                  </a:solidFill>
                  <a:latin typeface="Arial"/>
                  <a:ea typeface="Microsoft YaHei"/>
                  <a:cs typeface="Arial"/>
                </a:rPr>
                <a:t>活跃度分布 · 推荐偏好 · 极端用户识别 · 购买—评论关系</a:t>
              </a:r>
            </a:p>
          </p:txBody>
        </p:sp>
      </p:grpSp>
      <p:grpSp>
        <p:nvGrpSpPr>
          <p:cNvPr id="47" name="Group 47"/>
          <p:cNvGrpSpPr/>
          <p:nvPr/>
        </p:nvGrpSpPr>
        <p:grpSpPr>
          <a:xfrm>
            <a:off x="571500" y="2619375"/>
            <a:ext cx="5334000" cy="1238250"/>
            <a:chOff x="571500" y="2619375"/>
            <a:chExt cx="5334000" cy="1238250"/>
          </a:xfrm>
        </p:grpSpPr>
        <p:sp>
          <p:nvSpPr>
            <p:cNvPr id="33" name="Rectangle 33"/>
            <p:cNvSpPr/>
            <p:nvPr/>
          </p:nvSpPr>
          <p:spPr>
            <a:xfrm>
              <a:off x="571500" y="2619375"/>
              <a:ext cx="5334000" cy="1238250"/>
            </a:xfrm>
            <a:prstGeom prst="roundRect">
              <a:avLst>
                <a:gd name="adj" fmla="val 6154"/>
              </a:avLst>
            </a:prstGeom>
            <a:solidFill>
              <a:srgbClr val="FFFFFF"/>
            </a:solidFill>
            <a:ln w="9525">
              <a:solidFill>
                <a:srgbClr val="DFE6E9"/>
              </a:solidFill>
            </a:ln>
          </p:spPr>
        </p:sp>
        <p:sp>
          <p:nvSpPr>
            <p:cNvPr id="34" name="Rectangle 34"/>
            <p:cNvSpPr/>
            <p:nvPr/>
          </p:nvSpPr>
          <p:spPr>
            <a:xfrm>
              <a:off x="571500" y="2619375"/>
              <a:ext cx="38100" cy="1238250"/>
            </a:xfrm>
            <a:prstGeom prst="roundRect">
              <a:avLst>
                <a:gd name="adj" fmla="val 50000"/>
              </a:avLst>
            </a:prstGeom>
            <a:solidFill>
              <a:srgbClr val="F18F01"/>
            </a:solidFill>
            <a:ln>
              <a:noFill/>
            </a:ln>
          </p:spPr>
        </p:sp>
        <p:grpSp>
          <p:nvGrpSpPr>
            <p:cNvPr id="41" name="Group 41"/>
            <p:cNvGrpSpPr/>
            <p:nvPr/>
          </p:nvGrpSpPr>
          <p:grpSpPr>
            <a:xfrm>
              <a:off x="881062" y="2928938"/>
              <a:ext cx="257176" cy="257174"/>
              <a:chOff x="881062" y="2928938"/>
              <a:chExt cx="257176" cy="257174"/>
            </a:xfrm>
          </p:grpSpPr>
          <p:sp>
            <p:nvSpPr>
              <p:cNvPr id="35" name="Freeform 35"/>
              <p:cNvSpPr/>
              <p:nvPr/>
            </p:nvSpPr>
            <p:spPr>
              <a:xfrm>
                <a:off x="1009650" y="3071812"/>
                <a:ext cx="100012" cy="114300"/>
              </a:xfrm>
              <a:custGeom>
                <a:avLst/>
                <a:gdLst/>
                <a:ahLst/>
                <a:cxnLst/>
                <a:rect l="l" t="t" r="r" b="b"/>
                <a:pathLst>
                  <a:path w="100012" h="114300">
                    <a:moveTo>
                      <a:pt x="50006" y="0"/>
                    </a:moveTo>
                    <a:cubicBezTo>
                      <a:pt x="22389" y="0"/>
                      <a:pt x="0" y="22389"/>
                      <a:pt x="0" y="50006"/>
                    </a:cubicBezTo>
                    <a:lnTo>
                      <a:pt x="0" y="64294"/>
                    </a:lnTo>
                    <a:cubicBezTo>
                      <a:pt x="0" y="91911"/>
                      <a:pt x="22389" y="114300"/>
                      <a:pt x="50006" y="114300"/>
                    </a:cubicBezTo>
                    <a:cubicBezTo>
                      <a:pt x="77624" y="114300"/>
                      <a:pt x="100012" y="91911"/>
                      <a:pt x="100012" y="64294"/>
                    </a:cubicBezTo>
                    <a:lnTo>
                      <a:pt x="100012" y="38576"/>
                    </a:lnTo>
                  </a:path>
                </a:pathLst>
              </a:custGeom>
              <a:noFill/>
              <a:ln w="19050">
                <a:solidFill>
                  <a:srgbClr val="F18F01"/>
                </a:solidFill>
              </a:ln>
            </p:spPr>
          </p:sp>
          <p:sp>
            <p:nvSpPr>
              <p:cNvPr id="36" name="Freeform 36"/>
              <p:cNvSpPr/>
              <p:nvPr/>
            </p:nvSpPr>
            <p:spPr>
              <a:xfrm>
                <a:off x="909638" y="3071812"/>
                <a:ext cx="100012" cy="114300"/>
              </a:xfrm>
              <a:custGeom>
                <a:avLst/>
                <a:gdLst/>
                <a:ahLst/>
                <a:cxnLst/>
                <a:rect l="l" t="t" r="r" b="b"/>
                <a:pathLst>
                  <a:path w="100012" h="114300">
                    <a:moveTo>
                      <a:pt x="50006" y="0"/>
                    </a:moveTo>
                    <a:cubicBezTo>
                      <a:pt x="77624" y="0"/>
                      <a:pt x="100012" y="22389"/>
                      <a:pt x="100012" y="50006"/>
                    </a:cubicBezTo>
                    <a:lnTo>
                      <a:pt x="100012" y="64294"/>
                    </a:lnTo>
                    <a:cubicBezTo>
                      <a:pt x="100012" y="91911"/>
                      <a:pt x="77624" y="114300"/>
                      <a:pt x="50006" y="114300"/>
                    </a:cubicBezTo>
                    <a:cubicBezTo>
                      <a:pt x="22389" y="114300"/>
                      <a:pt x="0" y="91911"/>
                      <a:pt x="0" y="64294"/>
                    </a:cubicBezTo>
                    <a:lnTo>
                      <a:pt x="0" y="38576"/>
                    </a:lnTo>
                  </a:path>
                </a:pathLst>
              </a:custGeom>
              <a:noFill/>
              <a:ln w="19050">
                <a:solidFill>
                  <a:srgbClr val="F18F01"/>
                </a:solidFill>
              </a:ln>
            </p:spPr>
          </p:sp>
          <p:sp>
            <p:nvSpPr>
              <p:cNvPr id="37" name="Freeform 37"/>
              <p:cNvSpPr/>
              <p:nvPr/>
            </p:nvSpPr>
            <p:spPr>
              <a:xfrm>
                <a:off x="1081088" y="3014662"/>
                <a:ext cx="57150" cy="100012"/>
              </a:xfrm>
              <a:custGeom>
                <a:avLst/>
                <a:gdLst/>
                <a:ahLst/>
                <a:cxnLst/>
                <a:rect l="l" t="t" r="r" b="b"/>
                <a:pathLst>
                  <a:path w="57150" h="100012">
                    <a:moveTo>
                      <a:pt x="7144" y="100012"/>
                    </a:moveTo>
                    <a:cubicBezTo>
                      <a:pt x="34761" y="100012"/>
                      <a:pt x="57150" y="77624"/>
                      <a:pt x="57150" y="50006"/>
                    </a:cubicBezTo>
                    <a:cubicBezTo>
                      <a:pt x="57150" y="22389"/>
                      <a:pt x="34761" y="0"/>
                      <a:pt x="7144" y="0"/>
                    </a:cubicBezTo>
                    <a:lnTo>
                      <a:pt x="0" y="0"/>
                    </a:lnTo>
                  </a:path>
                </a:pathLst>
              </a:custGeom>
              <a:noFill/>
              <a:ln w="19050">
                <a:solidFill>
                  <a:srgbClr val="F18F01"/>
                </a:solidFill>
              </a:ln>
            </p:spPr>
          </p:sp>
          <p:sp>
            <p:nvSpPr>
              <p:cNvPr id="38" name="Freeform 38"/>
              <p:cNvSpPr/>
              <p:nvPr/>
            </p:nvSpPr>
            <p:spPr>
              <a:xfrm>
                <a:off x="1009650" y="2928938"/>
                <a:ext cx="100012" cy="90011"/>
              </a:xfrm>
              <a:custGeom>
                <a:avLst/>
                <a:gdLst/>
                <a:ahLst/>
                <a:cxnLst/>
                <a:rect l="l" t="t" r="r" b="b"/>
                <a:pathLst>
                  <a:path w="100012" h="90011">
                    <a:moveTo>
                      <a:pt x="100012" y="90011"/>
                    </a:moveTo>
                    <a:lnTo>
                      <a:pt x="100012" y="50006"/>
                    </a:lnTo>
                    <a:cubicBezTo>
                      <a:pt x="100012" y="22389"/>
                      <a:pt x="77624" y="0"/>
                      <a:pt x="50006" y="0"/>
                    </a:cubicBezTo>
                    <a:cubicBezTo>
                      <a:pt x="22389" y="0"/>
                      <a:pt x="0" y="22389"/>
                      <a:pt x="0" y="50006"/>
                    </a:cubicBezTo>
                  </a:path>
                </a:pathLst>
              </a:custGeom>
              <a:noFill/>
              <a:ln w="19050">
                <a:solidFill>
                  <a:srgbClr val="F18F01"/>
                </a:solidFill>
              </a:ln>
            </p:spPr>
          </p:sp>
          <p:sp>
            <p:nvSpPr>
              <p:cNvPr id="39" name="Freeform 39"/>
              <p:cNvSpPr/>
              <p:nvPr/>
            </p:nvSpPr>
            <p:spPr>
              <a:xfrm>
                <a:off x="881062" y="3014662"/>
                <a:ext cx="57150" cy="100012"/>
              </a:xfrm>
              <a:custGeom>
                <a:avLst/>
                <a:gdLst/>
                <a:ahLst/>
                <a:cxnLst/>
                <a:rect l="l" t="t" r="r" b="b"/>
                <a:pathLst>
                  <a:path w="57150" h="100012">
                    <a:moveTo>
                      <a:pt x="50006" y="100012"/>
                    </a:moveTo>
                    <a:cubicBezTo>
                      <a:pt x="22389" y="100012"/>
                      <a:pt x="0" y="77624"/>
                      <a:pt x="0" y="50006"/>
                    </a:cubicBezTo>
                    <a:cubicBezTo>
                      <a:pt x="0" y="22389"/>
                      <a:pt x="22389" y="0"/>
                      <a:pt x="50006" y="0"/>
                    </a:cubicBezTo>
                    <a:lnTo>
                      <a:pt x="57150" y="0"/>
                    </a:lnTo>
                  </a:path>
                </a:pathLst>
              </a:custGeom>
              <a:noFill/>
              <a:ln w="19050">
                <a:solidFill>
                  <a:srgbClr val="F18F01"/>
                </a:solidFill>
              </a:ln>
            </p:spPr>
          </p:sp>
          <p:sp>
            <p:nvSpPr>
              <p:cNvPr id="40" name="Freeform 40"/>
              <p:cNvSpPr/>
              <p:nvPr/>
            </p:nvSpPr>
            <p:spPr>
              <a:xfrm>
                <a:off x="909638" y="2928938"/>
                <a:ext cx="100012" cy="192881"/>
              </a:xfrm>
              <a:custGeom>
                <a:avLst/>
                <a:gdLst/>
                <a:ahLst/>
                <a:cxnLst/>
                <a:rect l="l" t="t" r="r" b="b"/>
                <a:pathLst>
                  <a:path w="100012" h="192881">
                    <a:moveTo>
                      <a:pt x="0" y="90011"/>
                    </a:moveTo>
                    <a:lnTo>
                      <a:pt x="0" y="50006"/>
                    </a:lnTo>
                    <a:cubicBezTo>
                      <a:pt x="0" y="22389"/>
                      <a:pt x="22389" y="0"/>
                      <a:pt x="50006" y="0"/>
                    </a:cubicBezTo>
                    <a:cubicBezTo>
                      <a:pt x="77624" y="0"/>
                      <a:pt x="100012" y="22389"/>
                      <a:pt x="100012" y="50006"/>
                    </a:cubicBezTo>
                    <a:lnTo>
                      <a:pt x="100012" y="192881"/>
                    </a:lnTo>
                  </a:path>
                </a:pathLst>
              </a:custGeom>
              <a:noFill/>
              <a:ln w="19050">
                <a:solidFill>
                  <a:srgbClr val="F18F01"/>
                </a:solidFill>
              </a:ln>
            </p:spPr>
          </p:sp>
        </p:grpSp>
        <p:sp>
          <p:nvSpPr>
            <p:cNvPr id="42" name="Ellipse 42"/>
            <p:cNvSpPr/>
            <p:nvPr/>
          </p:nvSpPr>
          <p:spPr>
            <a:xfrm>
              <a:off x="4667250" y="2952750"/>
              <a:ext cx="571500" cy="571500"/>
            </a:xfrm>
            <a:prstGeom prst="ellipse">
              <a:avLst/>
            </a:prstGeom>
            <a:solidFill>
              <a:srgbClr val="F18F01">
                <a:alpha val="8000"/>
              </a:srgbClr>
            </a:solidFill>
            <a:ln>
              <a:noFill/>
            </a:ln>
          </p:spPr>
        </p:sp>
        <p:sp>
          <p:nvSpPr>
            <p:cNvPr id="43" name="TextBox 43"/>
            <p:cNvSpPr txBox="1"/>
            <p:nvPr/>
          </p:nvSpPr>
          <p:spPr>
            <a:xfrm>
              <a:off x="4797433" y="3133725"/>
              <a:ext cx="311134" cy="304800"/>
            </a:xfrm>
            <a:prstGeom prst="rect">
              <a:avLst/>
            </a:prstGeom>
            <a:noFill/>
            <a:ln>
              <a:noFill/>
            </a:ln>
          </p:spPr>
          <p:txBody>
            <a:bodyPr wrap="none" lIns="0" tIns="0" rIns="0" bIns="0" anchor="t" anchorCtr="0">
              <a:spAutoFit/>
            </a:bodyPr>
            <a:lstStyle/>
            <a:p>
              <a:pPr algn="ctr"/>
              <a:r>
                <a:rPr lang="zh-CN" sz="1500" b="1" dirty="0">
                  <a:solidFill>
                    <a:srgbClr val="F18F01"/>
                  </a:solidFill>
                  <a:latin typeface="Arial"/>
                  <a:ea typeface="Microsoft YaHei"/>
                  <a:cs typeface="Arial"/>
                </a:rPr>
                <a:t>Q3</a:t>
              </a:r>
            </a:p>
          </p:txBody>
        </p:sp>
        <p:sp>
          <p:nvSpPr>
            <p:cNvPr id="44" name="TextBox 44"/>
            <p:cNvSpPr txBox="1"/>
            <p:nvPr/>
          </p:nvSpPr>
          <p:spPr>
            <a:xfrm>
              <a:off x="1316355" y="2930842"/>
              <a:ext cx="1168432" cy="274320"/>
            </a:xfrm>
            <a:prstGeom prst="rect">
              <a:avLst/>
            </a:prstGeom>
            <a:noFill/>
            <a:ln>
              <a:noFill/>
            </a:ln>
          </p:spPr>
          <p:txBody>
            <a:bodyPr wrap="none" lIns="0" tIns="0" rIns="0" bIns="0" anchor="t" anchorCtr="0">
              <a:spAutoFit/>
            </a:bodyPr>
            <a:lstStyle/>
            <a:p>
              <a:pPr algn="l"/>
              <a:r>
                <a:rPr lang="zh-CN" sz="1350" b="1" dirty="0">
                  <a:solidFill>
                    <a:srgbClr val="2D3436"/>
                  </a:solidFill>
                  <a:latin typeface="Arial"/>
                  <a:ea typeface="Microsoft YaHei"/>
                  <a:cs typeface="Arial"/>
                </a:rPr>
                <a:t>推荐预测建模</a:t>
              </a:r>
            </a:p>
          </p:txBody>
        </p:sp>
        <p:sp>
          <p:nvSpPr>
            <p:cNvPr id="45" name="TextBox 45"/>
            <p:cNvSpPr txBox="1"/>
            <p:nvPr/>
          </p:nvSpPr>
          <p:spPr>
            <a:xfrm>
              <a:off x="1320165" y="3210878"/>
              <a:ext cx="2546985"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能否基于用户和游戏特征预测推荐行为？</a:t>
              </a:r>
            </a:p>
          </p:txBody>
        </p:sp>
        <p:sp>
          <p:nvSpPr>
            <p:cNvPr id="46" name="TextBox 46"/>
            <p:cNvSpPr txBox="1"/>
            <p:nvPr/>
          </p:nvSpPr>
          <p:spPr>
            <a:xfrm>
              <a:off x="1321118" y="3447574"/>
              <a:ext cx="3990261" cy="198120"/>
            </a:xfrm>
            <a:prstGeom prst="rect">
              <a:avLst/>
            </a:prstGeom>
            <a:noFill/>
            <a:ln>
              <a:noFill/>
            </a:ln>
          </p:spPr>
          <p:txBody>
            <a:bodyPr wrap="none" lIns="0" tIns="0" rIns="0" bIns="0" anchor="t" anchorCtr="0">
              <a:spAutoFit/>
            </a:bodyPr>
            <a:lstStyle/>
            <a:p>
              <a:pPr algn="l"/>
              <a:r>
                <a:rPr lang="zh-CN" sz="975" dirty="0">
                  <a:solidFill>
                    <a:srgbClr val="B2BEC3"/>
                  </a:solidFill>
                  <a:latin typeface="Arial"/>
                  <a:ea typeface="Microsoft YaHei"/>
                  <a:cs typeface="Arial"/>
                </a:rPr>
                <a:t>GroupShuffleSplit · 基线模型 · LR vs RF vs XGBoost · 超参数优化</a:t>
              </a:r>
            </a:p>
          </p:txBody>
        </p:sp>
      </p:grpSp>
      <p:grpSp>
        <p:nvGrpSpPr>
          <p:cNvPr id="58" name="Group 58"/>
          <p:cNvGrpSpPr/>
          <p:nvPr/>
        </p:nvGrpSpPr>
        <p:grpSpPr>
          <a:xfrm>
            <a:off x="6286500" y="2619375"/>
            <a:ext cx="5334000" cy="1238250"/>
            <a:chOff x="6286500" y="2619375"/>
            <a:chExt cx="5334000" cy="1238250"/>
          </a:xfrm>
        </p:grpSpPr>
        <p:sp>
          <p:nvSpPr>
            <p:cNvPr id="48" name="Rectangle 48"/>
            <p:cNvSpPr/>
            <p:nvPr/>
          </p:nvSpPr>
          <p:spPr>
            <a:xfrm>
              <a:off x="6286500" y="2619375"/>
              <a:ext cx="5334000" cy="1238250"/>
            </a:xfrm>
            <a:prstGeom prst="roundRect">
              <a:avLst>
                <a:gd name="adj" fmla="val 6154"/>
              </a:avLst>
            </a:prstGeom>
            <a:solidFill>
              <a:srgbClr val="FFFFFF"/>
            </a:solidFill>
            <a:ln w="9525">
              <a:solidFill>
                <a:srgbClr val="DFE6E9"/>
              </a:solidFill>
            </a:ln>
          </p:spPr>
        </p:sp>
        <p:sp>
          <p:nvSpPr>
            <p:cNvPr id="49" name="Rectangle 49"/>
            <p:cNvSpPr/>
            <p:nvPr/>
          </p:nvSpPr>
          <p:spPr>
            <a:xfrm>
              <a:off x="6286500" y="2619375"/>
              <a:ext cx="38100" cy="1238250"/>
            </a:xfrm>
            <a:prstGeom prst="roundRect">
              <a:avLst>
                <a:gd name="adj" fmla="val 50000"/>
              </a:avLst>
            </a:prstGeom>
            <a:solidFill>
              <a:srgbClr val="27AE60"/>
            </a:solidFill>
            <a:ln>
              <a:noFill/>
            </a:ln>
          </p:spPr>
        </p:sp>
        <p:grpSp>
          <p:nvGrpSpPr>
            <p:cNvPr id="52" name="Group 52"/>
            <p:cNvGrpSpPr/>
            <p:nvPr/>
          </p:nvGrpSpPr>
          <p:grpSpPr>
            <a:xfrm>
              <a:off x="6596062" y="2928938"/>
              <a:ext cx="257175" cy="257175"/>
              <a:chOff x="6596062" y="2928938"/>
              <a:chExt cx="257175" cy="257175"/>
            </a:xfrm>
          </p:grpSpPr>
          <p:sp>
            <p:nvSpPr>
              <p:cNvPr id="50" name="Freeform 50"/>
              <p:cNvSpPr/>
              <p:nvPr/>
            </p:nvSpPr>
            <p:spPr>
              <a:xfrm>
                <a:off x="6596062" y="29289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27AE60"/>
                </a:solidFill>
              </a:ln>
            </p:spPr>
          </p:sp>
          <p:sp>
            <p:nvSpPr>
              <p:cNvPr id="51" name="Freeform 51"/>
              <p:cNvSpPr/>
              <p:nvPr/>
            </p:nvSpPr>
            <p:spPr>
              <a:xfrm>
                <a:off x="6767512" y="3100388"/>
                <a:ext cx="85725" cy="85725"/>
              </a:xfrm>
              <a:custGeom>
                <a:avLst/>
                <a:gdLst/>
                <a:ahLst/>
                <a:cxnLst/>
                <a:rect l="l" t="t" r="r" b="b"/>
                <a:pathLst>
                  <a:path w="85725" h="85725">
                    <a:moveTo>
                      <a:pt x="85725" y="85725"/>
                    </a:moveTo>
                    <a:lnTo>
                      <a:pt x="0" y="0"/>
                    </a:lnTo>
                  </a:path>
                </a:pathLst>
              </a:custGeom>
              <a:noFill/>
              <a:ln w="19050">
                <a:solidFill>
                  <a:srgbClr val="27AE60"/>
                </a:solidFill>
              </a:ln>
            </p:spPr>
          </p:sp>
        </p:grpSp>
        <p:sp>
          <p:nvSpPr>
            <p:cNvPr id="53" name="Ellipse 53"/>
            <p:cNvSpPr/>
            <p:nvPr/>
          </p:nvSpPr>
          <p:spPr>
            <a:xfrm>
              <a:off x="10382250" y="2952750"/>
              <a:ext cx="571500" cy="571500"/>
            </a:xfrm>
            <a:prstGeom prst="ellipse">
              <a:avLst/>
            </a:prstGeom>
            <a:solidFill>
              <a:srgbClr val="27AE60">
                <a:alpha val="8000"/>
              </a:srgbClr>
            </a:solidFill>
            <a:ln>
              <a:noFill/>
            </a:ln>
          </p:spPr>
        </p:sp>
        <p:sp>
          <p:nvSpPr>
            <p:cNvPr id="54" name="TextBox 54"/>
            <p:cNvSpPr txBox="1"/>
            <p:nvPr/>
          </p:nvSpPr>
          <p:spPr>
            <a:xfrm>
              <a:off x="10512433" y="3133725"/>
              <a:ext cx="311134" cy="304800"/>
            </a:xfrm>
            <a:prstGeom prst="rect">
              <a:avLst/>
            </a:prstGeom>
            <a:noFill/>
            <a:ln>
              <a:noFill/>
            </a:ln>
          </p:spPr>
          <p:txBody>
            <a:bodyPr wrap="none" lIns="0" tIns="0" rIns="0" bIns="0" anchor="t" anchorCtr="0">
              <a:spAutoFit/>
            </a:bodyPr>
            <a:lstStyle/>
            <a:p>
              <a:pPr algn="ctr"/>
              <a:r>
                <a:rPr lang="zh-CN" sz="1500" b="1" dirty="0">
                  <a:solidFill>
                    <a:srgbClr val="27AE60"/>
                  </a:solidFill>
                  <a:latin typeface="Arial"/>
                  <a:ea typeface="Microsoft YaHei"/>
                  <a:cs typeface="Arial"/>
                </a:rPr>
                <a:t>Q4</a:t>
              </a:r>
            </a:p>
          </p:txBody>
        </p:sp>
        <p:sp>
          <p:nvSpPr>
            <p:cNvPr id="55" name="TextBox 55"/>
            <p:cNvSpPr txBox="1"/>
            <p:nvPr/>
          </p:nvSpPr>
          <p:spPr>
            <a:xfrm>
              <a:off x="7031355" y="2930842"/>
              <a:ext cx="1168432" cy="274320"/>
            </a:xfrm>
            <a:prstGeom prst="rect">
              <a:avLst/>
            </a:prstGeom>
            <a:noFill/>
            <a:ln>
              <a:noFill/>
            </a:ln>
          </p:spPr>
          <p:txBody>
            <a:bodyPr wrap="none" lIns="0" tIns="0" rIns="0" bIns="0" anchor="t" anchorCtr="0">
              <a:spAutoFit/>
            </a:bodyPr>
            <a:lstStyle/>
            <a:p>
              <a:pPr algn="l"/>
              <a:r>
                <a:rPr lang="zh-CN" sz="1350" b="1" dirty="0">
                  <a:solidFill>
                    <a:srgbClr val="2D3436"/>
                  </a:solidFill>
                  <a:latin typeface="Arial"/>
                  <a:ea typeface="Microsoft YaHei"/>
                  <a:cs typeface="Arial"/>
                </a:rPr>
                <a:t>特征驱动因素</a:t>
              </a:r>
            </a:p>
          </p:txBody>
        </p:sp>
        <p:sp>
          <p:nvSpPr>
            <p:cNvPr id="56" name="TextBox 56"/>
            <p:cNvSpPr txBox="1"/>
            <p:nvPr/>
          </p:nvSpPr>
          <p:spPr>
            <a:xfrm>
              <a:off x="7035165" y="3210878"/>
              <a:ext cx="1566863"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什么因素驱动用户推荐？</a:t>
              </a:r>
            </a:p>
          </p:txBody>
        </p:sp>
        <p:sp>
          <p:nvSpPr>
            <p:cNvPr id="57" name="TextBox 57"/>
            <p:cNvSpPr txBox="1"/>
            <p:nvPr/>
          </p:nvSpPr>
          <p:spPr>
            <a:xfrm>
              <a:off x="7036118" y="3447574"/>
              <a:ext cx="3340179" cy="198120"/>
            </a:xfrm>
            <a:prstGeom prst="rect">
              <a:avLst/>
            </a:prstGeom>
            <a:noFill/>
            <a:ln>
              <a:noFill/>
            </a:ln>
          </p:spPr>
          <p:txBody>
            <a:bodyPr wrap="none" lIns="0" tIns="0" rIns="0" bIns="0" anchor="t" anchorCtr="0">
              <a:spAutoFit/>
            </a:bodyPr>
            <a:lstStyle/>
            <a:p>
              <a:pPr algn="l"/>
              <a:r>
                <a:rPr lang="zh-CN" sz="975" dirty="0">
                  <a:solidFill>
                    <a:srgbClr val="B2BEC3"/>
                  </a:solidFill>
                  <a:latin typeface="Arial"/>
                  <a:ea typeface="Microsoft YaHei"/>
                  <a:cs typeface="Arial"/>
                </a:rPr>
                <a:t>特征重要性 · 部分依赖图 (PDP) · 交互效应 · 冷启动分析</a:t>
              </a:r>
            </a:p>
          </p:txBody>
        </p:sp>
      </p:grpSp>
      <p:grpSp>
        <p:nvGrpSpPr>
          <p:cNvPr id="62" name="Group 62"/>
          <p:cNvGrpSpPr/>
          <p:nvPr/>
        </p:nvGrpSpPr>
        <p:grpSpPr>
          <a:xfrm>
            <a:off x="571500" y="4191000"/>
            <a:ext cx="11049000" cy="857250"/>
            <a:chOff x="571500" y="4191000"/>
            <a:chExt cx="11049000" cy="857250"/>
          </a:xfrm>
        </p:grpSpPr>
        <p:sp>
          <p:nvSpPr>
            <p:cNvPr id="59" name="Rectangle 59"/>
            <p:cNvSpPr/>
            <p:nvPr/>
          </p:nvSpPr>
          <p:spPr>
            <a:xfrm>
              <a:off x="571500" y="4191000"/>
              <a:ext cx="11049000" cy="857250"/>
            </a:xfrm>
            <a:prstGeom prst="roundRect">
              <a:avLst>
                <a:gd name="adj" fmla="val 8889"/>
              </a:avLst>
            </a:prstGeom>
            <a:solidFill>
              <a:srgbClr val="1A3A5C">
                <a:alpha val="4000"/>
              </a:srgbClr>
            </a:solidFill>
            <a:ln>
              <a:noFill/>
            </a:ln>
          </p:spPr>
        </p:sp>
        <p:sp>
          <p:nvSpPr>
            <p:cNvPr id="60" name="TextBox 60"/>
            <p:cNvSpPr txBox="1"/>
            <p:nvPr/>
          </p:nvSpPr>
          <p:spPr>
            <a:xfrm>
              <a:off x="1127760" y="4394835"/>
              <a:ext cx="870585"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完整流水线</a:t>
              </a:r>
            </a:p>
          </p:txBody>
        </p:sp>
        <p:sp>
          <p:nvSpPr>
            <p:cNvPr id="61" name="TextBox 61"/>
            <p:cNvSpPr txBox="1"/>
            <p:nvPr/>
          </p:nvSpPr>
          <p:spPr>
            <a:xfrm>
              <a:off x="1129665" y="4649152"/>
              <a:ext cx="5466350"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背景分析 → 数据读取 → 清洗预处理 → EDA → 可视化 → 特征工程 → 建模优化 → 评估 → 结论</a:t>
              </a:r>
            </a:p>
          </p:txBody>
        </p:sp>
      </p:grpSp>
      <p:grpSp>
        <p:nvGrpSpPr>
          <p:cNvPr id="72" name="Group 72"/>
          <p:cNvGrpSpPr/>
          <p:nvPr/>
        </p:nvGrpSpPr>
        <p:grpSpPr>
          <a:xfrm>
            <a:off x="571500" y="5334000"/>
            <a:ext cx="11049000" cy="952500"/>
            <a:chOff x="571500" y="5334000"/>
            <a:chExt cx="11049000" cy="952500"/>
          </a:xfrm>
        </p:grpSpPr>
        <p:sp>
          <p:nvSpPr>
            <p:cNvPr id="63" name="Rectangle 63"/>
            <p:cNvSpPr/>
            <p:nvPr/>
          </p:nvSpPr>
          <p:spPr>
            <a:xfrm>
              <a:off x="571500" y="5334000"/>
              <a:ext cx="3524250" cy="952500"/>
            </a:xfrm>
            <a:prstGeom prst="roundRect">
              <a:avLst>
                <a:gd name="adj" fmla="val 8000"/>
              </a:avLst>
            </a:prstGeom>
            <a:solidFill>
              <a:srgbClr val="FFFFFF"/>
            </a:solidFill>
            <a:ln w="9525">
              <a:solidFill>
                <a:srgbClr val="DFE6E9"/>
              </a:solidFill>
            </a:ln>
          </p:spPr>
        </p:sp>
        <p:sp>
          <p:nvSpPr>
            <p:cNvPr id="64" name="TextBox 64"/>
            <p:cNvSpPr txBox="1"/>
            <p:nvPr/>
          </p:nvSpPr>
          <p:spPr>
            <a:xfrm>
              <a:off x="1846778" y="5545931"/>
              <a:ext cx="973693"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数据泄漏防护</a:t>
              </a:r>
            </a:p>
          </p:txBody>
        </p:sp>
        <p:sp>
          <p:nvSpPr>
            <p:cNvPr id="65" name="TextBox 65"/>
            <p:cNvSpPr txBox="1"/>
            <p:nvPr/>
          </p:nvSpPr>
          <p:spPr>
            <a:xfrm>
              <a:off x="1186851" y="5800249"/>
              <a:ext cx="2293549"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GroupShuffleSplit (groups=user_id)</a:t>
              </a:r>
            </a:p>
          </p:txBody>
        </p:sp>
        <p:sp>
          <p:nvSpPr>
            <p:cNvPr id="66" name="Rectangle 66"/>
            <p:cNvSpPr/>
            <p:nvPr/>
          </p:nvSpPr>
          <p:spPr>
            <a:xfrm>
              <a:off x="4333875" y="5334000"/>
              <a:ext cx="3524250" cy="952500"/>
            </a:xfrm>
            <a:prstGeom prst="roundRect">
              <a:avLst>
                <a:gd name="adj" fmla="val 8000"/>
              </a:avLst>
            </a:prstGeom>
            <a:solidFill>
              <a:srgbClr val="FFFFFF"/>
            </a:solidFill>
            <a:ln w="9525">
              <a:solidFill>
                <a:srgbClr val="DFE6E9"/>
              </a:solidFill>
            </a:ln>
          </p:spPr>
        </p:sp>
        <p:sp>
          <p:nvSpPr>
            <p:cNvPr id="67" name="TextBox 67"/>
            <p:cNvSpPr txBox="1"/>
            <p:nvPr/>
          </p:nvSpPr>
          <p:spPr>
            <a:xfrm>
              <a:off x="5530394" y="5545931"/>
              <a:ext cx="1131213" cy="228600"/>
            </a:xfrm>
            <a:prstGeom prst="rect">
              <a:avLst/>
            </a:prstGeom>
            <a:noFill/>
            <a:ln>
              <a:noFill/>
            </a:ln>
          </p:spPr>
          <p:txBody>
            <a:bodyPr wrap="none" lIns="0" tIns="0" rIns="0" bIns="0" anchor="t" anchorCtr="0">
              <a:spAutoFit/>
            </a:bodyPr>
            <a:lstStyle/>
            <a:p>
              <a:pPr algn="ctr"/>
              <a:r>
                <a:rPr lang="zh-CN" sz="1125" b="1" dirty="0">
                  <a:solidFill>
                    <a:srgbClr val="2E86AB"/>
                  </a:solidFill>
                  <a:latin typeface="Arial"/>
                  <a:ea typeface="Microsoft YaHei"/>
                  <a:cs typeface="Arial"/>
                </a:rPr>
                <a:t>类别不平衡处理</a:t>
              </a:r>
            </a:p>
          </p:txBody>
        </p:sp>
        <p:sp>
          <p:nvSpPr>
            <p:cNvPr id="68" name="TextBox 68"/>
            <p:cNvSpPr txBox="1"/>
            <p:nvPr/>
          </p:nvSpPr>
          <p:spPr>
            <a:xfrm>
              <a:off x="4809458" y="5800249"/>
              <a:ext cx="2573084"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class_weight='balanced' + ROC-AUC 评估</a:t>
              </a:r>
            </a:p>
          </p:txBody>
        </p:sp>
        <p:sp>
          <p:nvSpPr>
            <p:cNvPr id="69" name="Rectangle 69"/>
            <p:cNvSpPr/>
            <p:nvPr/>
          </p:nvSpPr>
          <p:spPr>
            <a:xfrm>
              <a:off x="8096250" y="5334000"/>
              <a:ext cx="3524250" cy="952500"/>
            </a:xfrm>
            <a:prstGeom prst="roundRect">
              <a:avLst>
                <a:gd name="adj" fmla="val 8000"/>
              </a:avLst>
            </a:prstGeom>
            <a:solidFill>
              <a:srgbClr val="FFFFFF"/>
            </a:solidFill>
            <a:ln w="9525">
              <a:solidFill>
                <a:srgbClr val="DFE6E9"/>
              </a:solidFill>
            </a:ln>
          </p:spPr>
        </p:sp>
        <p:sp>
          <p:nvSpPr>
            <p:cNvPr id="70" name="TextBox 70"/>
            <p:cNvSpPr txBox="1"/>
            <p:nvPr/>
          </p:nvSpPr>
          <p:spPr>
            <a:xfrm>
              <a:off x="9375466" y="5545931"/>
              <a:ext cx="965817" cy="228600"/>
            </a:xfrm>
            <a:prstGeom prst="rect">
              <a:avLst/>
            </a:prstGeom>
            <a:noFill/>
            <a:ln>
              <a:noFill/>
            </a:ln>
          </p:spPr>
          <p:txBody>
            <a:bodyPr wrap="none" lIns="0" tIns="0" rIns="0" bIns="0" anchor="t" anchorCtr="0">
              <a:spAutoFit/>
            </a:bodyPr>
            <a:lstStyle/>
            <a:p>
              <a:pPr algn="ctr"/>
              <a:r>
                <a:rPr lang="zh-CN" sz="1125" b="1" dirty="0">
                  <a:solidFill>
                    <a:srgbClr val="F18F01"/>
                  </a:solidFill>
                  <a:latin typeface="Arial"/>
                  <a:ea typeface="Microsoft YaHei"/>
                  <a:cs typeface="Arial"/>
                </a:rPr>
                <a:t>TDD 质量保障</a:t>
              </a:r>
            </a:p>
          </p:txBody>
        </p:sp>
        <p:sp>
          <p:nvSpPr>
            <p:cNvPr id="71" name="TextBox 71"/>
            <p:cNvSpPr txBox="1"/>
            <p:nvPr/>
          </p:nvSpPr>
          <p:spPr>
            <a:xfrm>
              <a:off x="8974884" y="5800249"/>
              <a:ext cx="1766983" cy="198120"/>
            </a:xfrm>
            <a:prstGeom prst="rect">
              <a:avLst/>
            </a:prstGeom>
            <a:noFill/>
            <a:ln>
              <a:noFill/>
            </a:ln>
          </p:spPr>
          <p:txBody>
            <a:bodyPr wrap="none" lIns="0" tIns="0" rIns="0" bIns="0" anchor="t" anchorCtr="0">
              <a:spAutoFit/>
            </a:bodyPr>
            <a:lstStyle/>
            <a:p>
              <a:pPr algn="ctr"/>
              <a:r>
                <a:rPr lang="zh-CN" sz="975" dirty="0">
                  <a:solidFill>
                    <a:srgbClr val="636E72"/>
                  </a:solidFill>
                  <a:latin typeface="Arial"/>
                  <a:ea typeface="Microsoft YaHei"/>
                  <a:cs typeface="Arial"/>
                </a:rPr>
                <a:t>88 个测试用例，先测试后实现</a:t>
              </a:r>
            </a:p>
          </p:txBody>
        </p:sp>
      </p:grpSp>
      <p:sp>
        <p:nvSpPr>
          <p:cNvPr id="73" name="TextBox 73"/>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slide(fromBottom)">
                                      <p:cBhvr>
                                        <p:cTn id="11" dur="400"/>
                                        <p:tgtEl>
                                          <p:spTgt spid="3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slide(fromBottom)">
                                      <p:cBhvr>
                                        <p:cTn id="19" dur="400"/>
                                        <p:tgtEl>
                                          <p:spTgt spid="5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image">
                                      <p:cBhvr>
                                        <p:cTn id="23" dur="400"/>
                                        <p:tgtEl>
                                          <p:spTgt spid="62"/>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P spid="47" grpId="0"/>
      <p:bldP spid="58" grpId="0"/>
      <p:bldP spid="62" grpId="0"/>
      <p:bldP spid="7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328612"/>
            <a:ext cx="3263217" cy="552450"/>
            <a:chOff x="571500" y="328612"/>
            <a:chExt cx="3263217" cy="552450"/>
          </a:xfrm>
        </p:grpSpPr>
        <p:sp>
          <p:nvSpPr>
            <p:cNvPr id="3" name="Rectangle 3"/>
            <p:cNvSpPr/>
            <p:nvPr/>
          </p:nvSpPr>
          <p:spPr>
            <a:xfrm>
              <a:off x="571500" y="381000"/>
              <a:ext cx="38100" cy="45720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3425" y="328612"/>
              <a:ext cx="2262426" cy="457200"/>
            </a:xfrm>
            <a:prstGeom prst="rect">
              <a:avLst/>
            </a:prstGeom>
            <a:noFill/>
            <a:ln>
              <a:noFill/>
            </a:ln>
          </p:spPr>
          <p:txBody>
            <a:bodyPr wrap="none" lIns="0" tIns="0" rIns="0" bIns="0" anchor="t" anchorCtr="0">
              <a:spAutoFit/>
            </a:bodyPr>
            <a:lstStyle/>
            <a:p>
              <a:pPr algn="l"/>
              <a:r>
                <a:rPr lang="zh-CN" sz="2250" b="1" dirty="0">
                  <a:solidFill>
                    <a:srgbClr val="2D3436"/>
                  </a:solidFill>
                  <a:latin typeface="Arial"/>
                  <a:ea typeface="Microsoft YaHei"/>
                  <a:cs typeface="Arial"/>
                </a:rPr>
                <a:t>数据科学流水线</a:t>
              </a:r>
            </a:p>
          </p:txBody>
        </p:sp>
        <p:sp>
          <p:nvSpPr>
            <p:cNvPr id="5" name="TextBox 5"/>
            <p:cNvSpPr txBox="1"/>
            <p:nvPr/>
          </p:nvSpPr>
          <p:spPr>
            <a:xfrm>
              <a:off x="748665" y="667702"/>
              <a:ext cx="3086052" cy="213360"/>
            </a:xfrm>
            <a:prstGeom prst="rect">
              <a:avLst/>
            </a:prstGeom>
            <a:noFill/>
            <a:ln>
              <a:noFill/>
            </a:ln>
          </p:spPr>
          <p:txBody>
            <a:bodyPr wrap="none" lIns="0" tIns="0" rIns="0" bIns="0" anchor="t" anchorCtr="0">
              <a:spAutoFit/>
            </a:bodyPr>
            <a:lstStyle/>
            <a:p>
              <a:pPr algn="l"/>
              <a:r>
                <a:rPr lang="zh-CN" sz="1050" dirty="0">
                  <a:solidFill>
                    <a:srgbClr val="636E72"/>
                  </a:solidFill>
                  <a:latin typeface="Arial"/>
                  <a:ea typeface="Microsoft YaHei"/>
                  <a:cs typeface="Arial"/>
                </a:rPr>
                <a:t>8 阶段标准化流程，从原始数据到可落地业务结论</a:t>
              </a:r>
            </a:p>
          </p:txBody>
        </p:sp>
      </p:grpSp>
      <p:grpSp>
        <p:nvGrpSpPr>
          <p:cNvPr id="66" name="Group 66"/>
          <p:cNvGrpSpPr/>
          <p:nvPr/>
        </p:nvGrpSpPr>
        <p:grpSpPr>
          <a:xfrm>
            <a:off x="571500" y="1190625"/>
            <a:ext cx="10668000" cy="2428875"/>
            <a:chOff x="571500" y="1190625"/>
            <a:chExt cx="10668000" cy="2428875"/>
          </a:xfrm>
        </p:grpSpPr>
        <p:sp>
          <p:nvSpPr>
            <p:cNvPr id="7" name="Ellipse 7"/>
            <p:cNvSpPr/>
            <p:nvPr/>
          </p:nvSpPr>
          <p:spPr>
            <a:xfrm>
              <a:off x="1047750" y="1190625"/>
              <a:ext cx="571500" cy="571500"/>
            </a:xfrm>
            <a:prstGeom prst="ellipse">
              <a:avLst/>
            </a:prstGeom>
            <a:solidFill>
              <a:srgbClr val="1A3A5C"/>
            </a:solidFill>
            <a:ln>
              <a:noFill/>
            </a:ln>
          </p:spPr>
        </p:sp>
        <p:sp>
          <p:nvSpPr>
            <p:cNvPr id="8" name="TextBox 8"/>
            <p:cNvSpPr txBox="1"/>
            <p:nvPr/>
          </p:nvSpPr>
          <p:spPr>
            <a:xfrm>
              <a:off x="1288001" y="1387792"/>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Line 9"/>
            <p:cNvSpPr/>
            <p:nvPr/>
          </p:nvSpPr>
          <p:spPr>
            <a:xfrm>
              <a:off x="1619250" y="1476375"/>
              <a:ext cx="666750" cy="1"/>
            </a:xfrm>
            <a:prstGeom prst="line">
              <a:avLst/>
            </a:prstGeom>
            <a:noFill/>
            <a:ln w="19050">
              <a:solidFill>
                <a:srgbClr val="B2BEC3"/>
              </a:solidFill>
              <a:tailEnd type="triangle" w="lg" len="lg"/>
            </a:ln>
          </p:spPr>
        </p:sp>
        <p:grpSp>
          <p:nvGrpSpPr>
            <p:cNvPr id="18" name="Group 18"/>
            <p:cNvGrpSpPr/>
            <p:nvPr/>
          </p:nvGrpSpPr>
          <p:grpSpPr>
            <a:xfrm>
              <a:off x="571500" y="1905000"/>
              <a:ext cx="1524000" cy="1714500"/>
              <a:chOff x="571500" y="1905000"/>
              <a:chExt cx="1524000" cy="1714500"/>
            </a:xfrm>
          </p:grpSpPr>
          <p:sp>
            <p:nvSpPr>
              <p:cNvPr id="10" name="Rectangle 10"/>
              <p:cNvSpPr/>
              <p:nvPr/>
            </p:nvSpPr>
            <p:spPr>
              <a:xfrm>
                <a:off x="571500" y="1905000"/>
                <a:ext cx="1524000" cy="1714500"/>
              </a:xfrm>
              <a:prstGeom prst="roundRect">
                <a:avLst>
                  <a:gd name="adj" fmla="val 5000"/>
                </a:avLst>
              </a:prstGeom>
              <a:solidFill>
                <a:srgbClr val="FFFFFF"/>
              </a:solidFill>
              <a:ln w="9525">
                <a:solidFill>
                  <a:srgbClr val="DFE6E9"/>
                </a:solidFill>
              </a:ln>
            </p:spPr>
          </p:sp>
          <p:sp>
            <p:nvSpPr>
              <p:cNvPr id="11" name="Rectangle 11"/>
              <p:cNvSpPr/>
              <p:nvPr/>
            </p:nvSpPr>
            <p:spPr>
              <a:xfrm>
                <a:off x="571500" y="1905000"/>
                <a:ext cx="1524000" cy="38100"/>
              </a:xfrm>
              <a:prstGeom prst="roundRect">
                <a:avLst>
                  <a:gd name="adj" fmla="val 50000"/>
                </a:avLst>
              </a:prstGeom>
              <a:solidFill>
                <a:srgbClr val="1A3A5C"/>
              </a:solidFill>
              <a:ln>
                <a:noFill/>
              </a:ln>
            </p:spPr>
          </p:sp>
          <p:sp>
            <p:nvSpPr>
              <p:cNvPr id="12" name="TextBox 12"/>
              <p:cNvSpPr txBox="1"/>
              <p:nvPr/>
            </p:nvSpPr>
            <p:spPr>
              <a:xfrm>
                <a:off x="1004173" y="2069306"/>
                <a:ext cx="658654"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数据读取</a:t>
                </a:r>
              </a:p>
            </p:txBody>
          </p:sp>
          <p:sp>
            <p:nvSpPr>
              <p:cNvPr id="13" name="TextBox 13"/>
              <p:cNvSpPr txBox="1"/>
              <p:nvPr/>
            </p:nvSpPr>
            <p:spPr>
              <a:xfrm>
                <a:off x="750570" y="2360295"/>
                <a:ext cx="86296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kagglehub 下载</a:t>
                </a:r>
              </a:p>
            </p:txBody>
          </p:sp>
          <p:sp>
            <p:nvSpPr>
              <p:cNvPr id="14" name="TextBox 14"/>
              <p:cNvSpPr txBox="1"/>
              <p:nvPr/>
            </p:nvSpPr>
            <p:spPr>
              <a:xfrm>
                <a:off x="750570" y="2550795"/>
                <a:ext cx="988981"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3个CSV + 1个JSON</a:t>
                </a:r>
              </a:p>
            </p:txBody>
          </p:sp>
          <p:sp>
            <p:nvSpPr>
              <p:cNvPr id="15" name="TextBox 15"/>
              <p:cNvSpPr txBox="1"/>
              <p:nvPr/>
            </p:nvSpPr>
            <p:spPr>
              <a:xfrm>
                <a:off x="750570" y="2741295"/>
                <a:ext cx="112699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shape / info / head</a:t>
                </a:r>
              </a:p>
            </p:txBody>
          </p:sp>
          <p:sp>
            <p:nvSpPr>
              <p:cNvPr id="16" name="TextBox 16"/>
              <p:cNvSpPr txBox="1"/>
              <p:nvPr/>
            </p:nvSpPr>
            <p:spPr>
              <a:xfrm>
                <a:off x="750570" y="2931795"/>
                <a:ext cx="74295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初步数据认知</a:t>
                </a:r>
              </a:p>
            </p:txBody>
          </p:sp>
          <p:sp>
            <p:nvSpPr>
              <p:cNvPr id="17" name="TextBox 17"/>
              <p:cNvSpPr txBox="1"/>
              <p:nvPr/>
            </p:nvSpPr>
            <p:spPr>
              <a:xfrm>
                <a:off x="1184405" y="3339941"/>
                <a:ext cx="298190"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LOAD</a:t>
                </a:r>
              </a:p>
            </p:txBody>
          </p:sp>
        </p:grpSp>
        <p:sp>
          <p:nvSpPr>
            <p:cNvPr id="19" name="Ellipse 19"/>
            <p:cNvSpPr/>
            <p:nvPr/>
          </p:nvSpPr>
          <p:spPr>
            <a:xfrm>
              <a:off x="3333750" y="1190625"/>
              <a:ext cx="571500" cy="571500"/>
            </a:xfrm>
            <a:prstGeom prst="ellipse">
              <a:avLst/>
            </a:prstGeom>
            <a:solidFill>
              <a:srgbClr val="1A3A5C"/>
            </a:solidFill>
            <a:ln>
              <a:noFill/>
            </a:ln>
          </p:spPr>
        </p:sp>
        <p:sp>
          <p:nvSpPr>
            <p:cNvPr id="20" name="TextBox 20"/>
            <p:cNvSpPr txBox="1"/>
            <p:nvPr/>
          </p:nvSpPr>
          <p:spPr>
            <a:xfrm>
              <a:off x="3550374" y="1387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1" name="Line 21"/>
            <p:cNvSpPr/>
            <p:nvPr/>
          </p:nvSpPr>
          <p:spPr>
            <a:xfrm>
              <a:off x="3905250" y="1476375"/>
              <a:ext cx="666750" cy="1"/>
            </a:xfrm>
            <a:prstGeom prst="line">
              <a:avLst/>
            </a:prstGeom>
            <a:noFill/>
            <a:ln w="19050">
              <a:solidFill>
                <a:srgbClr val="B2BEC3"/>
              </a:solidFill>
              <a:tailEnd type="triangle" w="lg" len="lg"/>
            </a:ln>
          </p:spPr>
        </p:sp>
        <p:grpSp>
          <p:nvGrpSpPr>
            <p:cNvPr id="30" name="Group 30"/>
            <p:cNvGrpSpPr/>
            <p:nvPr/>
          </p:nvGrpSpPr>
          <p:grpSpPr>
            <a:xfrm>
              <a:off x="2857500" y="1905000"/>
              <a:ext cx="1524000" cy="1714500"/>
              <a:chOff x="2857500" y="1905000"/>
              <a:chExt cx="1524000" cy="1714500"/>
            </a:xfrm>
          </p:grpSpPr>
          <p:sp>
            <p:nvSpPr>
              <p:cNvPr id="22" name="Rectangle 22"/>
              <p:cNvSpPr/>
              <p:nvPr/>
            </p:nvSpPr>
            <p:spPr>
              <a:xfrm>
                <a:off x="2857500" y="1905000"/>
                <a:ext cx="1524000" cy="1714500"/>
              </a:xfrm>
              <a:prstGeom prst="roundRect">
                <a:avLst>
                  <a:gd name="adj" fmla="val 5000"/>
                </a:avLst>
              </a:prstGeom>
              <a:solidFill>
                <a:srgbClr val="FFFFFF"/>
              </a:solidFill>
              <a:ln w="9525">
                <a:solidFill>
                  <a:srgbClr val="DFE6E9"/>
                </a:solidFill>
              </a:ln>
            </p:spPr>
          </p:sp>
          <p:sp>
            <p:nvSpPr>
              <p:cNvPr id="23" name="Rectangle 23"/>
              <p:cNvSpPr/>
              <p:nvPr/>
            </p:nvSpPr>
            <p:spPr>
              <a:xfrm>
                <a:off x="2857500" y="1905000"/>
                <a:ext cx="1524000" cy="38100"/>
              </a:xfrm>
              <a:prstGeom prst="roundRect">
                <a:avLst>
                  <a:gd name="adj" fmla="val 50000"/>
                </a:avLst>
              </a:prstGeom>
              <a:solidFill>
                <a:srgbClr val="1A3A5C"/>
              </a:solidFill>
              <a:ln>
                <a:noFill/>
              </a:ln>
            </p:spPr>
          </p:sp>
          <p:sp>
            <p:nvSpPr>
              <p:cNvPr id="24" name="TextBox 24"/>
              <p:cNvSpPr txBox="1"/>
              <p:nvPr/>
            </p:nvSpPr>
            <p:spPr>
              <a:xfrm>
                <a:off x="3211413" y="2069306"/>
                <a:ext cx="816173"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清洗预处理</a:t>
                </a:r>
              </a:p>
            </p:txBody>
          </p:sp>
          <p:sp>
            <p:nvSpPr>
              <p:cNvPr id="25" name="TextBox 25"/>
              <p:cNvSpPr txBox="1"/>
              <p:nvPr/>
            </p:nvSpPr>
            <p:spPr>
              <a:xfrm>
                <a:off x="3036570" y="2360295"/>
                <a:ext cx="62293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缺失值处理</a:t>
                </a:r>
              </a:p>
            </p:txBody>
          </p:sp>
          <p:sp>
            <p:nvSpPr>
              <p:cNvPr id="26" name="TextBox 26"/>
              <p:cNvSpPr txBox="1"/>
              <p:nvPr/>
            </p:nvSpPr>
            <p:spPr>
              <a:xfrm>
                <a:off x="3036570" y="2550795"/>
                <a:ext cx="130102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类型转换 (date/price)</a:t>
                </a:r>
              </a:p>
            </p:txBody>
          </p:sp>
          <p:sp>
            <p:nvSpPr>
              <p:cNvPr id="27" name="TextBox 27"/>
              <p:cNvSpPr txBox="1"/>
              <p:nvPr/>
            </p:nvSpPr>
            <p:spPr>
              <a:xfrm>
                <a:off x="3036570" y="2741295"/>
                <a:ext cx="98298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异常值检测 (IQR)</a:t>
                </a:r>
              </a:p>
            </p:txBody>
          </p:sp>
          <p:sp>
            <p:nvSpPr>
              <p:cNvPr id="28" name="TextBox 28"/>
              <p:cNvSpPr txBox="1"/>
              <p:nvPr/>
            </p:nvSpPr>
            <p:spPr>
              <a:xfrm>
                <a:off x="3036570" y="2931795"/>
                <a:ext cx="119300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去重 + metadata合并</a:t>
                </a:r>
              </a:p>
            </p:txBody>
          </p:sp>
          <p:sp>
            <p:nvSpPr>
              <p:cNvPr id="29" name="TextBox 29"/>
              <p:cNvSpPr txBox="1"/>
              <p:nvPr/>
            </p:nvSpPr>
            <p:spPr>
              <a:xfrm>
                <a:off x="3450190" y="3339941"/>
                <a:ext cx="338620"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CLEAN</a:t>
                </a:r>
              </a:p>
            </p:txBody>
          </p:sp>
        </p:grpSp>
        <p:sp>
          <p:nvSpPr>
            <p:cNvPr id="31" name="Ellipse 31"/>
            <p:cNvSpPr/>
            <p:nvPr/>
          </p:nvSpPr>
          <p:spPr>
            <a:xfrm>
              <a:off x="5619750" y="1190625"/>
              <a:ext cx="571500" cy="571500"/>
            </a:xfrm>
            <a:prstGeom prst="ellipse">
              <a:avLst/>
            </a:prstGeom>
            <a:solidFill>
              <a:srgbClr val="2E86AB"/>
            </a:solidFill>
            <a:ln>
              <a:noFill/>
            </a:ln>
          </p:spPr>
        </p:sp>
        <p:sp>
          <p:nvSpPr>
            <p:cNvPr id="32" name="TextBox 32"/>
            <p:cNvSpPr txBox="1"/>
            <p:nvPr/>
          </p:nvSpPr>
          <p:spPr>
            <a:xfrm>
              <a:off x="5836374" y="1387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3" name="Line 33"/>
            <p:cNvSpPr/>
            <p:nvPr/>
          </p:nvSpPr>
          <p:spPr>
            <a:xfrm>
              <a:off x="6191250" y="1476375"/>
              <a:ext cx="666750" cy="1"/>
            </a:xfrm>
            <a:prstGeom prst="line">
              <a:avLst/>
            </a:prstGeom>
            <a:noFill/>
            <a:ln w="19050">
              <a:solidFill>
                <a:srgbClr val="B2BEC3"/>
              </a:solidFill>
              <a:tailEnd type="triangle" w="lg" len="lg"/>
            </a:ln>
          </p:spPr>
        </p:sp>
        <p:grpSp>
          <p:nvGrpSpPr>
            <p:cNvPr id="42" name="Group 42"/>
            <p:cNvGrpSpPr/>
            <p:nvPr/>
          </p:nvGrpSpPr>
          <p:grpSpPr>
            <a:xfrm>
              <a:off x="5143500" y="1905000"/>
              <a:ext cx="1524000" cy="1714500"/>
              <a:chOff x="5143500" y="1905000"/>
              <a:chExt cx="1524000" cy="1714500"/>
            </a:xfrm>
          </p:grpSpPr>
          <p:sp>
            <p:nvSpPr>
              <p:cNvPr id="34" name="Rectangle 34"/>
              <p:cNvSpPr/>
              <p:nvPr/>
            </p:nvSpPr>
            <p:spPr>
              <a:xfrm>
                <a:off x="5143500" y="1905000"/>
                <a:ext cx="1524000" cy="1714500"/>
              </a:xfrm>
              <a:prstGeom prst="roundRect">
                <a:avLst>
                  <a:gd name="adj" fmla="val 5000"/>
                </a:avLst>
              </a:prstGeom>
              <a:solidFill>
                <a:srgbClr val="FFFFFF"/>
              </a:solidFill>
              <a:ln w="9525">
                <a:solidFill>
                  <a:srgbClr val="DFE6E9"/>
                </a:solidFill>
              </a:ln>
            </p:spPr>
          </p:sp>
          <p:sp>
            <p:nvSpPr>
              <p:cNvPr id="35" name="Rectangle 35"/>
              <p:cNvSpPr/>
              <p:nvPr/>
            </p:nvSpPr>
            <p:spPr>
              <a:xfrm>
                <a:off x="5143500" y="1905000"/>
                <a:ext cx="1524000" cy="38100"/>
              </a:xfrm>
              <a:prstGeom prst="roundRect">
                <a:avLst>
                  <a:gd name="adj" fmla="val 50000"/>
                </a:avLst>
              </a:prstGeom>
              <a:solidFill>
                <a:srgbClr val="2E86AB"/>
              </a:solidFill>
              <a:ln>
                <a:noFill/>
              </a:ln>
            </p:spPr>
          </p:sp>
          <p:sp>
            <p:nvSpPr>
              <p:cNvPr id="36" name="TextBox 36"/>
              <p:cNvSpPr txBox="1"/>
              <p:nvPr/>
            </p:nvSpPr>
            <p:spPr>
              <a:xfrm>
                <a:off x="5761259" y="2069306"/>
                <a:ext cx="288482" cy="228600"/>
              </a:xfrm>
              <a:prstGeom prst="rect">
                <a:avLst/>
              </a:prstGeom>
              <a:noFill/>
              <a:ln>
                <a:noFill/>
              </a:ln>
            </p:spPr>
            <p:txBody>
              <a:bodyPr wrap="none" lIns="0" tIns="0" rIns="0" bIns="0" anchor="t" anchorCtr="0">
                <a:spAutoFit/>
              </a:bodyPr>
              <a:lstStyle/>
              <a:p>
                <a:pPr algn="ctr"/>
                <a:r>
                  <a:rPr lang="zh-CN" sz="1125" b="1" dirty="0">
                    <a:solidFill>
                      <a:srgbClr val="2E86AB"/>
                    </a:solidFill>
                    <a:latin typeface="Arial"/>
                    <a:ea typeface="Microsoft YaHei"/>
                    <a:cs typeface="Arial"/>
                  </a:rPr>
                  <a:t>EDA</a:t>
                </a:r>
              </a:p>
            </p:txBody>
          </p:sp>
          <p:sp>
            <p:nvSpPr>
              <p:cNvPr id="37" name="TextBox 37"/>
              <p:cNvSpPr txBox="1"/>
              <p:nvPr/>
            </p:nvSpPr>
            <p:spPr>
              <a:xfrm>
                <a:off x="5322570" y="2360295"/>
                <a:ext cx="62293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单变量分析</a:t>
                </a:r>
              </a:p>
            </p:txBody>
          </p:sp>
          <p:sp>
            <p:nvSpPr>
              <p:cNvPr id="38" name="TextBox 38"/>
              <p:cNvSpPr txBox="1"/>
              <p:nvPr/>
            </p:nvSpPr>
            <p:spPr>
              <a:xfrm>
                <a:off x="5322570" y="2550795"/>
                <a:ext cx="104898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双变量/多变量分析</a:t>
                </a:r>
              </a:p>
            </p:txBody>
          </p:sp>
          <p:sp>
            <p:nvSpPr>
              <p:cNvPr id="39" name="TextBox 39"/>
              <p:cNvSpPr txBox="1"/>
              <p:nvPr/>
            </p:nvSpPr>
            <p:spPr>
              <a:xfrm>
                <a:off x="5322570" y="2741295"/>
                <a:ext cx="74295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Gini 系数计算</a:t>
                </a:r>
              </a:p>
            </p:txBody>
          </p:sp>
          <p:sp>
            <p:nvSpPr>
              <p:cNvPr id="40" name="TextBox 40"/>
              <p:cNvSpPr txBox="1"/>
              <p:nvPr/>
            </p:nvSpPr>
            <p:spPr>
              <a:xfrm>
                <a:off x="5322570" y="2931795"/>
                <a:ext cx="74295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极端用户识别</a:t>
                </a:r>
              </a:p>
            </p:txBody>
          </p:sp>
          <p:sp>
            <p:nvSpPr>
              <p:cNvPr id="41" name="TextBox 41"/>
              <p:cNvSpPr txBox="1"/>
              <p:nvPr/>
            </p:nvSpPr>
            <p:spPr>
              <a:xfrm>
                <a:off x="5661106" y="3339941"/>
                <a:ext cx="488788"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EXPLORE</a:t>
                </a:r>
              </a:p>
            </p:txBody>
          </p:sp>
        </p:grpSp>
        <p:sp>
          <p:nvSpPr>
            <p:cNvPr id="43" name="Ellipse 43"/>
            <p:cNvSpPr/>
            <p:nvPr/>
          </p:nvSpPr>
          <p:spPr>
            <a:xfrm>
              <a:off x="7905750" y="1190625"/>
              <a:ext cx="571500" cy="571500"/>
            </a:xfrm>
            <a:prstGeom prst="ellipse">
              <a:avLst/>
            </a:prstGeom>
            <a:solidFill>
              <a:srgbClr val="2E86AB"/>
            </a:solidFill>
            <a:ln>
              <a:noFill/>
            </a:ln>
          </p:spPr>
        </p:sp>
        <p:sp>
          <p:nvSpPr>
            <p:cNvPr id="44" name="TextBox 44"/>
            <p:cNvSpPr txBox="1"/>
            <p:nvPr/>
          </p:nvSpPr>
          <p:spPr>
            <a:xfrm>
              <a:off x="8122374" y="1387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5" name="Line 45"/>
            <p:cNvSpPr/>
            <p:nvPr/>
          </p:nvSpPr>
          <p:spPr>
            <a:xfrm>
              <a:off x="8477250" y="1476375"/>
              <a:ext cx="666750" cy="1"/>
            </a:xfrm>
            <a:prstGeom prst="line">
              <a:avLst/>
            </a:prstGeom>
            <a:noFill/>
            <a:ln w="19050">
              <a:solidFill>
                <a:srgbClr val="B2BEC3"/>
              </a:solidFill>
              <a:tailEnd type="triangle" w="lg" len="lg"/>
            </a:ln>
          </p:spPr>
        </p:sp>
        <p:grpSp>
          <p:nvGrpSpPr>
            <p:cNvPr id="54" name="Group 54"/>
            <p:cNvGrpSpPr/>
            <p:nvPr/>
          </p:nvGrpSpPr>
          <p:grpSpPr>
            <a:xfrm>
              <a:off x="7429500" y="1905000"/>
              <a:ext cx="1524000" cy="1714500"/>
              <a:chOff x="7429500" y="1905000"/>
              <a:chExt cx="1524000" cy="1714500"/>
            </a:xfrm>
          </p:grpSpPr>
          <p:sp>
            <p:nvSpPr>
              <p:cNvPr id="46" name="Rectangle 46"/>
              <p:cNvSpPr/>
              <p:nvPr/>
            </p:nvSpPr>
            <p:spPr>
              <a:xfrm>
                <a:off x="7429500" y="1905000"/>
                <a:ext cx="1524000" cy="1714500"/>
              </a:xfrm>
              <a:prstGeom prst="roundRect">
                <a:avLst>
                  <a:gd name="adj" fmla="val 5000"/>
                </a:avLst>
              </a:prstGeom>
              <a:solidFill>
                <a:srgbClr val="FFFFFF"/>
              </a:solidFill>
              <a:ln w="9525">
                <a:solidFill>
                  <a:srgbClr val="DFE6E9"/>
                </a:solidFill>
              </a:ln>
            </p:spPr>
          </p:sp>
          <p:sp>
            <p:nvSpPr>
              <p:cNvPr id="47" name="Rectangle 47"/>
              <p:cNvSpPr/>
              <p:nvPr/>
            </p:nvSpPr>
            <p:spPr>
              <a:xfrm>
                <a:off x="7429500" y="1905000"/>
                <a:ext cx="1524000" cy="38100"/>
              </a:xfrm>
              <a:prstGeom prst="roundRect">
                <a:avLst>
                  <a:gd name="adj" fmla="val 50000"/>
                </a:avLst>
              </a:prstGeom>
              <a:solidFill>
                <a:srgbClr val="2E86AB"/>
              </a:solidFill>
              <a:ln>
                <a:noFill/>
              </a:ln>
            </p:spPr>
          </p:sp>
          <p:sp>
            <p:nvSpPr>
              <p:cNvPr id="48" name="TextBox 48"/>
              <p:cNvSpPr txBox="1"/>
              <p:nvPr/>
            </p:nvSpPr>
            <p:spPr>
              <a:xfrm>
                <a:off x="7940933" y="2069306"/>
                <a:ext cx="501134" cy="228600"/>
              </a:xfrm>
              <a:prstGeom prst="rect">
                <a:avLst/>
              </a:prstGeom>
              <a:noFill/>
              <a:ln>
                <a:noFill/>
              </a:ln>
            </p:spPr>
            <p:txBody>
              <a:bodyPr wrap="none" lIns="0" tIns="0" rIns="0" bIns="0" anchor="t" anchorCtr="0">
                <a:spAutoFit/>
              </a:bodyPr>
              <a:lstStyle/>
              <a:p>
                <a:pPr algn="ctr"/>
                <a:r>
                  <a:rPr lang="zh-CN" sz="1125" b="1" dirty="0">
                    <a:solidFill>
                      <a:srgbClr val="2E86AB"/>
                    </a:solidFill>
                    <a:latin typeface="Arial"/>
                    <a:ea typeface="Microsoft YaHei"/>
                    <a:cs typeface="Arial"/>
                  </a:rPr>
                  <a:t>可视化</a:t>
                </a:r>
              </a:p>
            </p:txBody>
          </p:sp>
          <p:sp>
            <p:nvSpPr>
              <p:cNvPr id="49" name="TextBox 49"/>
              <p:cNvSpPr txBox="1"/>
              <p:nvPr/>
            </p:nvSpPr>
            <p:spPr>
              <a:xfrm>
                <a:off x="7608570" y="2360295"/>
                <a:ext cx="75495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10张 EDA 图表</a:t>
                </a:r>
              </a:p>
            </p:txBody>
          </p:sp>
          <p:sp>
            <p:nvSpPr>
              <p:cNvPr id="50" name="TextBox 50"/>
              <p:cNvSpPr txBox="1"/>
              <p:nvPr/>
            </p:nvSpPr>
            <p:spPr>
              <a:xfrm>
                <a:off x="7608570" y="2550795"/>
                <a:ext cx="123501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直方图/条形图/折线图</a:t>
                </a:r>
              </a:p>
            </p:txBody>
          </p:sp>
          <p:sp>
            <p:nvSpPr>
              <p:cNvPr id="51" name="TextBox 51"/>
              <p:cNvSpPr txBox="1"/>
              <p:nvPr/>
            </p:nvSpPr>
            <p:spPr>
              <a:xfrm>
                <a:off x="7608570" y="2741295"/>
                <a:ext cx="80895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散点图/热力图</a:t>
                </a:r>
              </a:p>
            </p:txBody>
          </p:sp>
          <p:sp>
            <p:nvSpPr>
              <p:cNvPr id="52" name="TextBox 52"/>
              <p:cNvSpPr txBox="1"/>
              <p:nvPr/>
            </p:nvSpPr>
            <p:spPr>
              <a:xfrm>
                <a:off x="7608570" y="2931795"/>
                <a:ext cx="928973"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箱线图/长尾曲线</a:t>
                </a:r>
              </a:p>
            </p:txBody>
          </p:sp>
          <p:sp>
            <p:nvSpPr>
              <p:cNvPr id="53" name="TextBox 53"/>
              <p:cNvSpPr txBox="1"/>
              <p:nvPr/>
            </p:nvSpPr>
            <p:spPr>
              <a:xfrm>
                <a:off x="8100162" y="3339941"/>
                <a:ext cx="182675"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VIZ</a:t>
                </a:r>
              </a:p>
            </p:txBody>
          </p:sp>
        </p:grpSp>
        <p:sp>
          <p:nvSpPr>
            <p:cNvPr id="55" name="Ellipse 55"/>
            <p:cNvSpPr/>
            <p:nvPr/>
          </p:nvSpPr>
          <p:spPr>
            <a:xfrm>
              <a:off x="10191750" y="1190625"/>
              <a:ext cx="571500" cy="571500"/>
            </a:xfrm>
            <a:prstGeom prst="ellipse">
              <a:avLst/>
            </a:prstGeom>
            <a:solidFill>
              <a:srgbClr val="F18F01"/>
            </a:solidFill>
            <a:ln>
              <a:noFill/>
            </a:ln>
          </p:spPr>
        </p:sp>
        <p:sp>
          <p:nvSpPr>
            <p:cNvPr id="56" name="TextBox 56"/>
            <p:cNvSpPr txBox="1"/>
            <p:nvPr/>
          </p:nvSpPr>
          <p:spPr>
            <a:xfrm>
              <a:off x="10408374" y="13877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grpSp>
          <p:nvGrpSpPr>
            <p:cNvPr id="65" name="Group 65"/>
            <p:cNvGrpSpPr/>
            <p:nvPr/>
          </p:nvGrpSpPr>
          <p:grpSpPr>
            <a:xfrm>
              <a:off x="9715500" y="1905000"/>
              <a:ext cx="1524000" cy="1714500"/>
              <a:chOff x="9715500" y="1905000"/>
              <a:chExt cx="1524000" cy="1714500"/>
            </a:xfrm>
          </p:grpSpPr>
          <p:sp>
            <p:nvSpPr>
              <p:cNvPr id="57" name="Rectangle 57"/>
              <p:cNvSpPr/>
              <p:nvPr/>
            </p:nvSpPr>
            <p:spPr>
              <a:xfrm>
                <a:off x="9715500" y="1905000"/>
                <a:ext cx="1524000" cy="1714500"/>
              </a:xfrm>
              <a:prstGeom prst="roundRect">
                <a:avLst>
                  <a:gd name="adj" fmla="val 5000"/>
                </a:avLst>
              </a:prstGeom>
              <a:solidFill>
                <a:srgbClr val="FFFFFF"/>
              </a:solidFill>
              <a:ln w="14288">
                <a:solidFill>
                  <a:srgbClr val="F18F01"/>
                </a:solidFill>
              </a:ln>
            </p:spPr>
          </p:sp>
          <p:sp>
            <p:nvSpPr>
              <p:cNvPr id="58" name="Rectangle 58"/>
              <p:cNvSpPr/>
              <p:nvPr/>
            </p:nvSpPr>
            <p:spPr>
              <a:xfrm>
                <a:off x="9715500" y="1905000"/>
                <a:ext cx="1524000" cy="38100"/>
              </a:xfrm>
              <a:prstGeom prst="roundRect">
                <a:avLst>
                  <a:gd name="adj" fmla="val 50000"/>
                </a:avLst>
              </a:prstGeom>
              <a:solidFill>
                <a:srgbClr val="F18F01"/>
              </a:solidFill>
              <a:ln>
                <a:noFill/>
              </a:ln>
            </p:spPr>
          </p:sp>
          <p:sp>
            <p:nvSpPr>
              <p:cNvPr id="59" name="TextBox 59"/>
              <p:cNvSpPr txBox="1"/>
              <p:nvPr/>
            </p:nvSpPr>
            <p:spPr>
              <a:xfrm>
                <a:off x="10148173" y="2069306"/>
                <a:ext cx="658654" cy="228600"/>
              </a:xfrm>
              <a:prstGeom prst="rect">
                <a:avLst/>
              </a:prstGeom>
              <a:noFill/>
              <a:ln>
                <a:noFill/>
              </a:ln>
            </p:spPr>
            <p:txBody>
              <a:bodyPr wrap="none" lIns="0" tIns="0" rIns="0" bIns="0" anchor="t" anchorCtr="0">
                <a:spAutoFit/>
              </a:bodyPr>
              <a:lstStyle/>
              <a:p>
                <a:pPr algn="ctr"/>
                <a:r>
                  <a:rPr lang="zh-CN" sz="1125" b="1" dirty="0">
                    <a:solidFill>
                      <a:srgbClr val="F18F01"/>
                    </a:solidFill>
                    <a:latin typeface="Arial"/>
                    <a:ea typeface="Microsoft YaHei"/>
                    <a:cs typeface="Arial"/>
                  </a:rPr>
                  <a:t>特征工程</a:t>
                </a:r>
              </a:p>
            </p:txBody>
          </p:sp>
          <p:sp>
            <p:nvSpPr>
              <p:cNvPr id="60" name="TextBox 60"/>
              <p:cNvSpPr txBox="1"/>
              <p:nvPr/>
            </p:nvSpPr>
            <p:spPr>
              <a:xfrm>
                <a:off x="9894570" y="2360295"/>
                <a:ext cx="976979"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游戏侧特征 (5个)</a:t>
                </a:r>
              </a:p>
            </p:txBody>
          </p:sp>
          <p:sp>
            <p:nvSpPr>
              <p:cNvPr id="61" name="TextBox 61"/>
              <p:cNvSpPr txBox="1"/>
              <p:nvPr/>
            </p:nvSpPr>
            <p:spPr>
              <a:xfrm>
                <a:off x="9894570" y="2550795"/>
                <a:ext cx="976979"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用户侧特征 (3个)</a:t>
                </a:r>
              </a:p>
            </p:txBody>
          </p:sp>
          <p:sp>
            <p:nvSpPr>
              <p:cNvPr id="62" name="TextBox 62"/>
              <p:cNvSpPr txBox="1"/>
              <p:nvPr/>
            </p:nvSpPr>
            <p:spPr>
              <a:xfrm>
                <a:off x="9894570" y="2741295"/>
                <a:ext cx="856964"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交互特征 (4个)</a:t>
                </a:r>
              </a:p>
            </p:txBody>
          </p:sp>
          <p:sp>
            <p:nvSpPr>
              <p:cNvPr id="63" name="TextBox 63"/>
              <p:cNvSpPr txBox="1"/>
              <p:nvPr/>
            </p:nvSpPr>
            <p:spPr>
              <a:xfrm>
                <a:off x="9894570" y="2931795"/>
                <a:ext cx="116300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ColumnTransformer</a:t>
                </a:r>
              </a:p>
            </p:txBody>
          </p:sp>
          <p:sp>
            <p:nvSpPr>
              <p:cNvPr id="64" name="TextBox 64"/>
              <p:cNvSpPr txBox="1"/>
              <p:nvPr/>
            </p:nvSpPr>
            <p:spPr>
              <a:xfrm>
                <a:off x="10244657" y="3339941"/>
                <a:ext cx="465686"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FEATURE</a:t>
                </a:r>
              </a:p>
            </p:txBody>
          </p:sp>
        </p:grpSp>
      </p:grpSp>
      <p:grpSp>
        <p:nvGrpSpPr>
          <p:cNvPr id="106" name="Group 106"/>
          <p:cNvGrpSpPr/>
          <p:nvPr/>
        </p:nvGrpSpPr>
        <p:grpSpPr>
          <a:xfrm>
            <a:off x="571500" y="4095750"/>
            <a:ext cx="11049000" cy="2095500"/>
            <a:chOff x="571500" y="4095750"/>
            <a:chExt cx="11049000" cy="2095500"/>
          </a:xfrm>
        </p:grpSpPr>
        <p:sp>
          <p:nvSpPr>
            <p:cNvPr id="67" name="Ellipse 67"/>
            <p:cNvSpPr/>
            <p:nvPr/>
          </p:nvSpPr>
          <p:spPr>
            <a:xfrm>
              <a:off x="1828800" y="4114800"/>
              <a:ext cx="533400" cy="533400"/>
            </a:xfrm>
            <a:prstGeom prst="ellipse">
              <a:avLst/>
            </a:prstGeom>
            <a:solidFill>
              <a:srgbClr val="F18F01"/>
            </a:solidFill>
            <a:ln>
              <a:noFill/>
            </a:ln>
          </p:spPr>
        </p:sp>
        <p:sp>
          <p:nvSpPr>
            <p:cNvPr id="68" name="TextBox 68"/>
            <p:cNvSpPr txBox="1"/>
            <p:nvPr/>
          </p:nvSpPr>
          <p:spPr>
            <a:xfrm>
              <a:off x="2034054" y="43091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6</a:t>
              </a:r>
            </a:p>
          </p:txBody>
        </p:sp>
        <p:sp>
          <p:nvSpPr>
            <p:cNvPr id="69" name="Line 69"/>
            <p:cNvSpPr/>
            <p:nvPr/>
          </p:nvSpPr>
          <p:spPr>
            <a:xfrm>
              <a:off x="2362200" y="4381500"/>
              <a:ext cx="971550" cy="1"/>
            </a:xfrm>
            <a:prstGeom prst="line">
              <a:avLst/>
            </a:prstGeom>
            <a:noFill/>
            <a:ln w="19050">
              <a:solidFill>
                <a:srgbClr val="B2BEC3"/>
              </a:solidFill>
              <a:tailEnd type="triangle" w="lg" len="lg"/>
            </a:ln>
          </p:spPr>
        </p:sp>
        <p:grpSp>
          <p:nvGrpSpPr>
            <p:cNvPr id="77" name="Group 77"/>
            <p:cNvGrpSpPr/>
            <p:nvPr/>
          </p:nvGrpSpPr>
          <p:grpSpPr>
            <a:xfrm>
              <a:off x="571500" y="4762500"/>
              <a:ext cx="2095500" cy="1428750"/>
              <a:chOff x="571500" y="4762500"/>
              <a:chExt cx="2095500" cy="1428750"/>
            </a:xfrm>
          </p:grpSpPr>
          <p:sp>
            <p:nvSpPr>
              <p:cNvPr id="70" name="Rectangle 70"/>
              <p:cNvSpPr/>
              <p:nvPr/>
            </p:nvSpPr>
            <p:spPr>
              <a:xfrm>
                <a:off x="571500" y="4762500"/>
                <a:ext cx="2095500" cy="1428750"/>
              </a:xfrm>
              <a:prstGeom prst="roundRect">
                <a:avLst>
                  <a:gd name="adj" fmla="val 5333"/>
                </a:avLst>
              </a:prstGeom>
              <a:solidFill>
                <a:srgbClr val="FFFFFF"/>
              </a:solidFill>
              <a:ln w="9525">
                <a:solidFill>
                  <a:srgbClr val="DFE6E9"/>
                </a:solidFill>
              </a:ln>
            </p:spPr>
          </p:sp>
          <p:sp>
            <p:nvSpPr>
              <p:cNvPr id="71" name="Rectangle 71"/>
              <p:cNvSpPr/>
              <p:nvPr/>
            </p:nvSpPr>
            <p:spPr>
              <a:xfrm>
                <a:off x="571500" y="4762500"/>
                <a:ext cx="2095500" cy="38100"/>
              </a:xfrm>
              <a:prstGeom prst="roundRect">
                <a:avLst>
                  <a:gd name="adj" fmla="val 50000"/>
                </a:avLst>
              </a:prstGeom>
              <a:solidFill>
                <a:srgbClr val="F18F01"/>
              </a:solidFill>
              <a:ln>
                <a:noFill/>
              </a:ln>
            </p:spPr>
          </p:sp>
          <p:sp>
            <p:nvSpPr>
              <p:cNvPr id="72" name="TextBox 72"/>
              <p:cNvSpPr txBox="1"/>
              <p:nvPr/>
            </p:nvSpPr>
            <p:spPr>
              <a:xfrm>
                <a:off x="1211163" y="4907756"/>
                <a:ext cx="816173" cy="228600"/>
              </a:xfrm>
              <a:prstGeom prst="rect">
                <a:avLst/>
              </a:prstGeom>
              <a:noFill/>
              <a:ln>
                <a:noFill/>
              </a:ln>
            </p:spPr>
            <p:txBody>
              <a:bodyPr wrap="none" lIns="0" tIns="0" rIns="0" bIns="0" anchor="t" anchorCtr="0">
                <a:spAutoFit/>
              </a:bodyPr>
              <a:lstStyle/>
              <a:p>
                <a:pPr algn="ctr"/>
                <a:r>
                  <a:rPr lang="zh-CN" sz="1125" b="1" dirty="0">
                    <a:solidFill>
                      <a:srgbClr val="F18F01"/>
                    </a:solidFill>
                    <a:latin typeface="Arial"/>
                    <a:ea typeface="Microsoft YaHei"/>
                    <a:cs typeface="Arial"/>
                  </a:rPr>
                  <a:t>建模与优化</a:t>
                </a:r>
              </a:p>
            </p:txBody>
          </p:sp>
          <p:sp>
            <p:nvSpPr>
              <p:cNvPr id="73" name="TextBox 73"/>
              <p:cNvSpPr txBox="1"/>
              <p:nvPr/>
            </p:nvSpPr>
            <p:spPr>
              <a:xfrm>
                <a:off x="750570" y="5189220"/>
                <a:ext cx="1253014"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3个基线 + 3个模型对比</a:t>
                </a:r>
              </a:p>
            </p:txBody>
          </p:sp>
          <p:sp>
            <p:nvSpPr>
              <p:cNvPr id="74" name="TextBox 74"/>
              <p:cNvSpPr txBox="1"/>
              <p:nvPr/>
            </p:nvSpPr>
            <p:spPr>
              <a:xfrm>
                <a:off x="750570" y="5379720"/>
                <a:ext cx="148104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RandomizedSearchCV 调参</a:t>
                </a:r>
              </a:p>
            </p:txBody>
          </p:sp>
          <p:sp>
            <p:nvSpPr>
              <p:cNvPr id="75" name="TextBox 75"/>
              <p:cNvSpPr txBox="1"/>
              <p:nvPr/>
            </p:nvSpPr>
            <p:spPr>
              <a:xfrm>
                <a:off x="750570" y="5570220"/>
                <a:ext cx="134902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early_stopping_rounds</a:t>
                </a:r>
              </a:p>
            </p:txBody>
          </p:sp>
          <p:sp>
            <p:nvSpPr>
              <p:cNvPr id="76" name="TextBox 76"/>
              <p:cNvSpPr txBox="1"/>
              <p:nvPr/>
            </p:nvSpPr>
            <p:spPr>
              <a:xfrm>
                <a:off x="1464379" y="5959316"/>
                <a:ext cx="309741"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TRAIN</a:t>
                </a:r>
              </a:p>
            </p:txBody>
          </p:sp>
        </p:grpSp>
        <p:sp>
          <p:nvSpPr>
            <p:cNvPr id="78" name="Ellipse 78"/>
            <p:cNvSpPr/>
            <p:nvPr/>
          </p:nvSpPr>
          <p:spPr>
            <a:xfrm>
              <a:off x="4495800" y="4114800"/>
              <a:ext cx="533400" cy="533400"/>
            </a:xfrm>
            <a:prstGeom prst="ellipse">
              <a:avLst/>
            </a:prstGeom>
            <a:solidFill>
              <a:srgbClr val="F18F01"/>
            </a:solidFill>
            <a:ln>
              <a:noFill/>
            </a:ln>
          </p:spPr>
        </p:sp>
        <p:sp>
          <p:nvSpPr>
            <p:cNvPr id="79" name="TextBox 79"/>
            <p:cNvSpPr txBox="1"/>
            <p:nvPr/>
          </p:nvSpPr>
          <p:spPr>
            <a:xfrm>
              <a:off x="4701054" y="43091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7</a:t>
              </a:r>
            </a:p>
          </p:txBody>
        </p:sp>
        <p:sp>
          <p:nvSpPr>
            <p:cNvPr id="80" name="Line 80"/>
            <p:cNvSpPr/>
            <p:nvPr/>
          </p:nvSpPr>
          <p:spPr>
            <a:xfrm>
              <a:off x="5029200" y="4381500"/>
              <a:ext cx="971550" cy="1"/>
            </a:xfrm>
            <a:prstGeom prst="line">
              <a:avLst/>
            </a:prstGeom>
            <a:noFill/>
            <a:ln w="19050">
              <a:solidFill>
                <a:srgbClr val="B2BEC3"/>
              </a:solidFill>
              <a:tailEnd type="triangle" w="lg" len="lg"/>
            </a:ln>
          </p:spPr>
        </p:sp>
        <p:grpSp>
          <p:nvGrpSpPr>
            <p:cNvPr id="88" name="Group 88"/>
            <p:cNvGrpSpPr/>
            <p:nvPr/>
          </p:nvGrpSpPr>
          <p:grpSpPr>
            <a:xfrm>
              <a:off x="3238500" y="4762500"/>
              <a:ext cx="2190750" cy="1428750"/>
              <a:chOff x="3238500" y="4762500"/>
              <a:chExt cx="2190750" cy="1428750"/>
            </a:xfrm>
          </p:grpSpPr>
          <p:sp>
            <p:nvSpPr>
              <p:cNvPr id="81" name="Rectangle 81"/>
              <p:cNvSpPr/>
              <p:nvPr/>
            </p:nvSpPr>
            <p:spPr>
              <a:xfrm>
                <a:off x="3238500" y="4762500"/>
                <a:ext cx="2190750" cy="1428750"/>
              </a:xfrm>
              <a:prstGeom prst="roundRect">
                <a:avLst>
                  <a:gd name="adj" fmla="val 5333"/>
                </a:avLst>
              </a:prstGeom>
              <a:solidFill>
                <a:srgbClr val="FFFFFF"/>
              </a:solidFill>
              <a:ln w="9525">
                <a:solidFill>
                  <a:srgbClr val="DFE6E9"/>
                </a:solidFill>
              </a:ln>
            </p:spPr>
          </p:sp>
          <p:sp>
            <p:nvSpPr>
              <p:cNvPr id="82" name="Rectangle 82"/>
              <p:cNvSpPr/>
              <p:nvPr/>
            </p:nvSpPr>
            <p:spPr>
              <a:xfrm>
                <a:off x="3238500" y="4762500"/>
                <a:ext cx="2190750" cy="38100"/>
              </a:xfrm>
              <a:prstGeom prst="roundRect">
                <a:avLst>
                  <a:gd name="adj" fmla="val 50000"/>
                </a:avLst>
              </a:prstGeom>
              <a:solidFill>
                <a:srgbClr val="F18F01"/>
              </a:solidFill>
              <a:ln>
                <a:noFill/>
              </a:ln>
            </p:spPr>
          </p:sp>
          <p:sp>
            <p:nvSpPr>
              <p:cNvPr id="83" name="TextBox 83"/>
              <p:cNvSpPr txBox="1"/>
              <p:nvPr/>
            </p:nvSpPr>
            <p:spPr>
              <a:xfrm>
                <a:off x="4004548" y="4907756"/>
                <a:ext cx="658654" cy="228600"/>
              </a:xfrm>
              <a:prstGeom prst="rect">
                <a:avLst/>
              </a:prstGeom>
              <a:noFill/>
              <a:ln>
                <a:noFill/>
              </a:ln>
            </p:spPr>
            <p:txBody>
              <a:bodyPr wrap="none" lIns="0" tIns="0" rIns="0" bIns="0" anchor="t" anchorCtr="0">
                <a:spAutoFit/>
              </a:bodyPr>
              <a:lstStyle/>
              <a:p>
                <a:pPr algn="ctr"/>
                <a:r>
                  <a:rPr lang="zh-CN" sz="1125" b="1" dirty="0">
                    <a:solidFill>
                      <a:srgbClr val="F18F01"/>
                    </a:solidFill>
                    <a:latin typeface="Arial"/>
                    <a:ea typeface="Microsoft YaHei"/>
                    <a:cs typeface="Arial"/>
                  </a:rPr>
                  <a:t>模型评估</a:t>
                </a:r>
              </a:p>
            </p:txBody>
          </p:sp>
          <p:sp>
            <p:nvSpPr>
              <p:cNvPr id="84" name="TextBox 84"/>
              <p:cNvSpPr txBox="1"/>
              <p:nvPr/>
            </p:nvSpPr>
            <p:spPr>
              <a:xfrm>
                <a:off x="3465195" y="5189220"/>
                <a:ext cx="172107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Accuracy/Precision/Recall/F1</a:t>
                </a:r>
              </a:p>
            </p:txBody>
          </p:sp>
          <p:sp>
            <p:nvSpPr>
              <p:cNvPr id="85" name="TextBox 85"/>
              <p:cNvSpPr txBox="1"/>
              <p:nvPr/>
            </p:nvSpPr>
            <p:spPr>
              <a:xfrm>
                <a:off x="3465195" y="5379720"/>
                <a:ext cx="112699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ROC-AUC · 混淆矩阵</a:t>
                </a:r>
              </a:p>
            </p:txBody>
          </p:sp>
          <p:sp>
            <p:nvSpPr>
              <p:cNvPr id="86" name="TextBox 86"/>
              <p:cNvSpPr txBox="1"/>
              <p:nvPr/>
            </p:nvSpPr>
            <p:spPr>
              <a:xfrm>
                <a:off x="3465195" y="5570220"/>
                <a:ext cx="1577054"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特征重要性 · PDP · 学习曲线</a:t>
                </a:r>
              </a:p>
            </p:txBody>
          </p:sp>
          <p:sp>
            <p:nvSpPr>
              <p:cNvPr id="87" name="TextBox 87"/>
              <p:cNvSpPr txBox="1"/>
              <p:nvPr/>
            </p:nvSpPr>
            <p:spPr>
              <a:xfrm>
                <a:off x="4196332" y="5959316"/>
                <a:ext cx="275087"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EVAL</a:t>
                </a:r>
              </a:p>
            </p:txBody>
          </p:sp>
        </p:grpSp>
        <p:sp>
          <p:nvSpPr>
            <p:cNvPr id="89" name="Ellipse 89"/>
            <p:cNvSpPr/>
            <p:nvPr/>
          </p:nvSpPr>
          <p:spPr>
            <a:xfrm>
              <a:off x="7143750" y="4095750"/>
              <a:ext cx="571500" cy="571500"/>
            </a:xfrm>
            <a:prstGeom prst="ellipse">
              <a:avLst/>
            </a:prstGeom>
            <a:solidFill>
              <a:srgbClr val="27AE60"/>
            </a:solidFill>
            <a:ln>
              <a:noFill/>
            </a:ln>
          </p:spPr>
        </p:sp>
        <p:sp>
          <p:nvSpPr>
            <p:cNvPr id="90" name="TextBox 90"/>
            <p:cNvSpPr txBox="1"/>
            <p:nvPr/>
          </p:nvSpPr>
          <p:spPr>
            <a:xfrm>
              <a:off x="7360374" y="42929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8</a:t>
              </a:r>
            </a:p>
          </p:txBody>
        </p:sp>
        <p:grpSp>
          <p:nvGrpSpPr>
            <p:cNvPr id="98" name="Group 98"/>
            <p:cNvGrpSpPr/>
            <p:nvPr/>
          </p:nvGrpSpPr>
          <p:grpSpPr>
            <a:xfrm>
              <a:off x="6000750" y="4762500"/>
              <a:ext cx="2857500" cy="1428750"/>
              <a:chOff x="6000750" y="4762500"/>
              <a:chExt cx="2857500" cy="1428750"/>
            </a:xfrm>
          </p:grpSpPr>
          <p:sp>
            <p:nvSpPr>
              <p:cNvPr id="91" name="Rectangle 91"/>
              <p:cNvSpPr/>
              <p:nvPr/>
            </p:nvSpPr>
            <p:spPr>
              <a:xfrm>
                <a:off x="6000750" y="4762500"/>
                <a:ext cx="2857500" cy="1428750"/>
              </a:xfrm>
              <a:prstGeom prst="roundRect">
                <a:avLst>
                  <a:gd name="adj" fmla="val 5333"/>
                </a:avLst>
              </a:prstGeom>
              <a:solidFill>
                <a:srgbClr val="FFFFFF"/>
              </a:solidFill>
              <a:ln w="14288">
                <a:solidFill>
                  <a:srgbClr val="27AE60"/>
                </a:solidFill>
              </a:ln>
            </p:spPr>
          </p:sp>
          <p:sp>
            <p:nvSpPr>
              <p:cNvPr id="92" name="Rectangle 92"/>
              <p:cNvSpPr/>
              <p:nvPr/>
            </p:nvSpPr>
            <p:spPr>
              <a:xfrm>
                <a:off x="6000750" y="4762500"/>
                <a:ext cx="2857500" cy="38100"/>
              </a:xfrm>
              <a:prstGeom prst="roundRect">
                <a:avLst>
                  <a:gd name="adj" fmla="val 50000"/>
                </a:avLst>
              </a:prstGeom>
              <a:solidFill>
                <a:srgbClr val="27AE60"/>
              </a:solidFill>
              <a:ln>
                <a:noFill/>
              </a:ln>
            </p:spPr>
          </p:sp>
          <p:sp>
            <p:nvSpPr>
              <p:cNvPr id="93" name="TextBox 93"/>
              <p:cNvSpPr txBox="1"/>
              <p:nvPr/>
            </p:nvSpPr>
            <p:spPr>
              <a:xfrm>
                <a:off x="6863894" y="4907756"/>
                <a:ext cx="1131213" cy="228600"/>
              </a:xfrm>
              <a:prstGeom prst="rect">
                <a:avLst/>
              </a:prstGeom>
              <a:noFill/>
              <a:ln>
                <a:noFill/>
              </a:ln>
            </p:spPr>
            <p:txBody>
              <a:bodyPr wrap="none" lIns="0" tIns="0" rIns="0" bIns="0" anchor="t" anchorCtr="0">
                <a:spAutoFit/>
              </a:bodyPr>
              <a:lstStyle/>
              <a:p>
                <a:pPr algn="ctr"/>
                <a:r>
                  <a:rPr lang="zh-CN" sz="1125" b="1" dirty="0">
                    <a:solidFill>
                      <a:srgbClr val="27AE60"/>
                    </a:solidFill>
                    <a:latin typeface="Arial"/>
                    <a:ea typeface="Microsoft YaHei"/>
                    <a:cs typeface="Arial"/>
                  </a:rPr>
                  <a:t>结论与应用建议</a:t>
                </a:r>
              </a:p>
            </p:txBody>
          </p:sp>
          <p:sp>
            <p:nvSpPr>
              <p:cNvPr id="94" name="TextBox 94"/>
              <p:cNvSpPr txBox="1"/>
              <p:nvPr/>
            </p:nvSpPr>
            <p:spPr>
              <a:xfrm>
                <a:off x="6227445" y="5189220"/>
                <a:ext cx="172107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10 项核心发现（含置信度分级）</a:t>
                </a:r>
              </a:p>
            </p:txBody>
          </p:sp>
          <p:sp>
            <p:nvSpPr>
              <p:cNvPr id="95" name="TextBox 95"/>
              <p:cNvSpPr txBox="1"/>
              <p:nvPr/>
            </p:nvSpPr>
            <p:spPr>
              <a:xfrm>
                <a:off x="6227445" y="5379720"/>
                <a:ext cx="170307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6 条业务建议（开发者 + 平台）</a:t>
                </a:r>
              </a:p>
            </p:txBody>
          </p:sp>
          <p:sp>
            <p:nvSpPr>
              <p:cNvPr id="96" name="TextBox 96"/>
              <p:cNvSpPr txBox="1"/>
              <p:nvPr/>
            </p:nvSpPr>
            <p:spPr>
              <a:xfrm>
                <a:off x="6227445" y="5570220"/>
                <a:ext cx="122301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局限性与后续改进方向</a:t>
                </a:r>
              </a:p>
            </p:txBody>
          </p:sp>
          <p:sp>
            <p:nvSpPr>
              <p:cNvPr id="97" name="TextBox 97"/>
              <p:cNvSpPr txBox="1"/>
              <p:nvPr/>
            </p:nvSpPr>
            <p:spPr>
              <a:xfrm>
                <a:off x="7216872" y="5959316"/>
                <a:ext cx="425256" cy="167640"/>
              </a:xfrm>
              <a:prstGeom prst="rect">
                <a:avLst/>
              </a:prstGeom>
              <a:noFill/>
              <a:ln>
                <a:noFill/>
              </a:ln>
            </p:spPr>
            <p:txBody>
              <a:bodyPr wrap="none" lIns="0" tIns="0" rIns="0" bIns="0" anchor="t" anchorCtr="0">
                <a:spAutoFit/>
              </a:bodyPr>
              <a:lstStyle/>
              <a:p>
                <a:pPr algn="ctr"/>
                <a:r>
                  <a:rPr lang="zh-CN" sz="825" b="1" dirty="0">
                    <a:solidFill>
                      <a:srgbClr val="B2BEC3"/>
                    </a:solidFill>
                    <a:latin typeface="Arial"/>
                    <a:ea typeface="Microsoft YaHei"/>
                    <a:cs typeface="Arial"/>
                  </a:rPr>
                  <a:t>REPORT</a:t>
                </a:r>
              </a:p>
            </p:txBody>
          </p:sp>
        </p:grpSp>
        <p:grpSp>
          <p:nvGrpSpPr>
            <p:cNvPr id="105" name="Group 105"/>
            <p:cNvGrpSpPr/>
            <p:nvPr/>
          </p:nvGrpSpPr>
          <p:grpSpPr>
            <a:xfrm>
              <a:off x="9144000" y="4762500"/>
              <a:ext cx="2476500" cy="1428750"/>
              <a:chOff x="9144000" y="4762500"/>
              <a:chExt cx="2476500" cy="1428750"/>
            </a:xfrm>
          </p:grpSpPr>
          <p:sp>
            <p:nvSpPr>
              <p:cNvPr id="99" name="Rectangle 99"/>
              <p:cNvSpPr/>
              <p:nvPr/>
            </p:nvSpPr>
            <p:spPr>
              <a:xfrm>
                <a:off x="9144000" y="4762500"/>
                <a:ext cx="2476500" cy="1428750"/>
              </a:xfrm>
              <a:prstGeom prst="roundRect">
                <a:avLst>
                  <a:gd name="adj" fmla="val 5333"/>
                </a:avLst>
              </a:prstGeom>
              <a:solidFill>
                <a:srgbClr val="1A3A5C">
                  <a:alpha val="4000"/>
                </a:srgbClr>
              </a:solidFill>
              <a:ln>
                <a:noFill/>
              </a:ln>
            </p:spPr>
          </p:sp>
          <p:sp>
            <p:nvSpPr>
              <p:cNvPr id="100" name="TextBox 100"/>
              <p:cNvSpPr txBox="1"/>
              <p:nvPr/>
            </p:nvSpPr>
            <p:spPr>
              <a:xfrm>
                <a:off x="9927860" y="4915852"/>
                <a:ext cx="908780"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关键设计原则</a:t>
                </a:r>
              </a:p>
            </p:txBody>
          </p:sp>
          <p:sp>
            <p:nvSpPr>
              <p:cNvPr id="101" name="TextBox 101"/>
              <p:cNvSpPr txBox="1"/>
              <p:nvPr/>
            </p:nvSpPr>
            <p:spPr>
              <a:xfrm>
                <a:off x="9323070" y="5189220"/>
                <a:ext cx="1451038"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GroupShuffleSplit 防泄漏</a:t>
                </a:r>
              </a:p>
            </p:txBody>
          </p:sp>
          <p:sp>
            <p:nvSpPr>
              <p:cNvPr id="102" name="TextBox 102"/>
              <p:cNvSpPr txBox="1"/>
              <p:nvPr/>
            </p:nvSpPr>
            <p:spPr>
              <a:xfrm>
                <a:off x="9323070" y="5408295"/>
                <a:ext cx="1102995"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交互特征训练集聚合</a:t>
                </a:r>
              </a:p>
            </p:txBody>
          </p:sp>
          <p:sp>
            <p:nvSpPr>
              <p:cNvPr id="103" name="TextBox 103"/>
              <p:cNvSpPr txBox="1"/>
              <p:nvPr/>
            </p:nvSpPr>
            <p:spPr>
              <a:xfrm>
                <a:off x="9323070" y="5627370"/>
                <a:ext cx="1132999"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50万采样 → 全量验证</a:t>
                </a:r>
              </a:p>
            </p:txBody>
          </p:sp>
          <p:sp>
            <p:nvSpPr>
              <p:cNvPr id="104" name="TextBox 104"/>
              <p:cNvSpPr txBox="1"/>
              <p:nvPr/>
            </p:nvSpPr>
            <p:spPr>
              <a:xfrm>
                <a:off x="9323070" y="5846445"/>
                <a:ext cx="1054989"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TDD: 88个测试保障</a:t>
                </a:r>
              </a:p>
            </p:txBody>
          </p:sp>
        </p:grpSp>
      </p:grpSp>
      <p:sp>
        <p:nvSpPr>
          <p:cNvPr id="107" name="TextBox 107"/>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400"/>
                                        <p:tgtEl>
                                          <p:spTgt spid="6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06"/>
                                        </p:tgtEl>
                                        <p:attrNameLst>
                                          <p:attrName>style.visibility</p:attrName>
                                        </p:attrNameLst>
                                      </p:cBhvr>
                                      <p:to>
                                        <p:strVal val="visible"/>
                                      </p:to>
                                    </p:set>
                                    <p:animEffect transition="in" filter="slide(fromBottom)">
                                      <p:cBhvr>
                                        <p:cTn id="11"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10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745611" cy="510064"/>
            <a:chOff x="571500" y="268605"/>
            <a:chExt cx="3745611"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3581781"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游戏生态：价格与评分分布</a:t>
              </a:r>
            </a:p>
          </p:txBody>
        </p:sp>
        <p:sp>
          <p:nvSpPr>
            <p:cNvPr id="5" name="TextBox 5"/>
            <p:cNvSpPr txBox="1"/>
            <p:nvPr/>
          </p:nvSpPr>
          <p:spPr>
            <a:xfrm>
              <a:off x="749618" y="580549"/>
              <a:ext cx="1090898"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Q1 — 游戏生态画像</a:t>
              </a:r>
            </a:p>
          </p:txBody>
        </p:sp>
      </p:grpSp>
      <p:grpSp>
        <p:nvGrpSpPr>
          <p:cNvPr id="10" name="Group 10"/>
          <p:cNvGrpSpPr/>
          <p:nvPr/>
        </p:nvGrpSpPr>
        <p:grpSpPr>
          <a:xfrm>
            <a:off x="571500" y="1047750"/>
            <a:ext cx="5334000" cy="2762250"/>
            <a:chOff x="571500" y="1047750"/>
            <a:chExt cx="5334000" cy="2762250"/>
          </a:xfrm>
        </p:grpSpPr>
        <p:sp>
          <p:nvSpPr>
            <p:cNvPr id="7" name="Rectangle 7"/>
            <p:cNvSpPr/>
            <p:nvPr/>
          </p:nvSpPr>
          <p:spPr>
            <a:xfrm>
              <a:off x="571500" y="1047750"/>
              <a:ext cx="5334000" cy="2762250"/>
            </a:xfrm>
            <a:prstGeom prst="roundRect">
              <a:avLst>
                <a:gd name="adj" fmla="val 2069"/>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571500" y="1047750"/>
              <a:ext cx="5334000" cy="2762250"/>
            </a:xfrm>
            <a:prstGeom prst="roundRect">
              <a:avLst>
                <a:gd name="adj" fmla="val 2068"/>
              </a:avLst>
            </a:prstGeom>
          </p:spPr>
        </p:pic>
        <p:sp>
          <p:nvSpPr>
            <p:cNvPr id="9" name="TextBox 9"/>
            <p:cNvSpPr txBox="1"/>
            <p:nvPr/>
          </p:nvSpPr>
          <p:spPr>
            <a:xfrm>
              <a:off x="2747010" y="3569970"/>
              <a:ext cx="982980" cy="182880"/>
            </a:xfrm>
            <a:prstGeom prst="rect">
              <a:avLst/>
            </a:prstGeom>
            <a:noFill/>
            <a:ln>
              <a:noFill/>
            </a:ln>
          </p:spPr>
          <p:txBody>
            <a:bodyPr wrap="none" lIns="0" tIns="0" rIns="0" bIns="0" anchor="t" anchorCtr="0">
              <a:spAutoFit/>
            </a:bodyPr>
            <a:lstStyle/>
            <a:p>
              <a:pPr algn="ctr"/>
              <a:r>
                <a:rPr lang="zh-CN" sz="900" dirty="0">
                  <a:solidFill>
                    <a:srgbClr val="B2BEC3"/>
                  </a:solidFill>
                  <a:latin typeface="Arial"/>
                  <a:ea typeface="Microsoft YaHei"/>
                  <a:cs typeface="Arial"/>
                </a:rPr>
                <a:t>图：游戏价格分布</a:t>
              </a:r>
            </a:p>
          </p:txBody>
        </p:sp>
      </p:grpSp>
      <p:grpSp>
        <p:nvGrpSpPr>
          <p:cNvPr id="14" name="Group 14"/>
          <p:cNvGrpSpPr/>
          <p:nvPr/>
        </p:nvGrpSpPr>
        <p:grpSpPr>
          <a:xfrm>
            <a:off x="6286500" y="1047750"/>
            <a:ext cx="5334000" cy="2762250"/>
            <a:chOff x="6286500" y="1047750"/>
            <a:chExt cx="5334000" cy="2762250"/>
          </a:xfrm>
        </p:grpSpPr>
        <p:sp>
          <p:nvSpPr>
            <p:cNvPr id="11" name="Rectangle 11"/>
            <p:cNvSpPr/>
            <p:nvPr/>
          </p:nvSpPr>
          <p:spPr>
            <a:xfrm>
              <a:off x="6286500" y="1047750"/>
              <a:ext cx="5334000" cy="2762250"/>
            </a:xfrm>
            <a:prstGeom prst="roundRect">
              <a:avLst>
                <a:gd name="adj" fmla="val 2069"/>
              </a:avLst>
            </a:prstGeom>
            <a:solidFill>
              <a:srgbClr val="FFFFFF"/>
            </a:solidFill>
            <a:ln w="9525">
              <a:solidFill>
                <a:srgbClr val="DFE6E9"/>
              </a:solidFill>
            </a:ln>
          </p:spPr>
        </p:sp>
        <p:pic>
          <p:nvPicPr>
            <p:cNvPr id="12" name="Image 12"/>
            <p:cNvPicPr>
              <a:picLocks noChangeAspect="1"/>
            </p:cNvPicPr>
            <p:nvPr/>
          </p:nvPicPr>
          <p:blipFill>
            <a:blip r:embed="rId3"/>
            <a:stretch>
              <a:fillRect/>
            </a:stretch>
          </p:blipFill>
          <p:spPr>
            <a:xfrm>
              <a:off x="6651625" y="1047750"/>
              <a:ext cx="4603750" cy="2762250"/>
            </a:xfrm>
            <a:prstGeom prst="rect">
              <a:avLst/>
            </a:prstGeom>
          </p:spPr>
        </p:pic>
        <p:sp>
          <p:nvSpPr>
            <p:cNvPr id="13" name="TextBox 13"/>
            <p:cNvSpPr txBox="1"/>
            <p:nvPr/>
          </p:nvSpPr>
          <p:spPr>
            <a:xfrm>
              <a:off x="8462010" y="3569970"/>
              <a:ext cx="982980" cy="182880"/>
            </a:xfrm>
            <a:prstGeom prst="rect">
              <a:avLst/>
            </a:prstGeom>
            <a:noFill/>
            <a:ln>
              <a:noFill/>
            </a:ln>
          </p:spPr>
          <p:txBody>
            <a:bodyPr wrap="none" lIns="0" tIns="0" rIns="0" bIns="0" anchor="t" anchorCtr="0">
              <a:spAutoFit/>
            </a:bodyPr>
            <a:lstStyle/>
            <a:p>
              <a:pPr algn="ctr"/>
              <a:r>
                <a:rPr lang="zh-CN" sz="900" dirty="0">
                  <a:solidFill>
                    <a:srgbClr val="B2BEC3"/>
                  </a:solidFill>
                  <a:latin typeface="Arial"/>
                  <a:ea typeface="Microsoft YaHei"/>
                  <a:cs typeface="Arial"/>
                </a:rPr>
                <a:t>图：游戏评分分布</a:t>
              </a:r>
            </a:p>
          </p:txBody>
        </p:sp>
      </p:grpSp>
      <p:grpSp>
        <p:nvGrpSpPr>
          <p:cNvPr id="30" name="Group 30"/>
          <p:cNvGrpSpPr/>
          <p:nvPr/>
        </p:nvGrpSpPr>
        <p:grpSpPr>
          <a:xfrm>
            <a:off x="571500" y="4048125"/>
            <a:ext cx="11049000" cy="1047750"/>
            <a:chOff x="571500" y="4048125"/>
            <a:chExt cx="11049000" cy="1047750"/>
          </a:xfrm>
        </p:grpSpPr>
        <p:sp>
          <p:nvSpPr>
            <p:cNvPr id="15" name="Rectangle 15"/>
            <p:cNvSpPr/>
            <p:nvPr/>
          </p:nvSpPr>
          <p:spPr>
            <a:xfrm>
              <a:off x="571500" y="4048125"/>
              <a:ext cx="3524250" cy="1047750"/>
            </a:xfrm>
            <a:prstGeom prst="roundRect">
              <a:avLst>
                <a:gd name="adj" fmla="val 7273"/>
              </a:avLst>
            </a:prstGeom>
            <a:solidFill>
              <a:srgbClr val="FFFFFF"/>
            </a:solidFill>
            <a:ln w="9525">
              <a:solidFill>
                <a:srgbClr val="DFE6E9"/>
              </a:solidFill>
            </a:ln>
          </p:spPr>
        </p:sp>
        <p:sp>
          <p:nvSpPr>
            <p:cNvPr id="16" name="Rectangle 16"/>
            <p:cNvSpPr/>
            <p:nvPr/>
          </p:nvSpPr>
          <p:spPr>
            <a:xfrm>
              <a:off x="571500" y="4048125"/>
              <a:ext cx="38100" cy="1047750"/>
            </a:xfrm>
            <a:prstGeom prst="roundRect">
              <a:avLst>
                <a:gd name="adj" fmla="val 50000"/>
              </a:avLst>
            </a:prstGeom>
            <a:solidFill>
              <a:srgbClr val="1A3A5C"/>
            </a:solidFill>
            <a:ln>
              <a:noFill/>
            </a:ln>
          </p:spPr>
        </p:sp>
        <p:sp>
          <p:nvSpPr>
            <p:cNvPr id="17" name="TextBox 17"/>
            <p:cNvSpPr txBox="1"/>
            <p:nvPr/>
          </p:nvSpPr>
          <p:spPr>
            <a:xfrm>
              <a:off x="795338" y="4212431"/>
              <a:ext cx="973693"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价格双峰结构</a:t>
              </a:r>
            </a:p>
          </p:txBody>
        </p:sp>
        <p:sp>
          <p:nvSpPr>
            <p:cNvPr id="18" name="TextBox 18"/>
            <p:cNvSpPr txBox="1"/>
            <p:nvPr/>
          </p:nvSpPr>
          <p:spPr>
            <a:xfrm>
              <a:off x="797242" y="4466749"/>
              <a:ext cx="3288173"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$0-$15（独立游戏）和 $60（3A大作）形成两个密度高峰</a:t>
              </a:r>
            </a:p>
          </p:txBody>
        </p:sp>
        <p:sp>
          <p:nvSpPr>
            <p:cNvPr id="19" name="TextBox 19"/>
            <p:cNvSpPr txBox="1"/>
            <p:nvPr/>
          </p:nvSpPr>
          <p:spPr>
            <a:xfrm>
              <a:off x="797242" y="4676299"/>
              <a:ext cx="2696599"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中间价位 $20-$40 相对稀疏，"价格断层"明显</a:t>
              </a:r>
            </a:p>
          </p:txBody>
        </p:sp>
        <p:sp>
          <p:nvSpPr>
            <p:cNvPr id="20" name="Rectangle 20"/>
            <p:cNvSpPr/>
            <p:nvPr/>
          </p:nvSpPr>
          <p:spPr>
            <a:xfrm>
              <a:off x="4333875" y="4048125"/>
              <a:ext cx="3524250" cy="1047750"/>
            </a:xfrm>
            <a:prstGeom prst="roundRect">
              <a:avLst>
                <a:gd name="adj" fmla="val 7273"/>
              </a:avLst>
            </a:prstGeom>
            <a:solidFill>
              <a:srgbClr val="FFFFFF"/>
            </a:solidFill>
            <a:ln w="9525">
              <a:solidFill>
                <a:srgbClr val="DFE6E9"/>
              </a:solidFill>
            </a:ln>
          </p:spPr>
        </p:sp>
        <p:sp>
          <p:nvSpPr>
            <p:cNvPr id="21" name="Rectangle 21"/>
            <p:cNvSpPr/>
            <p:nvPr/>
          </p:nvSpPr>
          <p:spPr>
            <a:xfrm>
              <a:off x="4333875" y="4048125"/>
              <a:ext cx="38100" cy="1047750"/>
            </a:xfrm>
            <a:prstGeom prst="roundRect">
              <a:avLst>
                <a:gd name="adj" fmla="val 50000"/>
              </a:avLst>
            </a:prstGeom>
            <a:solidFill>
              <a:srgbClr val="2E86AB"/>
            </a:solidFill>
            <a:ln>
              <a:noFill/>
            </a:ln>
          </p:spPr>
        </p:sp>
        <p:sp>
          <p:nvSpPr>
            <p:cNvPr id="22" name="TextBox 22"/>
            <p:cNvSpPr txBox="1"/>
            <p:nvPr/>
          </p:nvSpPr>
          <p:spPr>
            <a:xfrm>
              <a:off x="4557712" y="4212431"/>
              <a:ext cx="973693" cy="228600"/>
            </a:xfrm>
            <a:prstGeom prst="rect">
              <a:avLst/>
            </a:prstGeom>
            <a:noFill/>
            <a:ln>
              <a:noFill/>
            </a:ln>
          </p:spPr>
          <p:txBody>
            <a:bodyPr wrap="none" lIns="0" tIns="0" rIns="0" bIns="0" anchor="t" anchorCtr="0">
              <a:spAutoFit/>
            </a:bodyPr>
            <a:lstStyle/>
            <a:p>
              <a:pPr algn="l"/>
              <a:r>
                <a:rPr lang="zh-CN" sz="1125" b="1" dirty="0">
                  <a:solidFill>
                    <a:srgbClr val="2E86AB"/>
                  </a:solidFill>
                  <a:latin typeface="Arial"/>
                  <a:ea typeface="Microsoft YaHei"/>
                  <a:cs typeface="Arial"/>
                </a:rPr>
                <a:t>免费游戏占比</a:t>
              </a:r>
            </a:p>
          </p:txBody>
        </p:sp>
        <p:sp>
          <p:nvSpPr>
            <p:cNvPr id="23" name="TextBox 23"/>
            <p:cNvSpPr txBox="1"/>
            <p:nvPr/>
          </p:nvSpPr>
          <p:spPr>
            <a:xfrm>
              <a:off x="4559618" y="4466749"/>
              <a:ext cx="1701975"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约 20-40% 的游戏为免费模式</a:t>
              </a:r>
            </a:p>
          </p:txBody>
        </p:sp>
        <p:sp>
          <p:nvSpPr>
            <p:cNvPr id="24" name="TextBox 24"/>
            <p:cNvSpPr txBox="1"/>
            <p:nvPr/>
          </p:nvSpPr>
          <p:spPr>
            <a:xfrm>
              <a:off x="4559618" y="4676299"/>
              <a:ext cx="2495074"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超过半数游戏为付费，整体价格呈右偏长尾</a:t>
              </a:r>
            </a:p>
          </p:txBody>
        </p:sp>
        <p:sp>
          <p:nvSpPr>
            <p:cNvPr id="25" name="Rectangle 25"/>
            <p:cNvSpPr/>
            <p:nvPr/>
          </p:nvSpPr>
          <p:spPr>
            <a:xfrm>
              <a:off x="8096250" y="4048125"/>
              <a:ext cx="3524250" cy="1047750"/>
            </a:xfrm>
            <a:prstGeom prst="roundRect">
              <a:avLst>
                <a:gd name="adj" fmla="val 7273"/>
              </a:avLst>
            </a:prstGeom>
            <a:solidFill>
              <a:srgbClr val="FFFFFF"/>
            </a:solidFill>
            <a:ln w="9525">
              <a:solidFill>
                <a:srgbClr val="DFE6E9"/>
              </a:solidFill>
            </a:ln>
          </p:spPr>
        </p:sp>
        <p:sp>
          <p:nvSpPr>
            <p:cNvPr id="26" name="Rectangle 26"/>
            <p:cNvSpPr/>
            <p:nvPr/>
          </p:nvSpPr>
          <p:spPr>
            <a:xfrm>
              <a:off x="8096250" y="4048125"/>
              <a:ext cx="38100" cy="1047750"/>
            </a:xfrm>
            <a:prstGeom prst="roundRect">
              <a:avLst>
                <a:gd name="adj" fmla="val 50000"/>
              </a:avLst>
            </a:prstGeom>
            <a:solidFill>
              <a:srgbClr val="F18F01"/>
            </a:solidFill>
            <a:ln>
              <a:noFill/>
            </a:ln>
          </p:spPr>
        </p:sp>
        <p:sp>
          <p:nvSpPr>
            <p:cNvPr id="27" name="TextBox 27"/>
            <p:cNvSpPr txBox="1"/>
            <p:nvPr/>
          </p:nvSpPr>
          <p:spPr>
            <a:xfrm>
              <a:off x="8320088" y="4212431"/>
              <a:ext cx="658654" cy="228600"/>
            </a:xfrm>
            <a:prstGeom prst="rect">
              <a:avLst/>
            </a:prstGeom>
            <a:noFill/>
            <a:ln>
              <a:noFill/>
            </a:ln>
          </p:spPr>
          <p:txBody>
            <a:bodyPr wrap="none" lIns="0" tIns="0" rIns="0" bIns="0" anchor="t" anchorCtr="0">
              <a:spAutoFit/>
            </a:bodyPr>
            <a:lstStyle/>
            <a:p>
              <a:pPr algn="l"/>
              <a:r>
                <a:rPr lang="zh-CN" sz="1125" b="1" dirty="0">
                  <a:solidFill>
                    <a:srgbClr val="F18F01"/>
                  </a:solidFill>
                  <a:latin typeface="Arial"/>
                  <a:ea typeface="Microsoft YaHei"/>
                  <a:cs typeface="Arial"/>
                </a:rPr>
                <a:t>好评偏差</a:t>
              </a:r>
            </a:p>
          </p:txBody>
        </p:sp>
        <p:sp>
          <p:nvSpPr>
            <p:cNvPr id="28" name="TextBox 28"/>
            <p:cNvSpPr txBox="1"/>
            <p:nvPr/>
          </p:nvSpPr>
          <p:spPr>
            <a:xfrm>
              <a:off x="8321992" y="4466749"/>
              <a:ext cx="2527578"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评分中位数 0.75-0.85，左偏聚集在高分区</a:t>
              </a:r>
            </a:p>
          </p:txBody>
        </p:sp>
        <p:sp>
          <p:nvSpPr>
            <p:cNvPr id="29" name="TextBox 29"/>
            <p:cNvSpPr txBox="1"/>
            <p:nvPr/>
          </p:nvSpPr>
          <p:spPr>
            <a:xfrm>
              <a:off x="8321992" y="4676299"/>
              <a:ext cx="1714976"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评分作为单一特征区分度有限</a:t>
              </a:r>
            </a:p>
          </p:txBody>
        </p:sp>
      </p:grpSp>
      <p:grpSp>
        <p:nvGrpSpPr>
          <p:cNvPr id="35" name="Group 35"/>
          <p:cNvGrpSpPr/>
          <p:nvPr/>
        </p:nvGrpSpPr>
        <p:grpSpPr>
          <a:xfrm>
            <a:off x="571500" y="5334000"/>
            <a:ext cx="11049000" cy="571500"/>
            <a:chOff x="571500" y="5334000"/>
            <a:chExt cx="11049000" cy="571500"/>
          </a:xfrm>
        </p:grpSpPr>
        <p:sp>
          <p:nvSpPr>
            <p:cNvPr id="31" name="Rectangle 31"/>
            <p:cNvSpPr/>
            <p:nvPr/>
          </p:nvSpPr>
          <p:spPr>
            <a:xfrm>
              <a:off x="571500" y="5334000"/>
              <a:ext cx="11049000" cy="571500"/>
            </a:xfrm>
            <a:prstGeom prst="roundRect">
              <a:avLst>
                <a:gd name="adj" fmla="val 10000"/>
              </a:avLst>
            </a:prstGeom>
            <a:solidFill>
              <a:srgbClr val="1A3A5C">
                <a:alpha val="5000"/>
              </a:srgbClr>
            </a:solidFill>
            <a:ln>
              <a:noFill/>
            </a:ln>
          </p:spPr>
        </p:sp>
        <p:sp>
          <p:nvSpPr>
            <p:cNvPr id="32" name="Rectangle 32"/>
            <p:cNvSpPr/>
            <p:nvPr/>
          </p:nvSpPr>
          <p:spPr>
            <a:xfrm>
              <a:off x="571500" y="5334000"/>
              <a:ext cx="38100" cy="571500"/>
            </a:xfrm>
            <a:prstGeom prst="roundRect">
              <a:avLst>
                <a:gd name="adj" fmla="val 50000"/>
              </a:avLst>
            </a:prstGeom>
            <a:solidFill>
              <a:srgbClr val="1A3A5C"/>
            </a:solidFill>
            <a:ln>
              <a:noFill/>
            </a:ln>
          </p:spPr>
        </p:sp>
        <p:sp>
          <p:nvSpPr>
            <p:cNvPr id="33" name="TextBox 33"/>
            <p:cNvSpPr txBox="1"/>
            <p:nvPr/>
          </p:nvSpPr>
          <p:spPr>
            <a:xfrm>
              <a:off x="796290" y="5439728"/>
              <a:ext cx="614744"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核心洞察</a:t>
              </a:r>
            </a:p>
          </p:txBody>
        </p:sp>
        <p:sp>
          <p:nvSpPr>
            <p:cNvPr id="34" name="TextBox 34"/>
            <p:cNvSpPr txBox="1"/>
            <p:nvPr/>
          </p:nvSpPr>
          <p:spPr>
            <a:xfrm>
              <a:off x="797242" y="5657374"/>
              <a:ext cx="9984010"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Steam 市场呈"价格双峰 + 评分高基线"特征：独立开发者应选择 $5-$15 低价入市，且需要管理初期评价——在整体"好评偏差"环境下，评分跌破 0.7 即被视为严重负面信号。</a:t>
              </a:r>
            </a:p>
          </p:txBody>
        </p:sp>
      </p:grpSp>
      <p:sp>
        <p:nvSpPr>
          <p:cNvPr id="36" name="TextBox 36"/>
          <p:cNvSpPr txBox="1"/>
          <p:nvPr/>
        </p:nvSpPr>
        <p:spPr>
          <a:xfrm>
            <a:off x="561022" y="6054566"/>
            <a:ext cx="3656909"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数据来源：Kaggle Game Recommendations on Steam · 采样 500K 条记录</a:t>
            </a:r>
          </a:p>
        </p:txBody>
      </p:sp>
      <p:sp>
        <p:nvSpPr>
          <p:cNvPr id="37" name="TextBox 37"/>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400"/>
                                        <p:tgtEl>
                                          <p:spTgt spid="10"/>
                                        </p:tgtEl>
                                      </p:cBhvr>
                                    </p:animEffect>
                                  </p:childTnLst>
                                </p:cTn>
                              </p:par>
                            </p:childTnLst>
                          </p:cTn>
                        </p:par>
                        <p:par>
                          <p:cTn id="8" fill="hold">
                            <p:stCondLst>
                              <p:cond delay="900"/>
                            </p:stCondLst>
                            <p:childTnLst>
                              <p:par>
                                <p:cTn id="9" presetID="6"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circle(in)">
                                      <p:cBhvr>
                                        <p:cTn id="11" dur="400"/>
                                        <p:tgtEl>
                                          <p:spTgt spid="1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400"/>
                                        <p:tgtEl>
                                          <p:spTgt spid="3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slide(fromBottom)">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30"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4627721" cy="510064"/>
            <a:chOff x="571500" y="268605"/>
            <a:chExt cx="4627721"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4463891"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游戏生态：类型、趋势与市场结构</a:t>
              </a:r>
            </a:p>
          </p:txBody>
        </p:sp>
        <p:sp>
          <p:nvSpPr>
            <p:cNvPr id="5" name="TextBox 5"/>
            <p:cNvSpPr txBox="1"/>
            <p:nvPr/>
          </p:nvSpPr>
          <p:spPr>
            <a:xfrm>
              <a:off x="749618" y="580549"/>
              <a:ext cx="1090898"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Q1 — 游戏生态画像</a:t>
              </a:r>
            </a:p>
          </p:txBody>
        </p:sp>
      </p:grpSp>
      <p:grpSp>
        <p:nvGrpSpPr>
          <p:cNvPr id="10" name="Group 10"/>
          <p:cNvGrpSpPr/>
          <p:nvPr/>
        </p:nvGrpSpPr>
        <p:grpSpPr>
          <a:xfrm>
            <a:off x="571500" y="952500"/>
            <a:ext cx="5905500" cy="2428875"/>
            <a:chOff x="571500" y="952500"/>
            <a:chExt cx="5905500" cy="2428875"/>
          </a:xfrm>
        </p:grpSpPr>
        <p:sp>
          <p:nvSpPr>
            <p:cNvPr id="7" name="Rectangle 7"/>
            <p:cNvSpPr/>
            <p:nvPr/>
          </p:nvSpPr>
          <p:spPr>
            <a:xfrm>
              <a:off x="571500" y="952500"/>
              <a:ext cx="5905500" cy="2428875"/>
            </a:xfrm>
            <a:prstGeom prst="roundRect">
              <a:avLst>
                <a:gd name="adj" fmla="val 2353"/>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1702594" y="952500"/>
              <a:ext cx="3643312" cy="2428875"/>
            </a:xfrm>
            <a:prstGeom prst="rect">
              <a:avLst/>
            </a:prstGeom>
          </p:spPr>
        </p:pic>
        <p:sp>
          <p:nvSpPr>
            <p:cNvPr id="9" name="TextBox 9"/>
            <p:cNvSpPr txBox="1"/>
            <p:nvPr/>
          </p:nvSpPr>
          <p:spPr>
            <a:xfrm>
              <a:off x="2889444" y="3168491"/>
              <a:ext cx="1269611"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图：Top 20 游戏标签频率</a:t>
              </a:r>
            </a:p>
          </p:txBody>
        </p:sp>
      </p:grpSp>
      <p:grpSp>
        <p:nvGrpSpPr>
          <p:cNvPr id="14" name="Group 14"/>
          <p:cNvGrpSpPr/>
          <p:nvPr/>
        </p:nvGrpSpPr>
        <p:grpSpPr>
          <a:xfrm>
            <a:off x="6762750" y="952500"/>
            <a:ext cx="4857750" cy="2428875"/>
            <a:chOff x="6762750" y="952500"/>
            <a:chExt cx="4857750" cy="2428875"/>
          </a:xfrm>
        </p:grpSpPr>
        <p:sp>
          <p:nvSpPr>
            <p:cNvPr id="11" name="Rectangle 11"/>
            <p:cNvSpPr/>
            <p:nvPr/>
          </p:nvSpPr>
          <p:spPr>
            <a:xfrm>
              <a:off x="6762750" y="952500"/>
              <a:ext cx="4857750" cy="2428875"/>
            </a:xfrm>
            <a:prstGeom prst="roundRect">
              <a:avLst>
                <a:gd name="adj" fmla="val 2353"/>
              </a:avLst>
            </a:prstGeom>
            <a:solidFill>
              <a:srgbClr val="FFFFFF"/>
            </a:solidFill>
            <a:ln w="9525">
              <a:solidFill>
                <a:srgbClr val="DFE6E9"/>
              </a:solidFill>
            </a:ln>
          </p:spPr>
        </p:sp>
        <p:pic>
          <p:nvPicPr>
            <p:cNvPr id="12" name="Image 12"/>
            <p:cNvPicPr>
              <a:picLocks noChangeAspect="1"/>
            </p:cNvPicPr>
            <p:nvPr/>
          </p:nvPicPr>
          <p:blipFill>
            <a:blip r:embed="rId3"/>
            <a:stretch>
              <a:fillRect/>
            </a:stretch>
          </p:blipFill>
          <p:spPr>
            <a:xfrm>
              <a:off x="6762750" y="952500"/>
              <a:ext cx="4857750" cy="2428875"/>
            </a:xfrm>
            <a:prstGeom prst="rect">
              <a:avLst/>
            </a:prstGeom>
          </p:spPr>
        </p:pic>
        <p:sp>
          <p:nvSpPr>
            <p:cNvPr id="13" name="TextBox 13"/>
            <p:cNvSpPr txBox="1"/>
            <p:nvPr/>
          </p:nvSpPr>
          <p:spPr>
            <a:xfrm>
              <a:off x="8576072" y="3168491"/>
              <a:ext cx="1231106"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图：年度游戏发布量趋势</a:t>
              </a:r>
            </a:p>
          </p:txBody>
        </p:sp>
      </p:grpSp>
      <p:grpSp>
        <p:nvGrpSpPr>
          <p:cNvPr id="18" name="Group 18"/>
          <p:cNvGrpSpPr/>
          <p:nvPr/>
        </p:nvGrpSpPr>
        <p:grpSpPr>
          <a:xfrm>
            <a:off x="571500" y="3524250"/>
            <a:ext cx="5334000" cy="1857375"/>
            <a:chOff x="571500" y="3524250"/>
            <a:chExt cx="5334000" cy="1857375"/>
          </a:xfrm>
        </p:grpSpPr>
        <p:sp>
          <p:nvSpPr>
            <p:cNvPr id="15" name="Rectangle 15"/>
            <p:cNvSpPr/>
            <p:nvPr/>
          </p:nvSpPr>
          <p:spPr>
            <a:xfrm>
              <a:off x="571500" y="3524250"/>
              <a:ext cx="5334000" cy="1857375"/>
            </a:xfrm>
            <a:prstGeom prst="roundRect">
              <a:avLst>
                <a:gd name="adj" fmla="val 3077"/>
              </a:avLst>
            </a:prstGeom>
            <a:solidFill>
              <a:srgbClr val="FFFFFF"/>
            </a:solidFill>
            <a:ln w="9525">
              <a:solidFill>
                <a:srgbClr val="DFE6E9"/>
              </a:solidFill>
            </a:ln>
          </p:spPr>
        </p:sp>
        <p:pic>
          <p:nvPicPr>
            <p:cNvPr id="16" name="Image 16"/>
            <p:cNvPicPr>
              <a:picLocks noChangeAspect="1"/>
            </p:cNvPicPr>
            <p:nvPr/>
          </p:nvPicPr>
          <p:blipFill>
            <a:blip r:embed="rId4"/>
            <a:stretch>
              <a:fillRect/>
            </a:stretch>
          </p:blipFill>
          <p:spPr>
            <a:xfrm>
              <a:off x="1381125" y="3524250"/>
              <a:ext cx="3714750" cy="1857375"/>
            </a:xfrm>
            <a:prstGeom prst="rect">
              <a:avLst/>
            </a:prstGeom>
          </p:spPr>
        </p:pic>
        <p:sp>
          <p:nvSpPr>
            <p:cNvPr id="17" name="TextBox 17"/>
            <p:cNvSpPr txBox="1"/>
            <p:nvPr/>
          </p:nvSpPr>
          <p:spPr>
            <a:xfrm>
              <a:off x="2622947" y="5168741"/>
              <a:ext cx="1231106"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图：游戏推荐量长尾分布</a:t>
              </a:r>
            </a:p>
          </p:txBody>
        </p:sp>
      </p:grpSp>
      <p:grpSp>
        <p:nvGrpSpPr>
          <p:cNvPr id="41" name="Group 41"/>
          <p:cNvGrpSpPr/>
          <p:nvPr/>
        </p:nvGrpSpPr>
        <p:grpSpPr>
          <a:xfrm>
            <a:off x="6191250" y="3524250"/>
            <a:ext cx="6429757" cy="1864519"/>
            <a:chOff x="6191250" y="3524250"/>
            <a:chExt cx="6429757" cy="1864519"/>
          </a:xfrm>
        </p:grpSpPr>
        <p:sp>
          <p:nvSpPr>
            <p:cNvPr id="19" name="Rectangle 19"/>
            <p:cNvSpPr/>
            <p:nvPr/>
          </p:nvSpPr>
          <p:spPr>
            <a:xfrm>
              <a:off x="6191250" y="3524250"/>
              <a:ext cx="5429250" cy="1857375"/>
            </a:xfrm>
            <a:prstGeom prst="roundRect">
              <a:avLst>
                <a:gd name="adj" fmla="val 4103"/>
              </a:avLst>
            </a:prstGeom>
            <a:solidFill>
              <a:srgbClr val="FFFFFF"/>
            </a:solidFill>
            <a:ln w="9525">
              <a:solidFill>
                <a:srgbClr val="DFE6E9"/>
              </a:solidFill>
            </a:ln>
          </p:spPr>
        </p:sp>
        <p:sp>
          <p:nvSpPr>
            <p:cNvPr id="20" name="Rectangle 20"/>
            <p:cNvSpPr/>
            <p:nvPr/>
          </p:nvSpPr>
          <p:spPr>
            <a:xfrm>
              <a:off x="6191250" y="3524250"/>
              <a:ext cx="5429250" cy="38100"/>
            </a:xfrm>
            <a:prstGeom prst="roundRect">
              <a:avLst>
                <a:gd name="adj" fmla="val 50000"/>
              </a:avLst>
            </a:prstGeom>
            <a:gradFill>
              <a:gsLst>
                <a:gs pos="0">
                  <a:srgbClr val="1A3A5C"/>
                </a:gs>
                <a:gs pos="100000">
                  <a:srgbClr val="2E86AB"/>
                </a:gs>
              </a:gsLst>
              <a:lin ang="0" scaled="1"/>
            </a:gradFill>
            <a:ln>
              <a:noFill/>
            </a:ln>
          </p:spPr>
        </p:sp>
        <p:grpSp>
          <p:nvGrpSpPr>
            <p:cNvPr id="25" name="Group 25"/>
            <p:cNvGrpSpPr/>
            <p:nvPr/>
          </p:nvGrpSpPr>
          <p:grpSpPr>
            <a:xfrm>
              <a:off x="6443662" y="3757612"/>
              <a:ext cx="2101304" cy="228600"/>
              <a:chOff x="6443662" y="3757612"/>
              <a:chExt cx="2101304" cy="228600"/>
            </a:xfrm>
          </p:grpSpPr>
          <p:grpSp>
            <p:nvGrpSpPr>
              <p:cNvPr id="23" name="Group 23"/>
              <p:cNvGrpSpPr/>
              <p:nvPr/>
            </p:nvGrpSpPr>
            <p:grpSpPr>
              <a:xfrm>
                <a:off x="6443662" y="3757612"/>
                <a:ext cx="144756" cy="144756"/>
                <a:chOff x="6443662" y="3757612"/>
                <a:chExt cx="144756" cy="144756"/>
              </a:xfrm>
            </p:grpSpPr>
            <p:sp>
              <p:nvSpPr>
                <p:cNvPr id="21" name="Freeform 21"/>
                <p:cNvSpPr/>
                <p:nvPr/>
              </p:nvSpPr>
              <p:spPr>
                <a:xfrm>
                  <a:off x="6471444" y="3785394"/>
                  <a:ext cx="15875" cy="15875"/>
                </a:xfrm>
                <a:custGeom>
                  <a:avLst/>
                  <a:gdLst/>
                  <a:ahLst/>
                  <a:cxnLst/>
                  <a:rect l="l" t="t" r="r" b="b"/>
                  <a:pathLst>
                    <a:path w="15875" h="15875">
                      <a:moveTo>
                        <a:pt x="0" y="7937"/>
                      </a:moveTo>
                      <a:cubicBezTo>
                        <a:pt x="0" y="12321"/>
                        <a:pt x="3554" y="15875"/>
                        <a:pt x="7938" y="15875"/>
                      </a:cubicBezTo>
                      <a:cubicBezTo>
                        <a:pt x="12321" y="15875"/>
                        <a:pt x="15875" y="12321"/>
                        <a:pt x="15875" y="7937"/>
                      </a:cubicBezTo>
                      <a:cubicBezTo>
                        <a:pt x="15875" y="3554"/>
                        <a:pt x="12321" y="0"/>
                        <a:pt x="7938" y="0"/>
                      </a:cubicBezTo>
                      <a:cubicBezTo>
                        <a:pt x="3554" y="0"/>
                        <a:pt x="0" y="3554"/>
                        <a:pt x="0" y="7937"/>
                      </a:cubicBezTo>
                    </a:path>
                  </a:pathLst>
                </a:custGeom>
                <a:noFill/>
                <a:ln w="19050">
                  <a:solidFill>
                    <a:srgbClr val="1A3A5C"/>
                  </a:solidFill>
                </a:ln>
              </p:spPr>
            </p:sp>
            <p:sp>
              <p:nvSpPr>
                <p:cNvPr id="22" name="Freeform 22"/>
                <p:cNvSpPr/>
                <p:nvPr/>
              </p:nvSpPr>
              <p:spPr>
                <a:xfrm>
                  <a:off x="6443662" y="3757612"/>
                  <a:ext cx="144756" cy="144756"/>
                </a:xfrm>
                <a:custGeom>
                  <a:avLst/>
                  <a:gdLst/>
                  <a:ahLst/>
                  <a:cxnLst/>
                  <a:rect l="l" t="t" r="r" b="b"/>
                  <a:pathLst>
                    <a:path w="144756" h="144756">
                      <a:moveTo>
                        <a:pt x="0" y="23812"/>
                      </a:moveTo>
                      <a:lnTo>
                        <a:pt x="0" y="64865"/>
                      </a:lnTo>
                      <a:cubicBezTo>
                        <a:pt x="1" y="69075"/>
                        <a:pt x="1674" y="73112"/>
                        <a:pt x="4651" y="76089"/>
                      </a:cubicBezTo>
                      <a:lnTo>
                        <a:pt x="65849" y="137287"/>
                      </a:lnTo>
                      <a:cubicBezTo>
                        <a:pt x="73320" y="144756"/>
                        <a:pt x="85430" y="144756"/>
                        <a:pt x="92900" y="137287"/>
                      </a:cubicBezTo>
                      <a:lnTo>
                        <a:pt x="137287" y="92900"/>
                      </a:lnTo>
                      <a:cubicBezTo>
                        <a:pt x="144756" y="85430"/>
                        <a:pt x="144756" y="73320"/>
                        <a:pt x="137287" y="65850"/>
                      </a:cubicBezTo>
                      <a:lnTo>
                        <a:pt x="76089" y="4651"/>
                      </a:lnTo>
                      <a:cubicBezTo>
                        <a:pt x="73112" y="1674"/>
                        <a:pt x="69075" y="1"/>
                        <a:pt x="64865" y="0"/>
                      </a:cubicBezTo>
                      <a:lnTo>
                        <a:pt x="23812" y="0"/>
                      </a:lnTo>
                      <a:cubicBezTo>
                        <a:pt x="17497" y="0"/>
                        <a:pt x="11440" y="2509"/>
                        <a:pt x="6975" y="6975"/>
                      </a:cubicBezTo>
                      <a:cubicBezTo>
                        <a:pt x="2509" y="11440"/>
                        <a:pt x="0" y="17497"/>
                        <a:pt x="0" y="23812"/>
                      </a:cubicBezTo>
                    </a:path>
                  </a:pathLst>
                </a:custGeom>
                <a:noFill/>
                <a:ln w="19050">
                  <a:solidFill>
                    <a:srgbClr val="1A3A5C"/>
                  </a:solidFill>
                </a:ln>
              </p:spPr>
            </p:sp>
          </p:grpSp>
          <p:sp>
            <p:nvSpPr>
              <p:cNvPr id="24" name="TextBox 24"/>
              <p:cNvSpPr txBox="1"/>
              <p:nvPr/>
            </p:nvSpPr>
            <p:spPr>
              <a:xfrm>
                <a:off x="6673215" y="3772852"/>
                <a:ext cx="187175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Indie 是数量最多的标签之一</a:t>
                </a:r>
              </a:p>
            </p:txBody>
          </p:sp>
        </p:grpSp>
        <p:sp>
          <p:nvSpPr>
            <p:cNvPr id="26" name="TextBox 26"/>
            <p:cNvSpPr txBox="1"/>
            <p:nvPr/>
          </p:nvSpPr>
          <p:spPr>
            <a:xfrm>
              <a:off x="6407468" y="4009549"/>
              <a:ext cx="621353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与 Action、Adventure、Casual、Simulation 并列前五。独立游戏已成为平台内容主体，但竞争极度激烈。</a:t>
              </a:r>
            </a:p>
          </p:txBody>
        </p:sp>
        <p:grpSp>
          <p:nvGrpSpPr>
            <p:cNvPr id="31" name="Group 31"/>
            <p:cNvGrpSpPr/>
            <p:nvPr/>
          </p:nvGrpSpPr>
          <p:grpSpPr>
            <a:xfrm>
              <a:off x="6443662" y="4386262"/>
              <a:ext cx="2292427" cy="228600"/>
              <a:chOff x="6443662" y="4386262"/>
              <a:chExt cx="2292427" cy="228600"/>
            </a:xfrm>
          </p:grpSpPr>
          <p:grpSp>
            <p:nvGrpSpPr>
              <p:cNvPr id="29" name="Group 29"/>
              <p:cNvGrpSpPr/>
              <p:nvPr/>
            </p:nvGrpSpPr>
            <p:grpSpPr>
              <a:xfrm>
                <a:off x="6443662" y="4386262"/>
                <a:ext cx="142875" cy="142875"/>
                <a:chOff x="6443662" y="4386262"/>
                <a:chExt cx="142875" cy="142875"/>
              </a:xfrm>
            </p:grpSpPr>
            <p:sp>
              <p:nvSpPr>
                <p:cNvPr id="27" name="Freeform 27"/>
                <p:cNvSpPr/>
                <p:nvPr/>
              </p:nvSpPr>
              <p:spPr>
                <a:xfrm>
                  <a:off x="6443662" y="43862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2E86AB"/>
                  </a:solidFill>
                </a:ln>
              </p:spPr>
            </p:sp>
            <p:sp>
              <p:nvSpPr>
                <p:cNvPr id="28" name="Freeform 28"/>
                <p:cNvSpPr/>
                <p:nvPr/>
              </p:nvSpPr>
              <p:spPr>
                <a:xfrm>
                  <a:off x="6515100" y="4418012"/>
                  <a:ext cx="23812" cy="63500"/>
                </a:xfrm>
                <a:custGeom>
                  <a:avLst/>
                  <a:gdLst/>
                  <a:ahLst/>
                  <a:cxnLst/>
                  <a:rect l="l" t="t" r="r" b="b"/>
                  <a:pathLst>
                    <a:path w="23812" h="63500">
                      <a:moveTo>
                        <a:pt x="0" y="0"/>
                      </a:moveTo>
                      <a:lnTo>
                        <a:pt x="0" y="39688"/>
                      </a:lnTo>
                      <a:lnTo>
                        <a:pt x="23812" y="63500"/>
                      </a:lnTo>
                    </a:path>
                  </a:pathLst>
                </a:custGeom>
                <a:noFill/>
                <a:ln w="19050">
                  <a:solidFill>
                    <a:srgbClr val="2E86AB"/>
                  </a:solidFill>
                </a:ln>
              </p:spPr>
            </p:sp>
          </p:grpSp>
          <p:sp>
            <p:nvSpPr>
              <p:cNvPr id="30" name="TextBox 30"/>
              <p:cNvSpPr txBox="1"/>
              <p:nvPr/>
            </p:nvSpPr>
            <p:spPr>
              <a:xfrm>
                <a:off x="6673215" y="4401502"/>
                <a:ext cx="2062874" cy="213360"/>
              </a:xfrm>
              <a:prstGeom prst="rect">
                <a:avLst/>
              </a:prstGeom>
              <a:noFill/>
              <a:ln>
                <a:noFill/>
              </a:ln>
            </p:spPr>
            <p:txBody>
              <a:bodyPr wrap="none" lIns="0" tIns="0" rIns="0" bIns="0" anchor="t" anchorCtr="0">
                <a:spAutoFit/>
              </a:bodyPr>
              <a:lstStyle/>
              <a:p>
                <a:pPr algn="l"/>
                <a:r>
                  <a:rPr lang="zh-CN" sz="1050" b="1" dirty="0">
                    <a:solidFill>
                      <a:srgbClr val="2E86AB"/>
                    </a:solidFill>
                    <a:latin typeface="Arial"/>
                    <a:ea typeface="Microsoft YaHei"/>
                    <a:cs typeface="Arial"/>
                  </a:rPr>
                  <a:t>2017 Steam Direct 发布量跃升</a:t>
                </a:r>
              </a:p>
            </p:txBody>
          </p:sp>
        </p:grpSp>
        <p:sp>
          <p:nvSpPr>
            <p:cNvPr id="32" name="TextBox 32"/>
            <p:cNvSpPr txBox="1"/>
            <p:nvPr/>
          </p:nvSpPr>
          <p:spPr>
            <a:xfrm>
              <a:off x="6407468" y="4638199"/>
              <a:ext cx="5628465"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平台内容供给持续高速增长，新游戏面临的注意力竞争日益加剧，"被看到"本身就是最大的挑战。</a:t>
              </a:r>
            </a:p>
          </p:txBody>
        </p:sp>
        <p:grpSp>
          <p:nvGrpSpPr>
            <p:cNvPr id="39" name="Group 39"/>
            <p:cNvGrpSpPr/>
            <p:nvPr/>
          </p:nvGrpSpPr>
          <p:grpSpPr>
            <a:xfrm>
              <a:off x="6443662" y="5003800"/>
              <a:ext cx="1968987" cy="220662"/>
              <a:chOff x="6443662" y="5003800"/>
              <a:chExt cx="1968987" cy="220662"/>
            </a:xfrm>
          </p:grpSpPr>
          <p:grpSp>
            <p:nvGrpSpPr>
              <p:cNvPr id="37" name="Group 37"/>
              <p:cNvGrpSpPr/>
              <p:nvPr/>
            </p:nvGrpSpPr>
            <p:grpSpPr>
              <a:xfrm>
                <a:off x="6443662" y="5003800"/>
                <a:ext cx="142875" cy="136525"/>
                <a:chOff x="6443662" y="5003800"/>
                <a:chExt cx="142875" cy="136525"/>
              </a:xfrm>
            </p:grpSpPr>
            <p:sp>
              <p:nvSpPr>
                <p:cNvPr id="33" name="Freeform 33"/>
                <p:cNvSpPr/>
                <p:nvPr/>
              </p:nvSpPr>
              <p:spPr>
                <a:xfrm>
                  <a:off x="6443662" y="5067300"/>
                  <a:ext cx="47625" cy="63500"/>
                </a:xfrm>
                <a:custGeom>
                  <a:avLst/>
                  <a:gdLst/>
                  <a:ahLst/>
                  <a:cxnLst/>
                  <a:rect l="l" t="t" r="r" b="b"/>
                  <a:pathLst>
                    <a:path w="47625" h="63500">
                      <a:moveTo>
                        <a:pt x="0" y="7938"/>
                      </a:moveTo>
                      <a:cubicBezTo>
                        <a:pt x="0" y="3554"/>
                        <a:pt x="3554" y="0"/>
                        <a:pt x="7938" y="0"/>
                      </a:cubicBezTo>
                      <a:lnTo>
                        <a:pt x="39687" y="0"/>
                      </a:lnTo>
                      <a:cubicBezTo>
                        <a:pt x="44071" y="0"/>
                        <a:pt x="47625" y="3554"/>
                        <a:pt x="47625" y="7938"/>
                      </a:cubicBezTo>
                      <a:lnTo>
                        <a:pt x="47625" y="55563"/>
                      </a:lnTo>
                      <a:cubicBezTo>
                        <a:pt x="47625" y="59946"/>
                        <a:pt x="44071" y="63500"/>
                        <a:pt x="39687" y="63500"/>
                      </a:cubicBezTo>
                      <a:lnTo>
                        <a:pt x="7938" y="63500"/>
                      </a:lnTo>
                      <a:cubicBezTo>
                        <a:pt x="3554" y="63500"/>
                        <a:pt x="0" y="59946"/>
                        <a:pt x="0" y="55563"/>
                      </a:cubicBezTo>
                      <a:lnTo>
                        <a:pt x="0" y="7938"/>
                      </a:lnTo>
                    </a:path>
                  </a:pathLst>
                </a:custGeom>
                <a:noFill/>
                <a:ln w="19050">
                  <a:solidFill>
                    <a:srgbClr val="F18F01"/>
                  </a:solidFill>
                </a:ln>
              </p:spPr>
            </p:sp>
            <p:sp>
              <p:nvSpPr>
                <p:cNvPr id="34" name="Freeform 34"/>
                <p:cNvSpPr/>
                <p:nvPr/>
              </p:nvSpPr>
              <p:spPr>
                <a:xfrm>
                  <a:off x="6538912" y="5035550"/>
                  <a:ext cx="47625" cy="95250"/>
                </a:xfrm>
                <a:custGeom>
                  <a:avLst/>
                  <a:gdLst/>
                  <a:ahLst/>
                  <a:cxnLst/>
                  <a:rect l="l" t="t" r="r" b="b"/>
                  <a:pathLst>
                    <a:path w="47625" h="95250">
                      <a:moveTo>
                        <a:pt x="0" y="7938"/>
                      </a:moveTo>
                      <a:cubicBezTo>
                        <a:pt x="0" y="3554"/>
                        <a:pt x="3554" y="0"/>
                        <a:pt x="7938" y="0"/>
                      </a:cubicBezTo>
                      <a:lnTo>
                        <a:pt x="39687" y="0"/>
                      </a:lnTo>
                      <a:cubicBezTo>
                        <a:pt x="44071" y="0"/>
                        <a:pt x="47625" y="3554"/>
                        <a:pt x="47625" y="7938"/>
                      </a:cubicBezTo>
                      <a:lnTo>
                        <a:pt x="47625" y="87313"/>
                      </a:lnTo>
                      <a:cubicBezTo>
                        <a:pt x="47625" y="91696"/>
                        <a:pt x="44071" y="95250"/>
                        <a:pt x="39687" y="95250"/>
                      </a:cubicBezTo>
                      <a:lnTo>
                        <a:pt x="7938" y="95250"/>
                      </a:lnTo>
                      <a:cubicBezTo>
                        <a:pt x="3554" y="95250"/>
                        <a:pt x="0" y="91696"/>
                        <a:pt x="0" y="87313"/>
                      </a:cubicBezTo>
                      <a:lnTo>
                        <a:pt x="0" y="7938"/>
                      </a:lnTo>
                    </a:path>
                  </a:pathLst>
                </a:custGeom>
                <a:noFill/>
                <a:ln w="19050">
                  <a:solidFill>
                    <a:srgbClr val="F18F01"/>
                  </a:solidFill>
                </a:ln>
              </p:spPr>
            </p:sp>
            <p:sp>
              <p:nvSpPr>
                <p:cNvPr id="35" name="Freeform 35"/>
                <p:cNvSpPr/>
                <p:nvPr/>
              </p:nvSpPr>
              <p:spPr>
                <a:xfrm>
                  <a:off x="6491288" y="5003800"/>
                  <a:ext cx="47625" cy="127000"/>
                </a:xfrm>
                <a:custGeom>
                  <a:avLst/>
                  <a:gdLst/>
                  <a:ahLst/>
                  <a:cxnLst/>
                  <a:rect l="l" t="t" r="r" b="b"/>
                  <a:pathLst>
                    <a:path w="47625" h="127000">
                      <a:moveTo>
                        <a:pt x="0" y="7937"/>
                      </a:moveTo>
                      <a:cubicBezTo>
                        <a:pt x="0" y="3554"/>
                        <a:pt x="3554" y="0"/>
                        <a:pt x="7938" y="0"/>
                      </a:cubicBezTo>
                      <a:lnTo>
                        <a:pt x="39687" y="0"/>
                      </a:lnTo>
                      <a:cubicBezTo>
                        <a:pt x="44071" y="0"/>
                        <a:pt x="47625" y="3554"/>
                        <a:pt x="47625" y="7937"/>
                      </a:cubicBezTo>
                      <a:lnTo>
                        <a:pt x="47625" y="119062"/>
                      </a:lnTo>
                      <a:cubicBezTo>
                        <a:pt x="47625" y="123446"/>
                        <a:pt x="44071" y="127000"/>
                        <a:pt x="39687" y="127000"/>
                      </a:cubicBezTo>
                      <a:lnTo>
                        <a:pt x="7938" y="127000"/>
                      </a:lnTo>
                      <a:cubicBezTo>
                        <a:pt x="3554" y="127000"/>
                        <a:pt x="0" y="123446"/>
                        <a:pt x="0" y="119062"/>
                      </a:cubicBezTo>
                      <a:lnTo>
                        <a:pt x="0" y="7937"/>
                      </a:lnTo>
                    </a:path>
                  </a:pathLst>
                </a:custGeom>
                <a:noFill/>
                <a:ln w="19050">
                  <a:solidFill>
                    <a:srgbClr val="F18F01"/>
                  </a:solidFill>
                </a:ln>
              </p:spPr>
            </p:sp>
            <p:sp>
              <p:nvSpPr>
                <p:cNvPr id="36" name="Freeform 36"/>
                <p:cNvSpPr/>
                <p:nvPr/>
              </p:nvSpPr>
              <p:spPr>
                <a:xfrm>
                  <a:off x="6451600" y="5130800"/>
                  <a:ext cx="111125" cy="9525"/>
                </a:xfrm>
                <a:custGeom>
                  <a:avLst/>
                  <a:gdLst/>
                  <a:ahLst/>
                  <a:cxnLst/>
                  <a:rect l="l" t="t" r="r" b="b"/>
                  <a:pathLst>
                    <a:path w="111125" h="9525">
                      <a:moveTo>
                        <a:pt x="0" y="0"/>
                      </a:moveTo>
                      <a:lnTo>
                        <a:pt x="111125" y="0"/>
                      </a:lnTo>
                    </a:path>
                  </a:pathLst>
                </a:custGeom>
                <a:noFill/>
                <a:ln w="19050">
                  <a:solidFill>
                    <a:srgbClr val="F18F01"/>
                  </a:solidFill>
                </a:ln>
              </p:spPr>
            </p:sp>
          </p:grpSp>
          <p:sp>
            <p:nvSpPr>
              <p:cNvPr id="38" name="TextBox 38"/>
              <p:cNvSpPr txBox="1"/>
              <p:nvPr/>
            </p:nvSpPr>
            <p:spPr>
              <a:xfrm>
                <a:off x="6673215" y="5011102"/>
                <a:ext cx="1739434" cy="213360"/>
              </a:xfrm>
              <a:prstGeom prst="rect">
                <a:avLst/>
              </a:prstGeom>
              <a:noFill/>
              <a:ln>
                <a:noFill/>
              </a:ln>
            </p:spPr>
            <p:txBody>
              <a:bodyPr wrap="none" lIns="0" tIns="0" rIns="0" bIns="0" anchor="t" anchorCtr="0">
                <a:spAutoFit/>
              </a:bodyPr>
              <a:lstStyle/>
              <a:p>
                <a:pPr algn="l"/>
                <a:r>
                  <a:rPr lang="zh-CN" sz="1050" b="1" dirty="0">
                    <a:solidFill>
                      <a:srgbClr val="F18F01"/>
                    </a:solidFill>
                    <a:latin typeface="Arial"/>
                    <a:ea typeface="Microsoft YaHei"/>
                    <a:cs typeface="Arial"/>
                  </a:rPr>
                  <a:t>极端幂律分布 · Gini &gt; 0.5</a:t>
                </a:r>
              </a:p>
            </p:txBody>
          </p:sp>
        </p:grpSp>
        <p:sp>
          <p:nvSpPr>
            <p:cNvPr id="40" name="TextBox 40"/>
            <p:cNvSpPr txBox="1"/>
            <p:nvPr/>
          </p:nvSpPr>
          <p:spPr>
            <a:xfrm>
              <a:off x="6407468" y="5190649"/>
              <a:ext cx="4471321" cy="198120"/>
            </a:xfrm>
            <a:prstGeom prst="rect">
              <a:avLst/>
            </a:prstGeom>
            <a:noFill/>
            <a:ln>
              <a:noFill/>
            </a:ln>
          </p:spPr>
          <p:txBody>
            <a:bodyPr wrap="none" lIns="0" tIns="0" rIns="0" bIns="0" anchor="t" anchorCtr="0">
              <a:spAutoFit/>
            </a:bodyPr>
            <a:lstStyle/>
            <a:p>
              <a:pPr algn="l"/>
              <a:r>
                <a:rPr lang="zh-CN" sz="975" dirty="0">
                  <a:solidFill>
                    <a:srgbClr val="E74C3C"/>
                  </a:solidFill>
                  <a:latin typeface="Arial"/>
                  <a:ea typeface="Microsoft YaHei"/>
                  <a:cs typeface="Arial"/>
                </a:rPr>
                <a:t>Top 1% 游戏占据 30-50% 推荐量，尾部游戏"沉默的大多数"——冷启动问题严峻</a:t>
              </a:r>
            </a:p>
          </p:txBody>
        </p:sp>
      </p:grpSp>
      <p:grpSp>
        <p:nvGrpSpPr>
          <p:cNvPr id="46" name="Group 46"/>
          <p:cNvGrpSpPr/>
          <p:nvPr/>
        </p:nvGrpSpPr>
        <p:grpSpPr>
          <a:xfrm>
            <a:off x="571500" y="5572125"/>
            <a:ext cx="11049000" cy="466725"/>
            <a:chOff x="571500" y="5572125"/>
            <a:chExt cx="11049000" cy="466725"/>
          </a:xfrm>
        </p:grpSpPr>
        <p:sp>
          <p:nvSpPr>
            <p:cNvPr id="42" name="Rectangle 42"/>
            <p:cNvSpPr/>
            <p:nvPr/>
          </p:nvSpPr>
          <p:spPr>
            <a:xfrm>
              <a:off x="571500" y="5572125"/>
              <a:ext cx="11049000" cy="457200"/>
            </a:xfrm>
            <a:prstGeom prst="roundRect">
              <a:avLst>
                <a:gd name="adj" fmla="val 12500"/>
              </a:avLst>
            </a:prstGeom>
            <a:solidFill>
              <a:srgbClr val="1A3A5C">
                <a:alpha val="5000"/>
              </a:srgbClr>
            </a:solidFill>
            <a:ln>
              <a:noFill/>
            </a:ln>
          </p:spPr>
        </p:sp>
        <p:sp>
          <p:nvSpPr>
            <p:cNvPr id="43" name="Rectangle 43"/>
            <p:cNvSpPr/>
            <p:nvPr/>
          </p:nvSpPr>
          <p:spPr>
            <a:xfrm>
              <a:off x="571500" y="5572125"/>
              <a:ext cx="38100" cy="457200"/>
            </a:xfrm>
            <a:prstGeom prst="roundRect">
              <a:avLst>
                <a:gd name="adj" fmla="val 50000"/>
              </a:avLst>
            </a:prstGeom>
            <a:solidFill>
              <a:srgbClr val="F18F01"/>
            </a:solidFill>
            <a:ln>
              <a:noFill/>
            </a:ln>
          </p:spPr>
        </p:sp>
        <p:sp>
          <p:nvSpPr>
            <p:cNvPr id="44" name="TextBox 44"/>
            <p:cNvSpPr txBox="1"/>
            <p:nvPr/>
          </p:nvSpPr>
          <p:spPr>
            <a:xfrm>
              <a:off x="797242" y="5685949"/>
              <a:ext cx="707350"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核心洞察：</a:t>
              </a:r>
            </a:p>
          </p:txBody>
        </p:sp>
        <p:sp>
          <p:nvSpPr>
            <p:cNvPr id="45" name="TextBox 45"/>
            <p:cNvSpPr txBox="1"/>
            <p:nvPr/>
          </p:nvSpPr>
          <p:spPr>
            <a:xfrm>
              <a:off x="798195" y="5855970"/>
              <a:ext cx="631164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Indie + 热门类型组合是最优入场策略；幂律市场结构意味着自然流量几乎被头部垄断，新游戏冷启动必须依赖平台干预</a:t>
              </a:r>
            </a:p>
          </p:txBody>
        </p:sp>
      </p:grpSp>
      <p:sp>
        <p:nvSpPr>
          <p:cNvPr id="47" name="TextBox 47"/>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4)">
                                      <p:cBhvr>
                                        <p:cTn id="7" dur="400"/>
                                        <p:tgtEl>
                                          <p:spTgt spid="10"/>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image">
                                      <p:cBhvr>
                                        <p:cTn id="11" dur="400"/>
                                        <p:tgtEl>
                                          <p:spTgt spid="14"/>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dissolve">
                                      <p:cBhvr>
                                        <p:cTn id="15" dur="400"/>
                                        <p:tgtEl>
                                          <p:spTgt spid="18"/>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Bottom)">
                                      <p:cBhvr>
                                        <p:cTn id="19" dur="400"/>
                                        <p:tgtEl>
                                          <p:spTgt spid="41"/>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image">
                                      <p:cBhvr>
                                        <p:cTn id="23"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8" grpId="0"/>
      <p:bldP spid="41"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157538" cy="510064"/>
            <a:chOff x="571500" y="268605"/>
            <a:chExt cx="3157538"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2993708"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用户行为：活跃度分布</a:t>
              </a:r>
            </a:p>
          </p:txBody>
        </p:sp>
        <p:sp>
          <p:nvSpPr>
            <p:cNvPr id="5" name="TextBox 5"/>
            <p:cNvSpPr txBox="1"/>
            <p:nvPr/>
          </p:nvSpPr>
          <p:spPr>
            <a:xfrm>
              <a:off x="749618" y="580549"/>
              <a:ext cx="1123402"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Q2 — 用户行为画像</a:t>
              </a:r>
            </a:p>
          </p:txBody>
        </p:sp>
      </p:grpSp>
      <p:grpSp>
        <p:nvGrpSpPr>
          <p:cNvPr id="10" name="Group 10"/>
          <p:cNvGrpSpPr/>
          <p:nvPr/>
        </p:nvGrpSpPr>
        <p:grpSpPr>
          <a:xfrm>
            <a:off x="571500" y="952500"/>
            <a:ext cx="11049000" cy="2095500"/>
            <a:chOff x="571500" y="952500"/>
            <a:chExt cx="11049000" cy="2095500"/>
          </a:xfrm>
        </p:grpSpPr>
        <p:sp>
          <p:nvSpPr>
            <p:cNvPr id="7" name="Rectangle 7"/>
            <p:cNvSpPr/>
            <p:nvPr/>
          </p:nvSpPr>
          <p:spPr>
            <a:xfrm>
              <a:off x="571500" y="952500"/>
              <a:ext cx="11049000" cy="2095500"/>
            </a:xfrm>
            <a:prstGeom prst="roundRect">
              <a:avLst>
                <a:gd name="adj" fmla="val 2727"/>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3651250" y="952500"/>
              <a:ext cx="4889500" cy="2095500"/>
            </a:xfrm>
            <a:prstGeom prst="rect">
              <a:avLst/>
            </a:prstGeom>
          </p:spPr>
        </p:pic>
        <p:sp>
          <p:nvSpPr>
            <p:cNvPr id="9" name="TextBox 9"/>
            <p:cNvSpPr txBox="1"/>
            <p:nvPr/>
          </p:nvSpPr>
          <p:spPr>
            <a:xfrm>
              <a:off x="5285172" y="2863691"/>
              <a:ext cx="1621655"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图：用户评论数/购买数双直方图</a:t>
              </a:r>
            </a:p>
          </p:txBody>
        </p:sp>
      </p:grpSp>
      <p:grpSp>
        <p:nvGrpSpPr>
          <p:cNvPr id="14" name="Group 14"/>
          <p:cNvGrpSpPr/>
          <p:nvPr/>
        </p:nvGrpSpPr>
        <p:grpSpPr>
          <a:xfrm>
            <a:off x="571500" y="3190875"/>
            <a:ext cx="5334000" cy="2000250"/>
            <a:chOff x="571500" y="3190875"/>
            <a:chExt cx="5334000" cy="2000250"/>
          </a:xfrm>
        </p:grpSpPr>
        <p:sp>
          <p:nvSpPr>
            <p:cNvPr id="11" name="Rectangle 11"/>
            <p:cNvSpPr/>
            <p:nvPr/>
          </p:nvSpPr>
          <p:spPr>
            <a:xfrm>
              <a:off x="571500" y="3190875"/>
              <a:ext cx="5334000" cy="2000250"/>
            </a:xfrm>
            <a:prstGeom prst="roundRect">
              <a:avLst>
                <a:gd name="adj" fmla="val 2857"/>
              </a:avLst>
            </a:prstGeom>
            <a:solidFill>
              <a:srgbClr val="FFFFFF"/>
            </a:solidFill>
            <a:ln w="9525">
              <a:solidFill>
                <a:srgbClr val="DFE6E9"/>
              </a:solidFill>
            </a:ln>
          </p:spPr>
        </p:sp>
        <p:pic>
          <p:nvPicPr>
            <p:cNvPr id="12" name="Image 12"/>
            <p:cNvPicPr>
              <a:picLocks noChangeAspect="1"/>
            </p:cNvPicPr>
            <p:nvPr/>
          </p:nvPicPr>
          <p:blipFill>
            <a:blip r:embed="rId3"/>
            <a:stretch>
              <a:fillRect/>
            </a:stretch>
          </p:blipFill>
          <p:spPr>
            <a:xfrm>
              <a:off x="1988344" y="3190875"/>
              <a:ext cx="2500312" cy="2000250"/>
            </a:xfrm>
            <a:prstGeom prst="rect">
              <a:avLst/>
            </a:prstGeom>
          </p:spPr>
        </p:pic>
        <p:sp>
          <p:nvSpPr>
            <p:cNvPr id="13" name="TextBox 13"/>
            <p:cNvSpPr txBox="1"/>
            <p:nvPr/>
          </p:nvSpPr>
          <p:spPr>
            <a:xfrm>
              <a:off x="2622947" y="4987766"/>
              <a:ext cx="1231106"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图：用户活跃度四层分类</a:t>
              </a:r>
            </a:p>
          </p:txBody>
        </p:sp>
      </p:grpSp>
      <p:grpSp>
        <p:nvGrpSpPr>
          <p:cNvPr id="34" name="Group 34"/>
          <p:cNvGrpSpPr/>
          <p:nvPr/>
        </p:nvGrpSpPr>
        <p:grpSpPr>
          <a:xfrm>
            <a:off x="6191250" y="3190875"/>
            <a:ext cx="5286375" cy="2000250"/>
            <a:chOff x="6191250" y="3190875"/>
            <a:chExt cx="5286375" cy="2000250"/>
          </a:xfrm>
        </p:grpSpPr>
        <p:sp>
          <p:nvSpPr>
            <p:cNvPr id="15" name="Rectangle 15"/>
            <p:cNvSpPr/>
            <p:nvPr/>
          </p:nvSpPr>
          <p:spPr>
            <a:xfrm>
              <a:off x="6191250" y="3190875"/>
              <a:ext cx="5286375" cy="2000250"/>
            </a:xfrm>
            <a:prstGeom prst="roundRect">
              <a:avLst>
                <a:gd name="adj" fmla="val 3810"/>
              </a:avLst>
            </a:prstGeom>
            <a:solidFill>
              <a:srgbClr val="FFFFFF"/>
            </a:solidFill>
            <a:ln w="9525">
              <a:solidFill>
                <a:srgbClr val="DFE6E9"/>
              </a:solidFill>
            </a:ln>
          </p:spPr>
        </p:sp>
        <p:sp>
          <p:nvSpPr>
            <p:cNvPr id="16" name="Rectangle 16"/>
            <p:cNvSpPr/>
            <p:nvPr/>
          </p:nvSpPr>
          <p:spPr>
            <a:xfrm>
              <a:off x="6191250" y="3190875"/>
              <a:ext cx="5286375" cy="38100"/>
            </a:xfrm>
            <a:prstGeom prst="roundRect">
              <a:avLst>
                <a:gd name="adj" fmla="val 50000"/>
              </a:avLst>
            </a:prstGeom>
            <a:gradFill>
              <a:gsLst>
                <a:gs pos="0">
                  <a:srgbClr val="1A3A5C"/>
                </a:gs>
                <a:gs pos="100000">
                  <a:srgbClr val="2E86AB"/>
                </a:gs>
              </a:gsLst>
              <a:lin ang="0" scaled="1"/>
            </a:gradFill>
            <a:ln>
              <a:noFill/>
            </a:ln>
          </p:spPr>
        </p:sp>
        <p:sp>
          <p:nvSpPr>
            <p:cNvPr id="17" name="TextBox 17"/>
            <p:cNvSpPr txBox="1"/>
            <p:nvPr/>
          </p:nvSpPr>
          <p:spPr>
            <a:xfrm>
              <a:off x="6443662" y="3355181"/>
              <a:ext cx="1131213"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四层活跃度分类</a:t>
              </a:r>
            </a:p>
          </p:txBody>
        </p:sp>
        <p:grpSp>
          <p:nvGrpSpPr>
            <p:cNvPr id="21" name="Group 21"/>
            <p:cNvGrpSpPr/>
            <p:nvPr/>
          </p:nvGrpSpPr>
          <p:grpSpPr>
            <a:xfrm>
              <a:off x="6457950" y="3667125"/>
              <a:ext cx="3577209" cy="273844"/>
              <a:chOff x="6457950" y="3667125"/>
              <a:chExt cx="3577209" cy="273844"/>
            </a:xfrm>
          </p:grpSpPr>
          <p:sp>
            <p:nvSpPr>
              <p:cNvPr id="18" name="Rectangle 18"/>
              <p:cNvSpPr/>
              <p:nvPr/>
            </p:nvSpPr>
            <p:spPr>
              <a:xfrm>
                <a:off x="6457950" y="3667125"/>
                <a:ext cx="1143000" cy="266700"/>
              </a:xfrm>
              <a:prstGeom prst="roundRect">
                <a:avLst>
                  <a:gd name="adj" fmla="val 14286"/>
                </a:avLst>
              </a:prstGeom>
              <a:solidFill>
                <a:srgbClr val="1A3A5C">
                  <a:alpha val="10000"/>
                </a:srgbClr>
              </a:solidFill>
              <a:ln>
                <a:noFill/>
              </a:ln>
            </p:spPr>
          </p:sp>
          <p:sp>
            <p:nvSpPr>
              <p:cNvPr id="19" name="TextBox 19"/>
              <p:cNvSpPr txBox="1"/>
              <p:nvPr/>
            </p:nvSpPr>
            <p:spPr>
              <a:xfrm>
                <a:off x="6578918" y="3742849"/>
                <a:ext cx="434316"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低活跃</a:t>
                </a:r>
              </a:p>
            </p:txBody>
          </p:sp>
          <p:sp>
            <p:nvSpPr>
              <p:cNvPr id="20" name="TextBox 20"/>
              <p:cNvSpPr txBox="1"/>
              <p:nvPr/>
            </p:nvSpPr>
            <p:spPr>
              <a:xfrm>
                <a:off x="7780020" y="3750945"/>
                <a:ext cx="2255139"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1-3 条评论 · 占比 50-60% · 沉默的大多数</a:t>
                </a:r>
              </a:p>
            </p:txBody>
          </p:sp>
        </p:grpSp>
        <p:grpSp>
          <p:nvGrpSpPr>
            <p:cNvPr id="25" name="Group 25"/>
            <p:cNvGrpSpPr/>
            <p:nvPr/>
          </p:nvGrpSpPr>
          <p:grpSpPr>
            <a:xfrm>
              <a:off x="6457950" y="4000500"/>
              <a:ext cx="2785110" cy="273844"/>
              <a:chOff x="6457950" y="4000500"/>
              <a:chExt cx="2785110" cy="273844"/>
            </a:xfrm>
          </p:grpSpPr>
          <p:sp>
            <p:nvSpPr>
              <p:cNvPr id="22" name="Rectangle 22"/>
              <p:cNvSpPr/>
              <p:nvPr/>
            </p:nvSpPr>
            <p:spPr>
              <a:xfrm>
                <a:off x="6457950" y="4000500"/>
                <a:ext cx="1143000" cy="266700"/>
              </a:xfrm>
              <a:prstGeom prst="roundRect">
                <a:avLst>
                  <a:gd name="adj" fmla="val 14286"/>
                </a:avLst>
              </a:prstGeom>
              <a:solidFill>
                <a:srgbClr val="2E86AB">
                  <a:alpha val="10000"/>
                </a:srgbClr>
              </a:solidFill>
              <a:ln>
                <a:noFill/>
              </a:ln>
            </p:spPr>
          </p:sp>
          <p:sp>
            <p:nvSpPr>
              <p:cNvPr id="23" name="TextBox 23"/>
              <p:cNvSpPr txBox="1"/>
              <p:nvPr/>
            </p:nvSpPr>
            <p:spPr>
              <a:xfrm>
                <a:off x="6578918" y="4076224"/>
                <a:ext cx="434316" cy="198120"/>
              </a:xfrm>
              <a:prstGeom prst="rect">
                <a:avLst/>
              </a:prstGeom>
              <a:noFill/>
              <a:ln>
                <a:noFill/>
              </a:ln>
            </p:spPr>
            <p:txBody>
              <a:bodyPr wrap="none" lIns="0" tIns="0" rIns="0" bIns="0" anchor="t" anchorCtr="0">
                <a:spAutoFit/>
              </a:bodyPr>
              <a:lstStyle/>
              <a:p>
                <a:pPr algn="l"/>
                <a:r>
                  <a:rPr lang="zh-CN" sz="975" b="1" dirty="0">
                    <a:solidFill>
                      <a:srgbClr val="2E86AB"/>
                    </a:solidFill>
                    <a:latin typeface="Arial"/>
                    <a:ea typeface="Microsoft YaHei"/>
                    <a:cs typeface="Arial"/>
                  </a:rPr>
                  <a:t>中活跃</a:t>
                </a:r>
              </a:p>
            </p:txBody>
          </p:sp>
          <p:sp>
            <p:nvSpPr>
              <p:cNvPr id="24" name="TextBox 24"/>
              <p:cNvSpPr txBox="1"/>
              <p:nvPr/>
            </p:nvSpPr>
            <p:spPr>
              <a:xfrm>
                <a:off x="7780020" y="4084320"/>
                <a:ext cx="146304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4-15 条评论 · 占比 25-30%</a:t>
                </a:r>
              </a:p>
            </p:txBody>
          </p:sp>
        </p:grpSp>
        <p:grpSp>
          <p:nvGrpSpPr>
            <p:cNvPr id="29" name="Group 29"/>
            <p:cNvGrpSpPr/>
            <p:nvPr/>
          </p:nvGrpSpPr>
          <p:grpSpPr>
            <a:xfrm>
              <a:off x="6457950" y="4333875"/>
              <a:ext cx="2791111" cy="273844"/>
              <a:chOff x="6457950" y="4333875"/>
              <a:chExt cx="2791111" cy="273844"/>
            </a:xfrm>
          </p:grpSpPr>
          <p:sp>
            <p:nvSpPr>
              <p:cNvPr id="26" name="Rectangle 26"/>
              <p:cNvSpPr/>
              <p:nvPr/>
            </p:nvSpPr>
            <p:spPr>
              <a:xfrm>
                <a:off x="6457950" y="4333875"/>
                <a:ext cx="1143000" cy="266700"/>
              </a:xfrm>
              <a:prstGeom prst="roundRect">
                <a:avLst>
                  <a:gd name="adj" fmla="val 14286"/>
                </a:avLst>
              </a:prstGeom>
              <a:solidFill>
                <a:srgbClr val="F18F01">
                  <a:alpha val="10000"/>
                </a:srgbClr>
              </a:solidFill>
              <a:ln>
                <a:noFill/>
              </a:ln>
            </p:spPr>
          </p:sp>
          <p:sp>
            <p:nvSpPr>
              <p:cNvPr id="27" name="TextBox 27"/>
              <p:cNvSpPr txBox="1"/>
              <p:nvPr/>
            </p:nvSpPr>
            <p:spPr>
              <a:xfrm>
                <a:off x="6578918" y="4409599"/>
                <a:ext cx="434316" cy="198120"/>
              </a:xfrm>
              <a:prstGeom prst="rect">
                <a:avLst/>
              </a:prstGeom>
              <a:noFill/>
              <a:ln>
                <a:noFill/>
              </a:ln>
            </p:spPr>
            <p:txBody>
              <a:bodyPr wrap="none" lIns="0" tIns="0" rIns="0" bIns="0" anchor="t" anchorCtr="0">
                <a:spAutoFit/>
              </a:bodyPr>
              <a:lstStyle/>
              <a:p>
                <a:pPr algn="l"/>
                <a:r>
                  <a:rPr lang="zh-CN" sz="975" b="1" dirty="0">
                    <a:solidFill>
                      <a:srgbClr val="F18F01"/>
                    </a:solidFill>
                    <a:latin typeface="Arial"/>
                    <a:ea typeface="Microsoft YaHei"/>
                    <a:cs typeface="Arial"/>
                  </a:rPr>
                  <a:t>高活跃</a:t>
                </a:r>
              </a:p>
            </p:txBody>
          </p:sp>
          <p:sp>
            <p:nvSpPr>
              <p:cNvPr id="28" name="TextBox 28"/>
              <p:cNvSpPr txBox="1"/>
              <p:nvPr/>
            </p:nvSpPr>
            <p:spPr>
              <a:xfrm>
                <a:off x="7780020" y="4417695"/>
                <a:ext cx="1469041"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16-50 条评论 · 占比 10-15%</a:t>
                </a:r>
              </a:p>
            </p:txBody>
          </p:sp>
        </p:grpSp>
        <p:grpSp>
          <p:nvGrpSpPr>
            <p:cNvPr id="33" name="Group 33"/>
            <p:cNvGrpSpPr/>
            <p:nvPr/>
          </p:nvGrpSpPr>
          <p:grpSpPr>
            <a:xfrm>
              <a:off x="6457950" y="4667250"/>
              <a:ext cx="3445192" cy="273844"/>
              <a:chOff x="6457950" y="4667250"/>
              <a:chExt cx="3445192" cy="273844"/>
            </a:xfrm>
          </p:grpSpPr>
          <p:sp>
            <p:nvSpPr>
              <p:cNvPr id="30" name="Rectangle 30"/>
              <p:cNvSpPr/>
              <p:nvPr/>
            </p:nvSpPr>
            <p:spPr>
              <a:xfrm>
                <a:off x="6457950" y="4667250"/>
                <a:ext cx="1143000" cy="266700"/>
              </a:xfrm>
              <a:prstGeom prst="roundRect">
                <a:avLst>
                  <a:gd name="adj" fmla="val 14286"/>
                </a:avLst>
              </a:prstGeom>
              <a:solidFill>
                <a:srgbClr val="E74C3C">
                  <a:alpha val="10000"/>
                </a:srgbClr>
              </a:solidFill>
              <a:ln>
                <a:noFill/>
              </a:ln>
            </p:spPr>
          </p:sp>
          <p:sp>
            <p:nvSpPr>
              <p:cNvPr id="31" name="TextBox 31"/>
              <p:cNvSpPr txBox="1"/>
              <p:nvPr/>
            </p:nvSpPr>
            <p:spPr>
              <a:xfrm>
                <a:off x="6578918" y="4742974"/>
                <a:ext cx="570833" cy="198120"/>
              </a:xfrm>
              <a:prstGeom prst="rect">
                <a:avLst/>
              </a:prstGeom>
              <a:noFill/>
              <a:ln>
                <a:noFill/>
              </a:ln>
            </p:spPr>
            <p:txBody>
              <a:bodyPr wrap="none" lIns="0" tIns="0" rIns="0" bIns="0" anchor="t" anchorCtr="0">
                <a:spAutoFit/>
              </a:bodyPr>
              <a:lstStyle/>
              <a:p>
                <a:pPr algn="l"/>
                <a:r>
                  <a:rPr lang="zh-CN" sz="975" b="1" dirty="0">
                    <a:solidFill>
                      <a:srgbClr val="E74C3C"/>
                    </a:solidFill>
                    <a:latin typeface="Arial"/>
                    <a:ea typeface="Microsoft YaHei"/>
                    <a:cs typeface="Arial"/>
                  </a:rPr>
                  <a:t>极高活跃</a:t>
                </a:r>
              </a:p>
            </p:txBody>
          </p:sp>
          <p:sp>
            <p:nvSpPr>
              <p:cNvPr id="32" name="TextBox 32"/>
              <p:cNvSpPr txBox="1"/>
              <p:nvPr/>
            </p:nvSpPr>
            <p:spPr>
              <a:xfrm>
                <a:off x="7780020" y="4751070"/>
                <a:ext cx="212312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50+ 条评论 · 占比 1-3% · 主导训练数据</a:t>
                </a:r>
              </a:p>
            </p:txBody>
          </p:sp>
        </p:grpSp>
      </p:grpSp>
      <p:grpSp>
        <p:nvGrpSpPr>
          <p:cNvPr id="39" name="Group 39"/>
          <p:cNvGrpSpPr/>
          <p:nvPr/>
        </p:nvGrpSpPr>
        <p:grpSpPr>
          <a:xfrm>
            <a:off x="571500" y="5429250"/>
            <a:ext cx="11049000" cy="466725"/>
            <a:chOff x="571500" y="5429250"/>
            <a:chExt cx="11049000" cy="466725"/>
          </a:xfrm>
        </p:grpSpPr>
        <p:sp>
          <p:nvSpPr>
            <p:cNvPr id="35" name="Rectangle 35"/>
            <p:cNvSpPr/>
            <p:nvPr/>
          </p:nvSpPr>
          <p:spPr>
            <a:xfrm>
              <a:off x="571500" y="5429250"/>
              <a:ext cx="11049000" cy="457200"/>
            </a:xfrm>
            <a:prstGeom prst="roundRect">
              <a:avLst>
                <a:gd name="adj" fmla="val 12500"/>
              </a:avLst>
            </a:prstGeom>
            <a:solidFill>
              <a:srgbClr val="1A3A5C">
                <a:alpha val="5000"/>
              </a:srgbClr>
            </a:solidFill>
            <a:ln>
              <a:noFill/>
            </a:ln>
          </p:spPr>
        </p:sp>
        <p:sp>
          <p:nvSpPr>
            <p:cNvPr id="36" name="Rectangle 36"/>
            <p:cNvSpPr/>
            <p:nvPr/>
          </p:nvSpPr>
          <p:spPr>
            <a:xfrm>
              <a:off x="571500" y="5429250"/>
              <a:ext cx="38100" cy="457200"/>
            </a:xfrm>
            <a:prstGeom prst="roundRect">
              <a:avLst>
                <a:gd name="adj" fmla="val 50000"/>
              </a:avLst>
            </a:prstGeom>
            <a:solidFill>
              <a:srgbClr val="1A3A5C"/>
            </a:solidFill>
            <a:ln>
              <a:noFill/>
            </a:ln>
          </p:spPr>
        </p:sp>
        <p:sp>
          <p:nvSpPr>
            <p:cNvPr id="37" name="TextBox 37"/>
            <p:cNvSpPr txBox="1"/>
            <p:nvPr/>
          </p:nvSpPr>
          <p:spPr>
            <a:xfrm>
              <a:off x="797242" y="5543074"/>
              <a:ext cx="707350"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核心洞察：</a:t>
              </a:r>
            </a:p>
          </p:txBody>
        </p:sp>
        <p:sp>
          <p:nvSpPr>
            <p:cNvPr id="38" name="TextBox 38"/>
            <p:cNvSpPr txBox="1"/>
            <p:nvPr/>
          </p:nvSpPr>
          <p:spPr>
            <a:xfrm>
              <a:off x="798195" y="5713095"/>
              <a:ext cx="716375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多数用户"买的多、评的少"。沉默用户（50-60%）的偏好数据是推荐系统最重要的未开发资源——激励他们发表评价可大幅改善模型质量</a:t>
              </a:r>
            </a:p>
          </p:txBody>
        </p:sp>
      </p:grpSp>
      <p:sp>
        <p:nvSpPr>
          <p:cNvPr id="40" name="TextBox 40"/>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400"/>
                                        <p:tgtEl>
                                          <p:spTgt spid="10"/>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heel(4)">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slide(fromBottom)">
                                      <p:cBhvr>
                                        <p:cTn id="15" dur="400"/>
                                        <p:tgtEl>
                                          <p:spTgt spid="3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imag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34"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2863501" cy="510064"/>
            <a:chOff x="571500" y="268605"/>
            <a:chExt cx="2863501"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2699671"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用户行为：评价特征</a:t>
              </a:r>
            </a:p>
          </p:txBody>
        </p:sp>
        <p:sp>
          <p:nvSpPr>
            <p:cNvPr id="5" name="TextBox 5"/>
            <p:cNvSpPr txBox="1"/>
            <p:nvPr/>
          </p:nvSpPr>
          <p:spPr>
            <a:xfrm>
              <a:off x="749618" y="580549"/>
              <a:ext cx="1123402"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Q2 — 用户行为画像</a:t>
              </a:r>
            </a:p>
          </p:txBody>
        </p:sp>
      </p:grpSp>
      <p:grpSp>
        <p:nvGrpSpPr>
          <p:cNvPr id="10" name="Group 10"/>
          <p:cNvGrpSpPr/>
          <p:nvPr/>
        </p:nvGrpSpPr>
        <p:grpSpPr>
          <a:xfrm>
            <a:off x="571500" y="952500"/>
            <a:ext cx="5905500" cy="2476500"/>
            <a:chOff x="571500" y="952500"/>
            <a:chExt cx="5905500" cy="2476500"/>
          </a:xfrm>
        </p:grpSpPr>
        <p:sp>
          <p:nvSpPr>
            <p:cNvPr id="7" name="Rectangle 7"/>
            <p:cNvSpPr/>
            <p:nvPr/>
          </p:nvSpPr>
          <p:spPr>
            <a:xfrm>
              <a:off x="571500" y="952500"/>
              <a:ext cx="5905500" cy="2476500"/>
            </a:xfrm>
            <a:prstGeom prst="roundRect">
              <a:avLst>
                <a:gd name="adj" fmla="val 2308"/>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1460500" y="952500"/>
              <a:ext cx="4127500" cy="2476500"/>
            </a:xfrm>
            <a:prstGeom prst="rect">
              <a:avLst/>
            </a:prstGeom>
          </p:spPr>
        </p:pic>
        <p:sp>
          <p:nvSpPr>
            <p:cNvPr id="9" name="TextBox 9"/>
            <p:cNvSpPr txBox="1"/>
            <p:nvPr/>
          </p:nvSpPr>
          <p:spPr>
            <a:xfrm>
              <a:off x="3018711" y="3225641"/>
              <a:ext cx="1011079"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图：用户推荐率分布</a:t>
              </a:r>
            </a:p>
          </p:txBody>
        </p:sp>
      </p:grpSp>
      <p:grpSp>
        <p:nvGrpSpPr>
          <p:cNvPr id="14" name="Group 14"/>
          <p:cNvGrpSpPr/>
          <p:nvPr/>
        </p:nvGrpSpPr>
        <p:grpSpPr>
          <a:xfrm>
            <a:off x="6762750" y="952500"/>
            <a:ext cx="4857750" cy="2476500"/>
            <a:chOff x="6762750" y="952500"/>
            <a:chExt cx="4857750" cy="2476500"/>
          </a:xfrm>
        </p:grpSpPr>
        <p:sp>
          <p:nvSpPr>
            <p:cNvPr id="11" name="Rectangle 11"/>
            <p:cNvSpPr/>
            <p:nvPr/>
          </p:nvSpPr>
          <p:spPr>
            <a:xfrm>
              <a:off x="6762750" y="952500"/>
              <a:ext cx="4857750" cy="2476500"/>
            </a:xfrm>
            <a:prstGeom prst="roundRect">
              <a:avLst>
                <a:gd name="adj" fmla="val 2308"/>
              </a:avLst>
            </a:prstGeom>
            <a:solidFill>
              <a:srgbClr val="FFFFFF"/>
            </a:solidFill>
            <a:ln w="9525">
              <a:solidFill>
                <a:srgbClr val="DFE6E9"/>
              </a:solidFill>
            </a:ln>
          </p:spPr>
        </p:sp>
        <p:pic>
          <p:nvPicPr>
            <p:cNvPr id="12" name="Image 12"/>
            <p:cNvPicPr>
              <a:picLocks noChangeAspect="1"/>
            </p:cNvPicPr>
            <p:nvPr/>
          </p:nvPicPr>
          <p:blipFill>
            <a:blip r:embed="rId3"/>
            <a:stretch>
              <a:fillRect/>
            </a:stretch>
          </p:blipFill>
          <p:spPr>
            <a:xfrm>
              <a:off x="7643812" y="952500"/>
              <a:ext cx="3095625" cy="2476500"/>
            </a:xfrm>
            <a:prstGeom prst="rect">
              <a:avLst/>
            </a:prstGeom>
          </p:spPr>
        </p:pic>
        <p:sp>
          <p:nvSpPr>
            <p:cNvPr id="13" name="TextBox 13"/>
            <p:cNvSpPr txBox="1"/>
            <p:nvPr/>
          </p:nvSpPr>
          <p:spPr>
            <a:xfrm>
              <a:off x="8482560" y="3225641"/>
              <a:ext cx="1418130"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图：购买数 vs 评论数散点图</a:t>
              </a:r>
            </a:p>
          </p:txBody>
        </p:sp>
      </p:grpSp>
      <p:grpSp>
        <p:nvGrpSpPr>
          <p:cNvPr id="40" name="Group 40"/>
          <p:cNvGrpSpPr/>
          <p:nvPr/>
        </p:nvGrpSpPr>
        <p:grpSpPr>
          <a:xfrm>
            <a:off x="571500" y="3667125"/>
            <a:ext cx="11049000" cy="1238250"/>
            <a:chOff x="571500" y="3667125"/>
            <a:chExt cx="11049000" cy="1238250"/>
          </a:xfrm>
        </p:grpSpPr>
        <p:sp>
          <p:nvSpPr>
            <p:cNvPr id="15" name="Rectangle 15"/>
            <p:cNvSpPr/>
            <p:nvPr/>
          </p:nvSpPr>
          <p:spPr>
            <a:xfrm>
              <a:off x="571500" y="3667125"/>
              <a:ext cx="2762250" cy="1238250"/>
            </a:xfrm>
            <a:prstGeom prst="roundRect">
              <a:avLst>
                <a:gd name="adj" fmla="val 6154"/>
              </a:avLst>
            </a:prstGeom>
            <a:solidFill>
              <a:srgbClr val="FFFFFF"/>
            </a:solidFill>
            <a:ln w="9525">
              <a:solidFill>
                <a:srgbClr val="DFE6E9"/>
              </a:solidFill>
            </a:ln>
          </p:spPr>
        </p:sp>
        <p:sp>
          <p:nvSpPr>
            <p:cNvPr id="16" name="Rectangle 16"/>
            <p:cNvSpPr/>
            <p:nvPr/>
          </p:nvSpPr>
          <p:spPr>
            <a:xfrm>
              <a:off x="571500" y="3667125"/>
              <a:ext cx="38100" cy="1238250"/>
            </a:xfrm>
            <a:prstGeom prst="roundRect">
              <a:avLst>
                <a:gd name="adj" fmla="val 50000"/>
              </a:avLst>
            </a:prstGeom>
            <a:solidFill>
              <a:srgbClr val="F18F01"/>
            </a:solidFill>
            <a:ln>
              <a:noFill/>
            </a:ln>
          </p:spPr>
        </p:sp>
        <p:sp>
          <p:nvSpPr>
            <p:cNvPr id="17" name="TextBox 17"/>
            <p:cNvSpPr txBox="1"/>
            <p:nvPr/>
          </p:nvSpPr>
          <p:spPr>
            <a:xfrm>
              <a:off x="796290" y="3839528"/>
              <a:ext cx="761762" cy="213360"/>
            </a:xfrm>
            <a:prstGeom prst="rect">
              <a:avLst/>
            </a:prstGeom>
            <a:noFill/>
            <a:ln>
              <a:noFill/>
            </a:ln>
          </p:spPr>
          <p:txBody>
            <a:bodyPr wrap="none" lIns="0" tIns="0" rIns="0" bIns="0" anchor="t" anchorCtr="0">
              <a:spAutoFit/>
            </a:bodyPr>
            <a:lstStyle/>
            <a:p>
              <a:pPr algn="l"/>
              <a:r>
                <a:rPr lang="zh-CN" sz="1050" b="1" dirty="0">
                  <a:solidFill>
                    <a:srgbClr val="F18F01"/>
                  </a:solidFill>
                  <a:latin typeface="Arial"/>
                  <a:ea typeface="Microsoft YaHei"/>
                  <a:cs typeface="Arial"/>
                </a:rPr>
                <a:t>类别不平衡</a:t>
              </a:r>
            </a:p>
          </p:txBody>
        </p:sp>
        <p:sp>
          <p:nvSpPr>
            <p:cNvPr id="18" name="TextBox 18"/>
            <p:cNvSpPr txBox="1"/>
            <p:nvPr/>
          </p:nvSpPr>
          <p:spPr>
            <a:xfrm>
              <a:off x="797242" y="4085749"/>
              <a:ext cx="1357432"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整体推荐率 0.75-0.85</a:t>
              </a:r>
            </a:p>
          </p:txBody>
        </p:sp>
        <p:sp>
          <p:nvSpPr>
            <p:cNvPr id="19" name="TextBox 19"/>
            <p:cNvSpPr txBox="1"/>
            <p:nvPr/>
          </p:nvSpPr>
          <p:spPr>
            <a:xfrm>
              <a:off x="797242" y="4295299"/>
              <a:ext cx="119491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正面评价远多于负面</a:t>
              </a:r>
            </a:p>
          </p:txBody>
        </p:sp>
        <p:sp>
          <p:nvSpPr>
            <p:cNvPr id="20" name="TextBox 20"/>
            <p:cNvSpPr txBox="1"/>
            <p:nvPr/>
          </p:nvSpPr>
          <p:spPr>
            <a:xfrm>
              <a:off x="797242" y="4504849"/>
              <a:ext cx="1415939"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Accuracy 参考价值有限</a:t>
              </a:r>
            </a:p>
          </p:txBody>
        </p:sp>
        <p:sp>
          <p:nvSpPr>
            <p:cNvPr id="21" name="TextBox 21"/>
            <p:cNvSpPr txBox="1"/>
            <p:nvPr/>
          </p:nvSpPr>
          <p:spPr>
            <a:xfrm>
              <a:off x="798195" y="4693920"/>
              <a:ext cx="1199007" cy="182880"/>
            </a:xfrm>
            <a:prstGeom prst="rect">
              <a:avLst/>
            </a:prstGeom>
            <a:noFill/>
            <a:ln>
              <a:noFill/>
            </a:ln>
          </p:spPr>
          <p:txBody>
            <a:bodyPr wrap="none" lIns="0" tIns="0" rIns="0" bIns="0" anchor="t" anchorCtr="0">
              <a:spAutoFit/>
            </a:bodyPr>
            <a:lstStyle/>
            <a:p>
              <a:pPr algn="l"/>
              <a:r>
                <a:rPr lang="zh-CN" sz="900" dirty="0">
                  <a:solidFill>
                    <a:srgbClr val="B2BEC3"/>
                  </a:solidFill>
                  <a:latin typeface="Arial"/>
                  <a:ea typeface="Microsoft YaHei"/>
                  <a:cs typeface="Arial"/>
                </a:rPr>
                <a:t>应关注 ROC-AUC 和 F1</a:t>
              </a:r>
            </a:p>
          </p:txBody>
        </p:sp>
        <p:sp>
          <p:nvSpPr>
            <p:cNvPr id="22" name="Rectangle 22"/>
            <p:cNvSpPr/>
            <p:nvPr/>
          </p:nvSpPr>
          <p:spPr>
            <a:xfrm>
              <a:off x="3524250" y="3667125"/>
              <a:ext cx="2762250" cy="1238250"/>
            </a:xfrm>
            <a:prstGeom prst="roundRect">
              <a:avLst>
                <a:gd name="adj" fmla="val 6154"/>
              </a:avLst>
            </a:prstGeom>
            <a:solidFill>
              <a:srgbClr val="FFFFFF"/>
            </a:solidFill>
            <a:ln w="9525">
              <a:solidFill>
                <a:srgbClr val="DFE6E9"/>
              </a:solidFill>
            </a:ln>
          </p:spPr>
        </p:sp>
        <p:sp>
          <p:nvSpPr>
            <p:cNvPr id="23" name="Rectangle 23"/>
            <p:cNvSpPr/>
            <p:nvPr/>
          </p:nvSpPr>
          <p:spPr>
            <a:xfrm>
              <a:off x="3524250" y="3667125"/>
              <a:ext cx="38100" cy="1238250"/>
            </a:xfrm>
            <a:prstGeom prst="roundRect">
              <a:avLst>
                <a:gd name="adj" fmla="val 50000"/>
              </a:avLst>
            </a:prstGeom>
            <a:solidFill>
              <a:srgbClr val="2E86AB"/>
            </a:solidFill>
            <a:ln>
              <a:noFill/>
            </a:ln>
          </p:spPr>
        </p:sp>
        <p:sp>
          <p:nvSpPr>
            <p:cNvPr id="24" name="TextBox 24"/>
            <p:cNvSpPr txBox="1"/>
            <p:nvPr/>
          </p:nvSpPr>
          <p:spPr>
            <a:xfrm>
              <a:off x="3749040" y="3839528"/>
              <a:ext cx="908780" cy="213360"/>
            </a:xfrm>
            <a:prstGeom prst="rect">
              <a:avLst/>
            </a:prstGeom>
            <a:noFill/>
            <a:ln>
              <a:noFill/>
            </a:ln>
          </p:spPr>
          <p:txBody>
            <a:bodyPr wrap="none" lIns="0" tIns="0" rIns="0" bIns="0" anchor="t" anchorCtr="0">
              <a:spAutoFit/>
            </a:bodyPr>
            <a:lstStyle/>
            <a:p>
              <a:pPr algn="l"/>
              <a:r>
                <a:rPr lang="zh-CN" sz="1050" b="1" dirty="0">
                  <a:solidFill>
                    <a:srgbClr val="2E86AB"/>
                  </a:solidFill>
                  <a:latin typeface="Arial"/>
                  <a:ea typeface="Microsoft YaHei"/>
                  <a:cs typeface="Arial"/>
                </a:rPr>
                <a:t>两类用户模式</a:t>
              </a:r>
            </a:p>
          </p:txBody>
        </p:sp>
        <p:sp>
          <p:nvSpPr>
            <p:cNvPr id="25" name="TextBox 25"/>
            <p:cNvSpPr txBox="1"/>
            <p:nvPr/>
          </p:nvSpPr>
          <p:spPr>
            <a:xfrm>
              <a:off x="3749992" y="4085749"/>
              <a:ext cx="119491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收藏家型：买多评少</a:t>
              </a:r>
            </a:p>
          </p:txBody>
        </p:sp>
        <p:sp>
          <p:nvSpPr>
            <p:cNvPr id="26" name="TextBox 26"/>
            <p:cNvSpPr txBox="1"/>
            <p:nvPr/>
          </p:nvSpPr>
          <p:spPr>
            <a:xfrm>
              <a:off x="3749992" y="4295299"/>
              <a:ext cx="1324928"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意见领袖型：买少评全</a:t>
              </a:r>
            </a:p>
          </p:txBody>
        </p:sp>
        <p:sp>
          <p:nvSpPr>
            <p:cNvPr id="27" name="TextBox 27"/>
            <p:cNvSpPr txBox="1"/>
            <p:nvPr/>
          </p:nvSpPr>
          <p:spPr>
            <a:xfrm>
              <a:off x="3749992" y="4504849"/>
              <a:ext cx="126642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购买—评论中等正相关</a:t>
              </a:r>
            </a:p>
          </p:txBody>
        </p:sp>
        <p:sp>
          <p:nvSpPr>
            <p:cNvPr id="28" name="Rectangle 28"/>
            <p:cNvSpPr/>
            <p:nvPr/>
          </p:nvSpPr>
          <p:spPr>
            <a:xfrm>
              <a:off x="6477000" y="3667125"/>
              <a:ext cx="2762250" cy="1238250"/>
            </a:xfrm>
            <a:prstGeom prst="roundRect">
              <a:avLst>
                <a:gd name="adj" fmla="val 6154"/>
              </a:avLst>
            </a:prstGeom>
            <a:solidFill>
              <a:srgbClr val="FFFFFF"/>
            </a:solidFill>
            <a:ln w="9525">
              <a:solidFill>
                <a:srgbClr val="DFE6E9"/>
              </a:solidFill>
            </a:ln>
          </p:spPr>
        </p:sp>
        <p:sp>
          <p:nvSpPr>
            <p:cNvPr id="29" name="Rectangle 29"/>
            <p:cNvSpPr/>
            <p:nvPr/>
          </p:nvSpPr>
          <p:spPr>
            <a:xfrm>
              <a:off x="6477000" y="3667125"/>
              <a:ext cx="38100" cy="1238250"/>
            </a:xfrm>
            <a:prstGeom prst="roundRect">
              <a:avLst>
                <a:gd name="adj" fmla="val 50000"/>
              </a:avLst>
            </a:prstGeom>
            <a:solidFill>
              <a:srgbClr val="E74C3C"/>
            </a:solidFill>
            <a:ln>
              <a:noFill/>
            </a:ln>
          </p:spPr>
        </p:sp>
        <p:sp>
          <p:nvSpPr>
            <p:cNvPr id="30" name="TextBox 30"/>
            <p:cNvSpPr txBox="1"/>
            <p:nvPr/>
          </p:nvSpPr>
          <p:spPr>
            <a:xfrm>
              <a:off x="6701790" y="3839528"/>
              <a:ext cx="614744" cy="213360"/>
            </a:xfrm>
            <a:prstGeom prst="rect">
              <a:avLst/>
            </a:prstGeom>
            <a:noFill/>
            <a:ln>
              <a:noFill/>
            </a:ln>
          </p:spPr>
          <p:txBody>
            <a:bodyPr wrap="none" lIns="0" tIns="0" rIns="0" bIns="0" anchor="t" anchorCtr="0">
              <a:spAutoFit/>
            </a:bodyPr>
            <a:lstStyle/>
            <a:p>
              <a:pPr algn="l"/>
              <a:r>
                <a:rPr lang="zh-CN" sz="1050" b="1" dirty="0">
                  <a:solidFill>
                    <a:srgbClr val="E74C3C"/>
                  </a:solidFill>
                  <a:latin typeface="Arial"/>
                  <a:ea typeface="Microsoft YaHei"/>
                  <a:cs typeface="Arial"/>
                </a:rPr>
                <a:t>极端用户</a:t>
              </a:r>
            </a:p>
          </p:txBody>
        </p:sp>
        <p:sp>
          <p:nvSpPr>
            <p:cNvPr id="31" name="TextBox 31"/>
            <p:cNvSpPr txBox="1"/>
            <p:nvPr/>
          </p:nvSpPr>
          <p:spPr>
            <a:xfrm>
              <a:off x="6702742" y="4085749"/>
              <a:ext cx="127292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纯好评用户占 20-40%</a:t>
              </a:r>
            </a:p>
          </p:txBody>
        </p:sp>
        <p:sp>
          <p:nvSpPr>
            <p:cNvPr id="32" name="TextBox 32"/>
            <p:cNvSpPr txBox="1"/>
            <p:nvPr/>
          </p:nvSpPr>
          <p:spPr>
            <a:xfrm>
              <a:off x="6702742" y="4295299"/>
              <a:ext cx="967383"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纯差评用户 &lt; 5%</a:t>
              </a:r>
            </a:p>
          </p:txBody>
        </p:sp>
        <p:sp>
          <p:nvSpPr>
            <p:cNvPr id="33" name="TextBox 33"/>
            <p:cNvSpPr txBox="1"/>
            <p:nvPr/>
          </p:nvSpPr>
          <p:spPr>
            <a:xfrm>
              <a:off x="6702742" y="4504849"/>
              <a:ext cx="162396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仅1条评论的极端用户需剔除</a:t>
              </a:r>
            </a:p>
          </p:txBody>
        </p:sp>
        <p:sp>
          <p:nvSpPr>
            <p:cNvPr id="34" name="Rectangle 34"/>
            <p:cNvSpPr/>
            <p:nvPr/>
          </p:nvSpPr>
          <p:spPr>
            <a:xfrm>
              <a:off x="9429750" y="3667125"/>
              <a:ext cx="2190750" cy="1238250"/>
            </a:xfrm>
            <a:prstGeom prst="roundRect">
              <a:avLst>
                <a:gd name="adj" fmla="val 6154"/>
              </a:avLst>
            </a:prstGeom>
            <a:solidFill>
              <a:srgbClr val="FFFFFF"/>
            </a:solidFill>
            <a:ln w="9525">
              <a:solidFill>
                <a:srgbClr val="DFE6E9"/>
              </a:solidFill>
            </a:ln>
          </p:spPr>
        </p:sp>
        <p:sp>
          <p:nvSpPr>
            <p:cNvPr id="35" name="Rectangle 35"/>
            <p:cNvSpPr/>
            <p:nvPr/>
          </p:nvSpPr>
          <p:spPr>
            <a:xfrm>
              <a:off x="9429750" y="3667125"/>
              <a:ext cx="38100" cy="1238250"/>
            </a:xfrm>
            <a:prstGeom prst="roundRect">
              <a:avLst>
                <a:gd name="adj" fmla="val 50000"/>
              </a:avLst>
            </a:prstGeom>
            <a:solidFill>
              <a:srgbClr val="27AE60"/>
            </a:solidFill>
            <a:ln>
              <a:noFill/>
            </a:ln>
          </p:spPr>
        </p:sp>
        <p:sp>
          <p:nvSpPr>
            <p:cNvPr id="36" name="TextBox 36"/>
            <p:cNvSpPr txBox="1"/>
            <p:nvPr/>
          </p:nvSpPr>
          <p:spPr>
            <a:xfrm>
              <a:off x="9654540" y="3839528"/>
              <a:ext cx="614744" cy="213360"/>
            </a:xfrm>
            <a:prstGeom prst="rect">
              <a:avLst/>
            </a:prstGeom>
            <a:noFill/>
            <a:ln>
              <a:noFill/>
            </a:ln>
          </p:spPr>
          <p:txBody>
            <a:bodyPr wrap="none" lIns="0" tIns="0" rIns="0" bIns="0" anchor="t" anchorCtr="0">
              <a:spAutoFit/>
            </a:bodyPr>
            <a:lstStyle/>
            <a:p>
              <a:pPr algn="l"/>
              <a:r>
                <a:rPr lang="zh-CN" sz="1050" b="1" dirty="0">
                  <a:solidFill>
                    <a:srgbClr val="27AE60"/>
                  </a:solidFill>
                  <a:latin typeface="Arial"/>
                  <a:ea typeface="Microsoft YaHei"/>
                  <a:cs typeface="Arial"/>
                </a:rPr>
                <a:t>清洗决策</a:t>
              </a:r>
            </a:p>
          </p:txBody>
        </p:sp>
        <p:sp>
          <p:nvSpPr>
            <p:cNvPr id="37" name="TextBox 37"/>
            <p:cNvSpPr txBox="1"/>
            <p:nvPr/>
          </p:nvSpPr>
          <p:spPr>
            <a:xfrm>
              <a:off x="9655492" y="4085749"/>
              <a:ext cx="915376"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剔除：1条+极端</a:t>
              </a:r>
            </a:p>
          </p:txBody>
        </p:sp>
        <p:sp>
          <p:nvSpPr>
            <p:cNvPr id="38" name="TextBox 38"/>
            <p:cNvSpPr txBox="1"/>
            <p:nvPr/>
          </p:nvSpPr>
          <p:spPr>
            <a:xfrm>
              <a:off x="9655492" y="4295299"/>
              <a:ext cx="101938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保留：≥2条+极端</a:t>
              </a:r>
            </a:p>
          </p:txBody>
        </p:sp>
        <p:sp>
          <p:nvSpPr>
            <p:cNvPr id="39" name="TextBox 39"/>
            <p:cNvSpPr txBox="1"/>
            <p:nvPr/>
          </p:nvSpPr>
          <p:spPr>
            <a:xfrm>
              <a:off x="9655492" y="4504849"/>
              <a:ext cx="126642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一致性态度=有效信号</a:t>
              </a:r>
            </a:p>
          </p:txBody>
        </p:sp>
      </p:grpSp>
      <p:grpSp>
        <p:nvGrpSpPr>
          <p:cNvPr id="45" name="Group 45"/>
          <p:cNvGrpSpPr/>
          <p:nvPr/>
        </p:nvGrpSpPr>
        <p:grpSpPr>
          <a:xfrm>
            <a:off x="571500" y="5191125"/>
            <a:ext cx="11049000" cy="466725"/>
            <a:chOff x="571500" y="5191125"/>
            <a:chExt cx="11049000" cy="466725"/>
          </a:xfrm>
        </p:grpSpPr>
        <p:sp>
          <p:nvSpPr>
            <p:cNvPr id="41" name="Rectangle 41"/>
            <p:cNvSpPr/>
            <p:nvPr/>
          </p:nvSpPr>
          <p:spPr>
            <a:xfrm>
              <a:off x="571500" y="5191125"/>
              <a:ext cx="11049000" cy="457200"/>
            </a:xfrm>
            <a:prstGeom prst="roundRect">
              <a:avLst>
                <a:gd name="adj" fmla="val 12500"/>
              </a:avLst>
            </a:prstGeom>
            <a:solidFill>
              <a:srgbClr val="1A3A5C">
                <a:alpha val="5000"/>
              </a:srgbClr>
            </a:solidFill>
            <a:ln>
              <a:noFill/>
            </a:ln>
          </p:spPr>
        </p:sp>
        <p:sp>
          <p:nvSpPr>
            <p:cNvPr id="42" name="Rectangle 42"/>
            <p:cNvSpPr/>
            <p:nvPr/>
          </p:nvSpPr>
          <p:spPr>
            <a:xfrm>
              <a:off x="571500" y="5191125"/>
              <a:ext cx="38100" cy="457200"/>
            </a:xfrm>
            <a:prstGeom prst="roundRect">
              <a:avLst>
                <a:gd name="adj" fmla="val 50000"/>
              </a:avLst>
            </a:prstGeom>
            <a:solidFill>
              <a:srgbClr val="1A3A5C"/>
            </a:solidFill>
            <a:ln>
              <a:noFill/>
            </a:ln>
          </p:spPr>
        </p:sp>
        <p:sp>
          <p:nvSpPr>
            <p:cNvPr id="43" name="TextBox 43"/>
            <p:cNvSpPr txBox="1"/>
            <p:nvPr/>
          </p:nvSpPr>
          <p:spPr>
            <a:xfrm>
              <a:off x="797242" y="5304949"/>
              <a:ext cx="707350"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建模启示：</a:t>
              </a:r>
            </a:p>
          </p:txBody>
        </p:sp>
        <p:sp>
          <p:nvSpPr>
            <p:cNvPr id="44" name="TextBox 44"/>
            <p:cNvSpPr txBox="1"/>
            <p:nvPr/>
          </p:nvSpPr>
          <p:spPr>
            <a:xfrm>
              <a:off x="798195" y="5474970"/>
              <a:ext cx="751179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类别不平衡需 class_weight='balanced'；自选择偏差（不满意的用户直接退款不留评价）导致差评系统性低于真实比例，解读结论时需考虑</a:t>
              </a:r>
            </a:p>
          </p:txBody>
        </p:sp>
      </p:grpSp>
      <p:sp>
        <p:nvSpPr>
          <p:cNvPr id="46" name="TextBox 46"/>
          <p:cNvSpPr txBox="1"/>
          <p:nvPr/>
        </p:nvSpPr>
        <p:spPr>
          <a:xfrm>
            <a:off x="561022" y="5721191"/>
            <a:ext cx="3656909"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数据来源：Kaggle Game Recommendations on Steam · 采样 500K 条记录</a:t>
            </a:r>
          </a:p>
        </p:txBody>
      </p:sp>
      <p:sp>
        <p:nvSpPr>
          <p:cNvPr id="47" name="TextBox 47"/>
          <p:cNvSpPr txBox="1"/>
          <p:nvPr/>
        </p:nvSpPr>
        <p:spPr>
          <a:xfrm>
            <a:off x="11298507" y="6530816"/>
            <a:ext cx="141970"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400"/>
                                        <p:tgtEl>
                                          <p:spTgt spid="10"/>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slide(fromBottom)">
                                      <p:cBhvr>
                                        <p:cTn id="15" dur="400"/>
                                        <p:tgtEl>
                                          <p:spTgt spid="4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image">
                                      <p:cBhvr>
                                        <p:cTn id="1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40"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914847" cy="510064"/>
            <a:chOff x="571500" y="268605"/>
            <a:chExt cx="3914847"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1229487"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特征工程</a:t>
              </a:r>
            </a:p>
          </p:txBody>
        </p:sp>
        <p:sp>
          <p:nvSpPr>
            <p:cNvPr id="5" name="TextBox 5"/>
            <p:cNvSpPr txBox="1"/>
            <p:nvPr/>
          </p:nvSpPr>
          <p:spPr>
            <a:xfrm>
              <a:off x="749618" y="580549"/>
              <a:ext cx="3736729"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Q3 — 推荐预测建模 · 三大类特征 + ColumnTransformer 流水线</a:t>
              </a:r>
            </a:p>
          </p:txBody>
        </p:sp>
      </p:grpSp>
      <p:grpSp>
        <p:nvGrpSpPr>
          <p:cNvPr id="10" name="Group 10"/>
          <p:cNvGrpSpPr/>
          <p:nvPr/>
        </p:nvGrpSpPr>
        <p:grpSpPr>
          <a:xfrm>
            <a:off x="571500" y="952500"/>
            <a:ext cx="6667500" cy="3238500"/>
            <a:chOff x="571500" y="952500"/>
            <a:chExt cx="6667500" cy="3238500"/>
          </a:xfrm>
        </p:grpSpPr>
        <p:sp>
          <p:nvSpPr>
            <p:cNvPr id="7" name="Rectangle 7"/>
            <p:cNvSpPr/>
            <p:nvPr/>
          </p:nvSpPr>
          <p:spPr>
            <a:xfrm>
              <a:off x="571500" y="952500"/>
              <a:ext cx="6667500" cy="3238500"/>
            </a:xfrm>
            <a:prstGeom prst="roundRect">
              <a:avLst>
                <a:gd name="adj" fmla="val 1765"/>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1881188" y="952500"/>
              <a:ext cx="4048125" cy="3238500"/>
            </a:xfrm>
            <a:prstGeom prst="rect">
              <a:avLst/>
            </a:prstGeom>
          </p:spPr>
        </p:pic>
        <p:sp>
          <p:nvSpPr>
            <p:cNvPr id="9" name="TextBox 9"/>
            <p:cNvSpPr txBox="1"/>
            <p:nvPr/>
          </p:nvSpPr>
          <p:spPr>
            <a:xfrm>
              <a:off x="3234690" y="3987641"/>
              <a:ext cx="1341120"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图：数值变量相关性热力图</a:t>
              </a:r>
            </a:p>
          </p:txBody>
        </p:sp>
      </p:grpSp>
      <p:grpSp>
        <p:nvGrpSpPr>
          <p:cNvPr id="29" name="Group 29"/>
          <p:cNvGrpSpPr/>
          <p:nvPr/>
        </p:nvGrpSpPr>
        <p:grpSpPr>
          <a:xfrm>
            <a:off x="7524750" y="952500"/>
            <a:ext cx="4095750" cy="3248025"/>
            <a:chOff x="7524750" y="952500"/>
            <a:chExt cx="4095750" cy="3248025"/>
          </a:xfrm>
        </p:grpSpPr>
        <p:sp>
          <p:nvSpPr>
            <p:cNvPr id="11" name="Rectangle 11"/>
            <p:cNvSpPr/>
            <p:nvPr/>
          </p:nvSpPr>
          <p:spPr>
            <a:xfrm>
              <a:off x="7524750" y="952500"/>
              <a:ext cx="4095750" cy="1000125"/>
            </a:xfrm>
            <a:prstGeom prst="roundRect">
              <a:avLst>
                <a:gd name="adj" fmla="val 7619"/>
              </a:avLst>
            </a:prstGeom>
            <a:solidFill>
              <a:srgbClr val="FFFFFF"/>
            </a:solidFill>
            <a:ln w="9525">
              <a:solidFill>
                <a:srgbClr val="DFE6E9"/>
              </a:solidFill>
            </a:ln>
          </p:spPr>
        </p:sp>
        <p:sp>
          <p:nvSpPr>
            <p:cNvPr id="12" name="Rectangle 12"/>
            <p:cNvSpPr/>
            <p:nvPr/>
          </p:nvSpPr>
          <p:spPr>
            <a:xfrm>
              <a:off x="7524750" y="952500"/>
              <a:ext cx="38100" cy="1000125"/>
            </a:xfrm>
            <a:prstGeom prst="roundRect">
              <a:avLst>
                <a:gd name="adj" fmla="val 50000"/>
              </a:avLst>
            </a:prstGeom>
            <a:solidFill>
              <a:srgbClr val="1A3A5C"/>
            </a:solidFill>
            <a:ln>
              <a:noFill/>
            </a:ln>
          </p:spPr>
        </p:sp>
        <p:sp>
          <p:nvSpPr>
            <p:cNvPr id="13" name="TextBox 13"/>
            <p:cNvSpPr txBox="1"/>
            <p:nvPr/>
          </p:nvSpPr>
          <p:spPr>
            <a:xfrm>
              <a:off x="7748588" y="1116806"/>
              <a:ext cx="1036701"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A. 游戏侧特征</a:t>
              </a:r>
            </a:p>
          </p:txBody>
        </p:sp>
        <p:sp>
          <p:nvSpPr>
            <p:cNvPr id="14" name="TextBox 14"/>
            <p:cNvSpPr txBox="1"/>
            <p:nvPr/>
          </p:nvSpPr>
          <p:spPr>
            <a:xfrm>
              <a:off x="7751445" y="1379220"/>
              <a:ext cx="1901095"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price, is_free, rating (0-1数值)</a:t>
              </a:r>
            </a:p>
          </p:txBody>
        </p:sp>
        <p:sp>
          <p:nvSpPr>
            <p:cNvPr id="15" name="TextBox 15"/>
            <p:cNvSpPr txBox="1"/>
            <p:nvPr/>
          </p:nvSpPr>
          <p:spPr>
            <a:xfrm>
              <a:off x="7751445" y="1550670"/>
              <a:ext cx="2081117"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release_year, years_since_release</a:t>
              </a:r>
            </a:p>
          </p:txBody>
        </p:sp>
        <p:sp>
          <p:nvSpPr>
            <p:cNvPr id="16" name="TextBox 16"/>
            <p:cNvSpPr txBox="1"/>
            <p:nvPr/>
          </p:nvSpPr>
          <p:spPr>
            <a:xfrm>
              <a:off x="7751445" y="1722120"/>
              <a:ext cx="1223010"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num_tags (标签数量)</a:t>
              </a:r>
            </a:p>
          </p:txBody>
        </p:sp>
        <p:sp>
          <p:nvSpPr>
            <p:cNvPr id="17" name="Rectangle 17"/>
            <p:cNvSpPr/>
            <p:nvPr/>
          </p:nvSpPr>
          <p:spPr>
            <a:xfrm>
              <a:off x="7524750" y="2076450"/>
              <a:ext cx="4095750" cy="1000125"/>
            </a:xfrm>
            <a:prstGeom prst="roundRect">
              <a:avLst>
                <a:gd name="adj" fmla="val 7619"/>
              </a:avLst>
            </a:prstGeom>
            <a:solidFill>
              <a:srgbClr val="FFFFFF"/>
            </a:solidFill>
            <a:ln w="9525">
              <a:solidFill>
                <a:srgbClr val="DFE6E9"/>
              </a:solidFill>
            </a:ln>
          </p:spPr>
        </p:sp>
        <p:sp>
          <p:nvSpPr>
            <p:cNvPr id="18" name="Rectangle 18"/>
            <p:cNvSpPr/>
            <p:nvPr/>
          </p:nvSpPr>
          <p:spPr>
            <a:xfrm>
              <a:off x="7524750" y="2076450"/>
              <a:ext cx="38100" cy="1000125"/>
            </a:xfrm>
            <a:prstGeom prst="roundRect">
              <a:avLst>
                <a:gd name="adj" fmla="val 50000"/>
              </a:avLst>
            </a:prstGeom>
            <a:solidFill>
              <a:srgbClr val="2E86AB"/>
            </a:solidFill>
            <a:ln>
              <a:noFill/>
            </a:ln>
          </p:spPr>
        </p:sp>
        <p:sp>
          <p:nvSpPr>
            <p:cNvPr id="19" name="TextBox 19"/>
            <p:cNvSpPr txBox="1"/>
            <p:nvPr/>
          </p:nvSpPr>
          <p:spPr>
            <a:xfrm>
              <a:off x="7748588" y="2240756"/>
              <a:ext cx="1036701" cy="228600"/>
            </a:xfrm>
            <a:prstGeom prst="rect">
              <a:avLst/>
            </a:prstGeom>
            <a:noFill/>
            <a:ln>
              <a:noFill/>
            </a:ln>
          </p:spPr>
          <p:txBody>
            <a:bodyPr wrap="none" lIns="0" tIns="0" rIns="0" bIns="0" anchor="t" anchorCtr="0">
              <a:spAutoFit/>
            </a:bodyPr>
            <a:lstStyle/>
            <a:p>
              <a:pPr algn="l"/>
              <a:r>
                <a:rPr lang="zh-CN" sz="1125" b="1" dirty="0">
                  <a:solidFill>
                    <a:srgbClr val="2E86AB"/>
                  </a:solidFill>
                  <a:latin typeface="Arial"/>
                  <a:ea typeface="Microsoft YaHei"/>
                  <a:cs typeface="Arial"/>
                </a:rPr>
                <a:t>B. 用户侧特征</a:t>
              </a:r>
            </a:p>
          </p:txBody>
        </p:sp>
        <p:sp>
          <p:nvSpPr>
            <p:cNvPr id="20" name="TextBox 20"/>
            <p:cNvSpPr txBox="1"/>
            <p:nvPr/>
          </p:nvSpPr>
          <p:spPr>
            <a:xfrm>
              <a:off x="7751445" y="2503170"/>
              <a:ext cx="2045113"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user_products_count (已购产品数)</a:t>
              </a:r>
            </a:p>
          </p:txBody>
        </p:sp>
        <p:sp>
          <p:nvSpPr>
            <p:cNvPr id="21" name="TextBox 21"/>
            <p:cNvSpPr txBox="1"/>
            <p:nvPr/>
          </p:nvSpPr>
          <p:spPr>
            <a:xfrm>
              <a:off x="7751445" y="2674620"/>
              <a:ext cx="1973104"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user_reviews_count (已发评论数)</a:t>
              </a:r>
            </a:p>
          </p:txBody>
        </p:sp>
        <p:sp>
          <p:nvSpPr>
            <p:cNvPr id="22" name="TextBox 22"/>
            <p:cNvSpPr txBox="1"/>
            <p:nvPr/>
          </p:nvSpPr>
          <p:spPr>
            <a:xfrm>
              <a:off x="7751445" y="2846070"/>
              <a:ext cx="2039112"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review_ratio = reviews / products</a:t>
              </a:r>
            </a:p>
          </p:txBody>
        </p:sp>
        <p:sp>
          <p:nvSpPr>
            <p:cNvPr id="23" name="Rectangle 23"/>
            <p:cNvSpPr/>
            <p:nvPr/>
          </p:nvSpPr>
          <p:spPr>
            <a:xfrm>
              <a:off x="7524750" y="3200400"/>
              <a:ext cx="4095750" cy="1000125"/>
            </a:xfrm>
            <a:prstGeom prst="roundRect">
              <a:avLst>
                <a:gd name="adj" fmla="val 7619"/>
              </a:avLst>
            </a:prstGeom>
            <a:solidFill>
              <a:srgbClr val="FFFFFF"/>
            </a:solidFill>
            <a:ln w="14288">
              <a:solidFill>
                <a:srgbClr val="F18F01"/>
              </a:solidFill>
            </a:ln>
          </p:spPr>
        </p:sp>
        <p:sp>
          <p:nvSpPr>
            <p:cNvPr id="24" name="Rectangle 24"/>
            <p:cNvSpPr/>
            <p:nvPr/>
          </p:nvSpPr>
          <p:spPr>
            <a:xfrm>
              <a:off x="7524750" y="3200400"/>
              <a:ext cx="38100" cy="1000125"/>
            </a:xfrm>
            <a:prstGeom prst="roundRect">
              <a:avLst>
                <a:gd name="adj" fmla="val 50000"/>
              </a:avLst>
            </a:prstGeom>
            <a:solidFill>
              <a:srgbClr val="F18F01"/>
            </a:solidFill>
            <a:ln>
              <a:noFill/>
            </a:ln>
          </p:spPr>
        </p:sp>
        <p:sp>
          <p:nvSpPr>
            <p:cNvPr id="25" name="TextBox 25"/>
            <p:cNvSpPr txBox="1"/>
            <p:nvPr/>
          </p:nvSpPr>
          <p:spPr>
            <a:xfrm>
              <a:off x="7748588" y="3364706"/>
              <a:ext cx="1981819" cy="228600"/>
            </a:xfrm>
            <a:prstGeom prst="rect">
              <a:avLst/>
            </a:prstGeom>
            <a:noFill/>
            <a:ln>
              <a:noFill/>
            </a:ln>
          </p:spPr>
          <p:txBody>
            <a:bodyPr wrap="none" lIns="0" tIns="0" rIns="0" bIns="0" anchor="t" anchorCtr="0">
              <a:spAutoFit/>
            </a:bodyPr>
            <a:lstStyle/>
            <a:p>
              <a:pPr algn="l"/>
              <a:r>
                <a:rPr lang="zh-CN" sz="1125" b="1" dirty="0">
                  <a:solidFill>
                    <a:srgbClr val="F18F01"/>
                  </a:solidFill>
                  <a:latin typeface="Arial"/>
                  <a:ea typeface="Microsoft YaHei"/>
                  <a:cs typeface="Arial"/>
                </a:rPr>
                <a:t>C. 交互特征（最强预测力）</a:t>
              </a:r>
            </a:p>
          </p:txBody>
        </p:sp>
        <p:sp>
          <p:nvSpPr>
            <p:cNvPr id="26" name="TextBox 26"/>
            <p:cNvSpPr txBox="1"/>
            <p:nvPr/>
          </p:nvSpPr>
          <p:spPr>
            <a:xfrm>
              <a:off x="7751445" y="3627120"/>
              <a:ext cx="1811083"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game_review_count (游戏热度)</a:t>
              </a:r>
            </a:p>
          </p:txBody>
        </p:sp>
        <p:sp>
          <p:nvSpPr>
            <p:cNvPr id="27" name="TextBox 27"/>
            <p:cNvSpPr txBox="1"/>
            <p:nvPr/>
          </p:nvSpPr>
          <p:spPr>
            <a:xfrm>
              <a:off x="7751445" y="3798570"/>
              <a:ext cx="1997107"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game_recommend_rate (游戏口碑)</a:t>
              </a:r>
            </a:p>
          </p:txBody>
        </p:sp>
        <p:sp>
          <p:nvSpPr>
            <p:cNvPr id="28" name="TextBox 28"/>
            <p:cNvSpPr txBox="1"/>
            <p:nvPr/>
          </p:nvSpPr>
          <p:spPr>
            <a:xfrm>
              <a:off x="7751445" y="3970020"/>
              <a:ext cx="2213134" cy="182880"/>
            </a:xfrm>
            <a:prstGeom prst="rect">
              <a:avLst/>
            </a:prstGeom>
            <a:noFill/>
            <a:ln>
              <a:noFill/>
            </a:ln>
          </p:spPr>
          <p:txBody>
            <a:bodyPr wrap="none" lIns="0" tIns="0" rIns="0" bIns="0" anchor="t" anchorCtr="0">
              <a:spAutoFit/>
            </a:bodyPr>
            <a:lstStyle/>
            <a:p>
              <a:pPr algn="l"/>
              <a:r>
                <a:rPr lang="zh-CN" sz="900" dirty="0">
                  <a:solidFill>
                    <a:srgbClr val="2D3436"/>
                  </a:solidFill>
                  <a:latin typeface="Arial"/>
                  <a:ea typeface="Microsoft YaHei"/>
                  <a:cs typeface="Arial"/>
                </a:rPr>
                <a:t>user_recommend_rate (用户评价倾向)</a:t>
              </a:r>
            </a:p>
          </p:txBody>
        </p:sp>
      </p:grpSp>
      <p:grpSp>
        <p:nvGrpSpPr>
          <p:cNvPr id="45" name="Group 45"/>
          <p:cNvGrpSpPr/>
          <p:nvPr/>
        </p:nvGrpSpPr>
        <p:grpSpPr>
          <a:xfrm>
            <a:off x="571500" y="4381500"/>
            <a:ext cx="11049000" cy="1000125"/>
            <a:chOff x="571500" y="4381500"/>
            <a:chExt cx="11049000" cy="1000125"/>
          </a:xfrm>
        </p:grpSpPr>
        <p:sp>
          <p:nvSpPr>
            <p:cNvPr id="30" name="Rectangle 30"/>
            <p:cNvSpPr/>
            <p:nvPr/>
          </p:nvSpPr>
          <p:spPr>
            <a:xfrm>
              <a:off x="571500" y="4381500"/>
              <a:ext cx="3524250" cy="1000125"/>
            </a:xfrm>
            <a:prstGeom prst="roundRect">
              <a:avLst>
                <a:gd name="adj" fmla="val 7619"/>
              </a:avLst>
            </a:prstGeom>
            <a:solidFill>
              <a:srgbClr val="FFFFFF"/>
            </a:solidFill>
            <a:ln w="9525">
              <a:solidFill>
                <a:srgbClr val="DFE6E9"/>
              </a:solidFill>
            </a:ln>
          </p:spPr>
        </p:sp>
        <p:sp>
          <p:nvSpPr>
            <p:cNvPr id="31" name="Rectangle 31"/>
            <p:cNvSpPr/>
            <p:nvPr/>
          </p:nvSpPr>
          <p:spPr>
            <a:xfrm>
              <a:off x="571500" y="4381500"/>
              <a:ext cx="38100" cy="1000125"/>
            </a:xfrm>
            <a:prstGeom prst="roundRect">
              <a:avLst>
                <a:gd name="adj" fmla="val 50000"/>
              </a:avLst>
            </a:prstGeom>
            <a:solidFill>
              <a:srgbClr val="E74C3C"/>
            </a:solidFill>
            <a:ln>
              <a:noFill/>
            </a:ln>
          </p:spPr>
        </p:sp>
        <p:sp>
          <p:nvSpPr>
            <p:cNvPr id="32" name="TextBox 32"/>
            <p:cNvSpPr txBox="1"/>
            <p:nvPr/>
          </p:nvSpPr>
          <p:spPr>
            <a:xfrm>
              <a:off x="796290" y="4553902"/>
              <a:ext cx="908780" cy="213360"/>
            </a:xfrm>
            <a:prstGeom prst="rect">
              <a:avLst/>
            </a:prstGeom>
            <a:noFill/>
            <a:ln>
              <a:noFill/>
            </a:ln>
          </p:spPr>
          <p:txBody>
            <a:bodyPr wrap="none" lIns="0" tIns="0" rIns="0" bIns="0" anchor="t" anchorCtr="0">
              <a:spAutoFit/>
            </a:bodyPr>
            <a:lstStyle/>
            <a:p>
              <a:pPr algn="l"/>
              <a:r>
                <a:rPr lang="zh-CN" sz="1050" b="1" dirty="0">
                  <a:solidFill>
                    <a:srgbClr val="E74C3C"/>
                  </a:solidFill>
                  <a:latin typeface="Arial"/>
                  <a:ea typeface="Microsoft YaHei"/>
                  <a:cs typeface="Arial"/>
                </a:rPr>
                <a:t>数据泄漏防护</a:t>
              </a:r>
            </a:p>
          </p:txBody>
        </p:sp>
        <p:sp>
          <p:nvSpPr>
            <p:cNvPr id="33" name="TextBox 33"/>
            <p:cNvSpPr txBox="1"/>
            <p:nvPr/>
          </p:nvSpPr>
          <p:spPr>
            <a:xfrm>
              <a:off x="797242" y="4800124"/>
              <a:ext cx="2625090"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交互特征必须在训练集上聚合后映射到测试集</a:t>
              </a:r>
            </a:p>
          </p:txBody>
        </p:sp>
        <p:sp>
          <p:nvSpPr>
            <p:cNvPr id="34" name="TextBox 34"/>
            <p:cNvSpPr txBox="1"/>
            <p:nvPr/>
          </p:nvSpPr>
          <p:spPr>
            <a:xfrm>
              <a:off x="797242" y="5019199"/>
              <a:ext cx="274210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GroupShuffleSplit by user_id（非随机切分）</a:t>
              </a:r>
            </a:p>
          </p:txBody>
        </p:sp>
        <p:sp>
          <p:nvSpPr>
            <p:cNvPr id="35" name="Rectangle 35"/>
            <p:cNvSpPr/>
            <p:nvPr/>
          </p:nvSpPr>
          <p:spPr>
            <a:xfrm>
              <a:off x="4333875" y="4381500"/>
              <a:ext cx="3524250" cy="1000125"/>
            </a:xfrm>
            <a:prstGeom prst="roundRect">
              <a:avLst>
                <a:gd name="adj" fmla="val 7619"/>
              </a:avLst>
            </a:prstGeom>
            <a:solidFill>
              <a:srgbClr val="FFFFFF"/>
            </a:solidFill>
            <a:ln w="9525">
              <a:solidFill>
                <a:srgbClr val="DFE6E9"/>
              </a:solidFill>
            </a:ln>
          </p:spPr>
        </p:sp>
        <p:sp>
          <p:nvSpPr>
            <p:cNvPr id="36" name="Rectangle 36"/>
            <p:cNvSpPr/>
            <p:nvPr/>
          </p:nvSpPr>
          <p:spPr>
            <a:xfrm>
              <a:off x="4333875" y="4381500"/>
              <a:ext cx="38100" cy="1000125"/>
            </a:xfrm>
            <a:prstGeom prst="roundRect">
              <a:avLst>
                <a:gd name="adj" fmla="val 50000"/>
              </a:avLst>
            </a:prstGeom>
            <a:solidFill>
              <a:srgbClr val="1A3A5C"/>
            </a:solidFill>
            <a:ln>
              <a:noFill/>
            </a:ln>
          </p:spPr>
        </p:sp>
        <p:sp>
          <p:nvSpPr>
            <p:cNvPr id="37" name="TextBox 37"/>
            <p:cNvSpPr txBox="1"/>
            <p:nvPr/>
          </p:nvSpPr>
          <p:spPr>
            <a:xfrm>
              <a:off x="4558665" y="4553902"/>
              <a:ext cx="190850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ColumnTransformer 流水线</a:t>
              </a:r>
            </a:p>
          </p:txBody>
        </p:sp>
        <p:sp>
          <p:nvSpPr>
            <p:cNvPr id="38" name="TextBox 38"/>
            <p:cNvSpPr txBox="1"/>
            <p:nvPr/>
          </p:nvSpPr>
          <p:spPr>
            <a:xfrm>
              <a:off x="4559618" y="4800124"/>
              <a:ext cx="295013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数值特征：StandardScaler（passthrough模式）</a:t>
              </a:r>
            </a:p>
          </p:txBody>
        </p:sp>
        <p:sp>
          <p:nvSpPr>
            <p:cNvPr id="39" name="TextBox 39"/>
            <p:cNvSpPr txBox="1"/>
            <p:nvPr/>
          </p:nvSpPr>
          <p:spPr>
            <a:xfrm>
              <a:off x="4559618" y="5019199"/>
              <a:ext cx="146144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二值特征：passthrough</a:t>
              </a:r>
            </a:p>
          </p:txBody>
        </p:sp>
        <p:sp>
          <p:nvSpPr>
            <p:cNvPr id="40" name="Rectangle 40"/>
            <p:cNvSpPr/>
            <p:nvPr/>
          </p:nvSpPr>
          <p:spPr>
            <a:xfrm>
              <a:off x="8096250" y="4381500"/>
              <a:ext cx="3524250" cy="1000125"/>
            </a:xfrm>
            <a:prstGeom prst="roundRect">
              <a:avLst>
                <a:gd name="adj" fmla="val 7619"/>
              </a:avLst>
            </a:prstGeom>
            <a:solidFill>
              <a:srgbClr val="FFFFFF"/>
            </a:solidFill>
            <a:ln w="9525">
              <a:solidFill>
                <a:srgbClr val="DFE6E9"/>
              </a:solidFill>
            </a:ln>
          </p:spPr>
        </p:sp>
        <p:sp>
          <p:nvSpPr>
            <p:cNvPr id="41" name="Rectangle 41"/>
            <p:cNvSpPr/>
            <p:nvPr/>
          </p:nvSpPr>
          <p:spPr>
            <a:xfrm>
              <a:off x="8096250" y="4381500"/>
              <a:ext cx="38100" cy="1000125"/>
            </a:xfrm>
            <a:prstGeom prst="roundRect">
              <a:avLst>
                <a:gd name="adj" fmla="val 50000"/>
              </a:avLst>
            </a:prstGeom>
            <a:solidFill>
              <a:srgbClr val="27AE60"/>
            </a:solidFill>
            <a:ln>
              <a:noFill/>
            </a:ln>
          </p:spPr>
        </p:sp>
        <p:sp>
          <p:nvSpPr>
            <p:cNvPr id="42" name="TextBox 42"/>
            <p:cNvSpPr txBox="1"/>
            <p:nvPr/>
          </p:nvSpPr>
          <p:spPr>
            <a:xfrm>
              <a:off x="8321040" y="4553902"/>
              <a:ext cx="614744" cy="213360"/>
            </a:xfrm>
            <a:prstGeom prst="rect">
              <a:avLst/>
            </a:prstGeom>
            <a:noFill/>
            <a:ln>
              <a:noFill/>
            </a:ln>
          </p:spPr>
          <p:txBody>
            <a:bodyPr wrap="none" lIns="0" tIns="0" rIns="0" bIns="0" anchor="t" anchorCtr="0">
              <a:spAutoFit/>
            </a:bodyPr>
            <a:lstStyle/>
            <a:p>
              <a:pPr algn="l"/>
              <a:r>
                <a:rPr lang="zh-CN" sz="1050" b="1" dirty="0">
                  <a:solidFill>
                    <a:srgbClr val="27AE60"/>
                  </a:solidFill>
                  <a:latin typeface="Arial"/>
                  <a:ea typeface="Microsoft YaHei"/>
                  <a:cs typeface="Arial"/>
                </a:rPr>
                <a:t>目标变量</a:t>
              </a:r>
            </a:p>
          </p:txBody>
        </p:sp>
        <p:sp>
          <p:nvSpPr>
            <p:cNvPr id="43" name="TextBox 43"/>
            <p:cNvSpPr txBox="1"/>
            <p:nvPr/>
          </p:nvSpPr>
          <p:spPr>
            <a:xfrm>
              <a:off x="8321992" y="4800124"/>
              <a:ext cx="205951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y = is_recommended (0/1 二分类)</a:t>
              </a:r>
            </a:p>
          </p:txBody>
        </p:sp>
        <p:sp>
          <p:nvSpPr>
            <p:cNvPr id="44" name="TextBox 44"/>
            <p:cNvSpPr txBox="1"/>
            <p:nvPr/>
          </p:nvSpPr>
          <p:spPr>
            <a:xfrm>
              <a:off x="8321992" y="5019199"/>
              <a:ext cx="1376934"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特征矩阵 X: ~12 个特征</a:t>
              </a:r>
            </a:p>
          </p:txBody>
        </p:sp>
      </p:grpSp>
      <p:sp>
        <p:nvSpPr>
          <p:cNvPr id="46" name="TextBox 46"/>
          <p:cNvSpPr txBox="1"/>
          <p:nvPr/>
        </p:nvSpPr>
        <p:spPr>
          <a:xfrm>
            <a:off x="561022" y="5530691"/>
            <a:ext cx="5367623"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关键设计：交互特征在 recommendations.csv 上按 app_id/user_id 聚合，80:20 训练/测试按用户分组切分</a:t>
            </a:r>
          </a:p>
        </p:txBody>
      </p:sp>
      <p:sp>
        <p:nvSpPr>
          <p:cNvPr id="47" name="TextBox 47"/>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lide(fromBottom)">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4005858" cy="510064"/>
            <a:chOff x="571500" y="268605"/>
            <a:chExt cx="4005858"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1817561"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模型性能对比</a:t>
              </a:r>
            </a:p>
          </p:txBody>
        </p:sp>
        <p:sp>
          <p:nvSpPr>
            <p:cNvPr id="5" name="TextBox 5"/>
            <p:cNvSpPr txBox="1"/>
            <p:nvPr/>
          </p:nvSpPr>
          <p:spPr>
            <a:xfrm>
              <a:off x="749618" y="580549"/>
              <a:ext cx="382774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Q3 — 推荐预测建模 · 3 模型 + 3 基线 · 80:20 GroupShuffleSplit</a:t>
              </a:r>
            </a:p>
          </p:txBody>
        </p:sp>
      </p:grpSp>
      <p:grpSp>
        <p:nvGrpSpPr>
          <p:cNvPr id="10" name="Group 10"/>
          <p:cNvGrpSpPr/>
          <p:nvPr/>
        </p:nvGrpSpPr>
        <p:grpSpPr>
          <a:xfrm>
            <a:off x="571500" y="952500"/>
            <a:ext cx="6667500" cy="2857500"/>
            <a:chOff x="571500" y="952500"/>
            <a:chExt cx="6667500" cy="2857500"/>
          </a:xfrm>
        </p:grpSpPr>
        <p:sp>
          <p:nvSpPr>
            <p:cNvPr id="7" name="Rectangle 7"/>
            <p:cNvSpPr/>
            <p:nvPr/>
          </p:nvSpPr>
          <p:spPr>
            <a:xfrm>
              <a:off x="571500" y="952500"/>
              <a:ext cx="6667500" cy="2857500"/>
            </a:xfrm>
            <a:prstGeom prst="roundRect">
              <a:avLst>
                <a:gd name="adj" fmla="val 2000"/>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2000250" y="952500"/>
              <a:ext cx="3810000" cy="2857500"/>
            </a:xfrm>
            <a:prstGeom prst="rect">
              <a:avLst/>
            </a:prstGeom>
          </p:spPr>
        </p:pic>
        <p:sp>
          <p:nvSpPr>
            <p:cNvPr id="9" name="TextBox 9"/>
            <p:cNvSpPr txBox="1"/>
            <p:nvPr/>
          </p:nvSpPr>
          <p:spPr>
            <a:xfrm>
              <a:off x="3154930" y="3606641"/>
              <a:ext cx="1500640"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图：多模型 ROC 曲线叠加对比</a:t>
              </a:r>
            </a:p>
          </p:txBody>
        </p:sp>
      </p:grpSp>
      <p:grpSp>
        <p:nvGrpSpPr>
          <p:cNvPr id="14" name="Group 14"/>
          <p:cNvGrpSpPr/>
          <p:nvPr/>
        </p:nvGrpSpPr>
        <p:grpSpPr>
          <a:xfrm>
            <a:off x="7524750" y="952500"/>
            <a:ext cx="4095750" cy="2857500"/>
            <a:chOff x="7524750" y="952500"/>
            <a:chExt cx="4095750" cy="2857500"/>
          </a:xfrm>
        </p:grpSpPr>
        <p:sp>
          <p:nvSpPr>
            <p:cNvPr id="11" name="Rectangle 11"/>
            <p:cNvSpPr/>
            <p:nvPr/>
          </p:nvSpPr>
          <p:spPr>
            <a:xfrm>
              <a:off x="7524750" y="952500"/>
              <a:ext cx="4095750" cy="2857500"/>
            </a:xfrm>
            <a:prstGeom prst="roundRect">
              <a:avLst>
                <a:gd name="adj" fmla="val 2000"/>
              </a:avLst>
            </a:prstGeom>
            <a:solidFill>
              <a:srgbClr val="FFFFFF"/>
            </a:solidFill>
            <a:ln w="9525">
              <a:solidFill>
                <a:srgbClr val="DFE6E9"/>
              </a:solidFill>
            </a:ln>
          </p:spPr>
        </p:sp>
        <p:pic>
          <p:nvPicPr>
            <p:cNvPr id="12" name="Image 12"/>
            <p:cNvPicPr>
              <a:picLocks noChangeAspect="1"/>
            </p:cNvPicPr>
            <p:nvPr/>
          </p:nvPicPr>
          <p:blipFill>
            <a:blip r:embed="rId3"/>
            <a:stretch>
              <a:fillRect/>
            </a:stretch>
          </p:blipFill>
          <p:spPr>
            <a:xfrm>
              <a:off x="7786688" y="952500"/>
              <a:ext cx="3571875" cy="2857500"/>
            </a:xfrm>
            <a:prstGeom prst="rect">
              <a:avLst/>
            </a:prstGeom>
          </p:spPr>
        </p:pic>
        <p:sp>
          <p:nvSpPr>
            <p:cNvPr id="13" name="TextBox 13"/>
            <p:cNvSpPr txBox="1"/>
            <p:nvPr/>
          </p:nvSpPr>
          <p:spPr>
            <a:xfrm>
              <a:off x="8902065" y="3606641"/>
              <a:ext cx="1341120"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图：混淆矩阵（最优模型）</a:t>
              </a:r>
            </a:p>
          </p:txBody>
        </p:sp>
      </p:grpSp>
      <p:grpSp>
        <p:nvGrpSpPr>
          <p:cNvPr id="47" name="Group 47"/>
          <p:cNvGrpSpPr/>
          <p:nvPr/>
        </p:nvGrpSpPr>
        <p:grpSpPr>
          <a:xfrm>
            <a:off x="571500" y="3952875"/>
            <a:ext cx="11049000" cy="1381125"/>
            <a:chOff x="571500" y="3952875"/>
            <a:chExt cx="11049000" cy="1381125"/>
          </a:xfrm>
        </p:grpSpPr>
        <p:sp>
          <p:nvSpPr>
            <p:cNvPr id="15" name="Rectangle 15"/>
            <p:cNvSpPr/>
            <p:nvPr/>
          </p:nvSpPr>
          <p:spPr>
            <a:xfrm>
              <a:off x="571500" y="3952875"/>
              <a:ext cx="11049000" cy="1381125"/>
            </a:xfrm>
            <a:prstGeom prst="roundRect">
              <a:avLst>
                <a:gd name="adj" fmla="val 5517"/>
              </a:avLst>
            </a:prstGeom>
            <a:solidFill>
              <a:srgbClr val="FFFFFF"/>
            </a:solidFill>
            <a:ln w="9525">
              <a:solidFill>
                <a:srgbClr val="DFE6E9"/>
              </a:solidFill>
            </a:ln>
          </p:spPr>
        </p:sp>
        <p:sp>
          <p:nvSpPr>
            <p:cNvPr id="16" name="Rectangle 16"/>
            <p:cNvSpPr/>
            <p:nvPr/>
          </p:nvSpPr>
          <p:spPr>
            <a:xfrm>
              <a:off x="571500" y="3952875"/>
              <a:ext cx="11049000" cy="38100"/>
            </a:xfrm>
            <a:prstGeom prst="roundRect">
              <a:avLst>
                <a:gd name="adj" fmla="val 50000"/>
              </a:avLst>
            </a:prstGeom>
            <a:gradFill>
              <a:gsLst>
                <a:gs pos="0">
                  <a:srgbClr val="1A3A5C"/>
                </a:gs>
                <a:gs pos="100000">
                  <a:srgbClr val="2E86AB"/>
                </a:gs>
              </a:gsLst>
              <a:lin ang="0" scaled="1"/>
            </a:gradFill>
            <a:ln>
              <a:noFill/>
            </a:ln>
          </p:spPr>
        </p:sp>
        <p:sp>
          <p:nvSpPr>
            <p:cNvPr id="17" name="Rectangle 17"/>
            <p:cNvSpPr/>
            <p:nvPr/>
          </p:nvSpPr>
          <p:spPr>
            <a:xfrm>
              <a:off x="762000" y="4143375"/>
              <a:ext cx="10668000" cy="285750"/>
            </a:xfrm>
            <a:prstGeom prst="roundRect">
              <a:avLst>
                <a:gd name="adj" fmla="val 13333"/>
              </a:avLst>
            </a:prstGeom>
            <a:solidFill>
              <a:srgbClr val="1A3A5C"/>
            </a:solidFill>
            <a:ln>
              <a:noFill/>
            </a:ln>
          </p:spPr>
        </p:sp>
        <p:sp>
          <p:nvSpPr>
            <p:cNvPr id="18" name="TextBox 18"/>
            <p:cNvSpPr txBox="1"/>
            <p:nvPr/>
          </p:nvSpPr>
          <p:spPr>
            <a:xfrm>
              <a:off x="1131570" y="4236720"/>
              <a:ext cx="274892"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模型</a:t>
              </a:r>
            </a:p>
          </p:txBody>
        </p:sp>
        <p:sp>
          <p:nvSpPr>
            <p:cNvPr id="19" name="TextBox 19"/>
            <p:cNvSpPr txBox="1"/>
            <p:nvPr/>
          </p:nvSpPr>
          <p:spPr>
            <a:xfrm>
              <a:off x="2759335" y="4236720"/>
              <a:ext cx="57732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Accuracy</a:t>
              </a:r>
            </a:p>
          </p:txBody>
        </p:sp>
        <p:sp>
          <p:nvSpPr>
            <p:cNvPr id="20" name="TextBox 20"/>
            <p:cNvSpPr txBox="1"/>
            <p:nvPr/>
          </p:nvSpPr>
          <p:spPr>
            <a:xfrm>
              <a:off x="4184935" y="4236720"/>
              <a:ext cx="58363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Precision</a:t>
              </a:r>
            </a:p>
          </p:txBody>
        </p:sp>
        <p:sp>
          <p:nvSpPr>
            <p:cNvPr id="21" name="TextBox 21"/>
            <p:cNvSpPr txBox="1"/>
            <p:nvPr/>
          </p:nvSpPr>
          <p:spPr>
            <a:xfrm>
              <a:off x="5622398" y="4236720"/>
              <a:ext cx="3757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Recall</a:t>
              </a:r>
            </a:p>
          </p:txBody>
        </p:sp>
        <p:sp>
          <p:nvSpPr>
            <p:cNvPr id="22" name="TextBox 22"/>
            <p:cNvSpPr txBox="1"/>
            <p:nvPr/>
          </p:nvSpPr>
          <p:spPr>
            <a:xfrm>
              <a:off x="6886589" y="4236720"/>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F1 Score</a:t>
              </a:r>
            </a:p>
          </p:txBody>
        </p:sp>
        <p:sp>
          <p:nvSpPr>
            <p:cNvPr id="23" name="TextBox 23"/>
            <p:cNvSpPr txBox="1"/>
            <p:nvPr/>
          </p:nvSpPr>
          <p:spPr>
            <a:xfrm>
              <a:off x="8305888" y="4236720"/>
              <a:ext cx="53322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ROC-AUC</a:t>
              </a:r>
            </a:p>
          </p:txBody>
        </p:sp>
        <p:sp>
          <p:nvSpPr>
            <p:cNvPr id="24" name="TextBox 24"/>
            <p:cNvSpPr txBox="1"/>
            <p:nvPr/>
          </p:nvSpPr>
          <p:spPr>
            <a:xfrm>
              <a:off x="9959054" y="4236720"/>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角色</a:t>
              </a:r>
            </a:p>
          </p:txBody>
        </p:sp>
        <p:sp>
          <p:nvSpPr>
            <p:cNvPr id="25" name="Rectangle 25"/>
            <p:cNvSpPr/>
            <p:nvPr/>
          </p:nvSpPr>
          <p:spPr>
            <a:xfrm>
              <a:off x="762000" y="4476750"/>
              <a:ext cx="10668000" cy="247650"/>
            </a:xfrm>
            <a:prstGeom prst="roundRect">
              <a:avLst>
                <a:gd name="adj" fmla="val 7692"/>
              </a:avLst>
            </a:prstGeom>
            <a:solidFill>
              <a:srgbClr val="F0F4F8">
                <a:alpha val="50000"/>
              </a:srgbClr>
            </a:solidFill>
            <a:ln>
              <a:noFill/>
            </a:ln>
          </p:spPr>
        </p:sp>
        <p:sp>
          <p:nvSpPr>
            <p:cNvPr id="26" name="TextBox 26"/>
            <p:cNvSpPr txBox="1"/>
            <p:nvPr/>
          </p:nvSpPr>
          <p:spPr>
            <a:xfrm>
              <a:off x="1131570" y="4541520"/>
              <a:ext cx="102498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Dummy (Uniform)</a:t>
              </a:r>
            </a:p>
          </p:txBody>
        </p:sp>
        <p:sp>
          <p:nvSpPr>
            <p:cNvPr id="27" name="TextBox 27"/>
            <p:cNvSpPr txBox="1"/>
            <p:nvPr/>
          </p:nvSpPr>
          <p:spPr>
            <a:xfrm>
              <a:off x="2871549" y="4541520"/>
              <a:ext cx="352901"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~0.50</a:t>
              </a:r>
            </a:p>
          </p:txBody>
        </p:sp>
        <p:sp>
          <p:nvSpPr>
            <p:cNvPr id="28" name="TextBox 28"/>
            <p:cNvSpPr txBox="1"/>
            <p:nvPr/>
          </p:nvSpPr>
          <p:spPr>
            <a:xfrm>
              <a:off x="5633799" y="4541520"/>
              <a:ext cx="352901"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~0.50</a:t>
              </a:r>
            </a:p>
          </p:txBody>
        </p:sp>
        <p:sp>
          <p:nvSpPr>
            <p:cNvPr id="29" name="TextBox 29"/>
            <p:cNvSpPr txBox="1"/>
            <p:nvPr/>
          </p:nvSpPr>
          <p:spPr>
            <a:xfrm>
              <a:off x="8429054" y="4541520"/>
              <a:ext cx="286893"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0.50</a:t>
              </a:r>
            </a:p>
          </p:txBody>
        </p:sp>
        <p:sp>
          <p:nvSpPr>
            <p:cNvPr id="30" name="TextBox 30"/>
            <p:cNvSpPr txBox="1"/>
            <p:nvPr/>
          </p:nvSpPr>
          <p:spPr>
            <a:xfrm>
              <a:off x="9865995" y="4549616"/>
              <a:ext cx="461010"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理论下限</a:t>
              </a:r>
            </a:p>
          </p:txBody>
        </p:sp>
        <p:sp>
          <p:nvSpPr>
            <p:cNvPr id="31" name="Rectangle 31"/>
            <p:cNvSpPr/>
            <p:nvPr/>
          </p:nvSpPr>
          <p:spPr>
            <a:xfrm>
              <a:off x="762000" y="4743450"/>
              <a:ext cx="10668000" cy="247650"/>
            </a:xfrm>
            <a:prstGeom prst="roundRect">
              <a:avLst>
                <a:gd name="adj" fmla="val 7692"/>
              </a:avLst>
            </a:prstGeom>
            <a:solidFill>
              <a:srgbClr val="F0F4F8">
                <a:alpha val="30000"/>
              </a:srgbClr>
            </a:solidFill>
            <a:ln>
              <a:noFill/>
            </a:ln>
          </p:spPr>
        </p:sp>
        <p:sp>
          <p:nvSpPr>
            <p:cNvPr id="32" name="TextBox 32"/>
            <p:cNvSpPr txBox="1"/>
            <p:nvPr/>
          </p:nvSpPr>
          <p:spPr>
            <a:xfrm>
              <a:off x="1131570" y="4808220"/>
              <a:ext cx="1120997"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Dummy (MostFreq)</a:t>
              </a:r>
            </a:p>
          </p:txBody>
        </p:sp>
        <p:sp>
          <p:nvSpPr>
            <p:cNvPr id="33" name="TextBox 33"/>
            <p:cNvSpPr txBox="1"/>
            <p:nvPr/>
          </p:nvSpPr>
          <p:spPr>
            <a:xfrm>
              <a:off x="2871549" y="4808220"/>
              <a:ext cx="352901"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~0.80</a:t>
              </a:r>
            </a:p>
          </p:txBody>
        </p:sp>
        <p:sp>
          <p:nvSpPr>
            <p:cNvPr id="34" name="TextBox 34"/>
            <p:cNvSpPr txBox="1"/>
            <p:nvPr/>
          </p:nvSpPr>
          <p:spPr>
            <a:xfrm>
              <a:off x="5633799" y="4808220"/>
              <a:ext cx="352901"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~0.80</a:t>
              </a:r>
            </a:p>
          </p:txBody>
        </p:sp>
        <p:sp>
          <p:nvSpPr>
            <p:cNvPr id="35" name="TextBox 35"/>
            <p:cNvSpPr txBox="1"/>
            <p:nvPr/>
          </p:nvSpPr>
          <p:spPr>
            <a:xfrm>
              <a:off x="8429054" y="4808220"/>
              <a:ext cx="286893"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0.50</a:t>
              </a:r>
            </a:p>
          </p:txBody>
        </p:sp>
        <p:sp>
          <p:nvSpPr>
            <p:cNvPr id="36" name="TextBox 36"/>
            <p:cNvSpPr txBox="1"/>
            <p:nvPr/>
          </p:nvSpPr>
          <p:spPr>
            <a:xfrm>
              <a:off x="9755981" y="4816316"/>
              <a:ext cx="681038"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总是预测推荐</a:t>
              </a:r>
            </a:p>
          </p:txBody>
        </p:sp>
        <p:sp>
          <p:nvSpPr>
            <p:cNvPr id="37" name="Rectangle 37"/>
            <p:cNvSpPr/>
            <p:nvPr/>
          </p:nvSpPr>
          <p:spPr>
            <a:xfrm>
              <a:off x="762000" y="5010150"/>
              <a:ext cx="10668000" cy="247650"/>
            </a:xfrm>
            <a:prstGeom prst="roundRect">
              <a:avLst>
                <a:gd name="adj" fmla="val 7692"/>
              </a:avLst>
            </a:prstGeom>
            <a:solidFill>
              <a:srgbClr val="F0F4F8">
                <a:alpha val="10000"/>
              </a:srgbClr>
            </a:solidFill>
            <a:ln>
              <a:noFill/>
            </a:ln>
          </p:spPr>
        </p:sp>
        <p:sp>
          <p:nvSpPr>
            <p:cNvPr id="38" name="TextBox 38"/>
            <p:cNvSpPr txBox="1"/>
            <p:nvPr/>
          </p:nvSpPr>
          <p:spPr>
            <a:xfrm>
              <a:off x="1131570" y="5074920"/>
              <a:ext cx="910971"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简单规则 (口碑)</a:t>
              </a:r>
            </a:p>
          </p:txBody>
        </p:sp>
        <p:sp>
          <p:nvSpPr>
            <p:cNvPr id="39" name="TextBox 39"/>
            <p:cNvSpPr txBox="1"/>
            <p:nvPr/>
          </p:nvSpPr>
          <p:spPr>
            <a:xfrm>
              <a:off x="3003566" y="5074920"/>
              <a:ext cx="88868"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a:t>
              </a:r>
            </a:p>
          </p:txBody>
        </p:sp>
        <p:sp>
          <p:nvSpPr>
            <p:cNvPr id="40" name="TextBox 40"/>
            <p:cNvSpPr txBox="1"/>
            <p:nvPr/>
          </p:nvSpPr>
          <p:spPr>
            <a:xfrm>
              <a:off x="8528066" y="5074920"/>
              <a:ext cx="88868"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a:t>
              </a:r>
            </a:p>
          </p:txBody>
        </p:sp>
        <p:sp>
          <p:nvSpPr>
            <p:cNvPr id="41" name="TextBox 41"/>
            <p:cNvSpPr txBox="1"/>
            <p:nvPr/>
          </p:nvSpPr>
          <p:spPr>
            <a:xfrm>
              <a:off x="9648718" y="5083016"/>
              <a:ext cx="895564"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口碑 &gt; 0.5 → 推荐</a:t>
              </a:r>
            </a:p>
          </p:txBody>
        </p:sp>
        <p:sp>
          <p:nvSpPr>
            <p:cNvPr id="42" name="Rectangle 42"/>
            <p:cNvSpPr/>
            <p:nvPr/>
          </p:nvSpPr>
          <p:spPr>
            <a:xfrm>
              <a:off x="762000" y="5048250"/>
              <a:ext cx="10668000" cy="285750"/>
            </a:xfrm>
            <a:prstGeom prst="roundRect">
              <a:avLst>
                <a:gd name="adj" fmla="val 6667"/>
              </a:avLst>
            </a:prstGeom>
            <a:solidFill>
              <a:srgbClr val="1A3A5C">
                <a:alpha val="5000"/>
              </a:srgbClr>
            </a:solidFill>
            <a:ln>
              <a:noFill/>
            </a:ln>
          </p:spPr>
        </p:sp>
        <p:sp>
          <p:nvSpPr>
            <p:cNvPr id="43" name="TextBox 43"/>
            <p:cNvSpPr txBox="1"/>
            <p:nvPr/>
          </p:nvSpPr>
          <p:spPr>
            <a:xfrm>
              <a:off x="1131570" y="5141595"/>
              <a:ext cx="2310046" cy="182880"/>
            </a:xfrm>
            <a:prstGeom prst="rect">
              <a:avLst/>
            </a:prstGeom>
            <a:noFill/>
            <a:ln>
              <a:noFill/>
            </a:ln>
          </p:spPr>
          <p:txBody>
            <a:bodyPr wrap="none" lIns="0" tIns="0" rIns="0" bIns="0" anchor="t" anchorCtr="0">
              <a:spAutoFit/>
            </a:bodyPr>
            <a:lstStyle/>
            <a:p>
              <a:pPr algn="l"/>
              <a:r>
                <a:rPr lang="zh-CN" sz="900" b="1" dirty="0">
                  <a:solidFill>
                    <a:srgbClr val="2D3436"/>
                  </a:solidFill>
                  <a:latin typeface="Arial"/>
                  <a:ea typeface="Microsoft YaHei"/>
                  <a:cs typeface="Arial"/>
                </a:rPr>
                <a:t>逻辑回归 → 随机森林 → XGBoost（最优）</a:t>
              </a:r>
            </a:p>
          </p:txBody>
        </p:sp>
        <p:sp>
          <p:nvSpPr>
            <p:cNvPr id="44" name="TextBox 44"/>
            <p:cNvSpPr txBox="1"/>
            <p:nvPr/>
          </p:nvSpPr>
          <p:spPr>
            <a:xfrm>
              <a:off x="2510454" y="5141595"/>
              <a:ext cx="1075092" cy="182880"/>
            </a:xfrm>
            <a:prstGeom prst="rect">
              <a:avLst/>
            </a:prstGeom>
            <a:noFill/>
            <a:ln>
              <a:noFill/>
            </a:ln>
          </p:spPr>
          <p:txBody>
            <a:bodyPr wrap="none" lIns="0" tIns="0" rIns="0" bIns="0" anchor="t" anchorCtr="0">
              <a:spAutoFit/>
            </a:bodyPr>
            <a:lstStyle/>
            <a:p>
              <a:pPr algn="ctr"/>
              <a:r>
                <a:rPr lang="zh-CN" sz="900" b="1" dirty="0">
                  <a:solidFill>
                    <a:srgbClr val="F18F01"/>
                  </a:solidFill>
                  <a:latin typeface="Arial"/>
                  <a:ea typeface="Microsoft YaHei"/>
                  <a:cs typeface="Arial"/>
                </a:rPr>
                <a:t>ROC-AUC 提升显著</a:t>
              </a:r>
            </a:p>
          </p:txBody>
        </p:sp>
        <p:sp>
          <p:nvSpPr>
            <p:cNvPr id="45" name="TextBox 45"/>
            <p:cNvSpPr txBox="1"/>
            <p:nvPr/>
          </p:nvSpPr>
          <p:spPr>
            <a:xfrm>
              <a:off x="8249181" y="5141595"/>
              <a:ext cx="646638" cy="182880"/>
            </a:xfrm>
            <a:prstGeom prst="rect">
              <a:avLst/>
            </a:prstGeom>
            <a:noFill/>
            <a:ln>
              <a:noFill/>
            </a:ln>
          </p:spPr>
          <p:txBody>
            <a:bodyPr wrap="none" lIns="0" tIns="0" rIns="0" bIns="0" anchor="t" anchorCtr="0">
              <a:spAutoFit/>
            </a:bodyPr>
            <a:lstStyle/>
            <a:p>
              <a:pPr algn="ctr"/>
              <a:r>
                <a:rPr lang="zh-CN" sz="900" b="1" dirty="0">
                  <a:solidFill>
                    <a:srgbClr val="F18F01"/>
                  </a:solidFill>
                  <a:latin typeface="Arial"/>
                  <a:ea typeface="Microsoft YaHei"/>
                  <a:cs typeface="Arial"/>
                </a:rPr>
                <a:t>0.75-0.85</a:t>
              </a:r>
            </a:p>
          </p:txBody>
        </p:sp>
        <p:sp>
          <p:nvSpPr>
            <p:cNvPr id="46" name="TextBox 46"/>
            <p:cNvSpPr txBox="1"/>
            <p:nvPr/>
          </p:nvSpPr>
          <p:spPr>
            <a:xfrm>
              <a:off x="9730816" y="5149691"/>
              <a:ext cx="731369" cy="167640"/>
            </a:xfrm>
            <a:prstGeom prst="rect">
              <a:avLst/>
            </a:prstGeom>
            <a:noFill/>
            <a:ln>
              <a:noFill/>
            </a:ln>
          </p:spPr>
          <p:txBody>
            <a:bodyPr wrap="none" lIns="0" tIns="0" rIns="0" bIns="0" anchor="t" anchorCtr="0">
              <a:spAutoFit/>
            </a:bodyPr>
            <a:lstStyle/>
            <a:p>
              <a:pPr algn="ctr"/>
              <a:r>
                <a:rPr lang="zh-CN" sz="825" b="1" dirty="0">
                  <a:solidFill>
                    <a:srgbClr val="27AE60"/>
                  </a:solidFill>
                  <a:latin typeface="Arial"/>
                  <a:ea typeface="Microsoft YaHei"/>
                  <a:cs typeface="Arial"/>
                </a:rPr>
                <a:t>XGBoost 最优</a:t>
              </a:r>
            </a:p>
          </p:txBody>
        </p:sp>
      </p:grpSp>
      <p:grpSp>
        <p:nvGrpSpPr>
          <p:cNvPr id="52" name="Group 52"/>
          <p:cNvGrpSpPr/>
          <p:nvPr/>
        </p:nvGrpSpPr>
        <p:grpSpPr>
          <a:xfrm>
            <a:off x="571500" y="5524500"/>
            <a:ext cx="11049000" cy="466725"/>
            <a:chOff x="571500" y="5524500"/>
            <a:chExt cx="11049000" cy="466725"/>
          </a:xfrm>
        </p:grpSpPr>
        <p:sp>
          <p:nvSpPr>
            <p:cNvPr id="48" name="Rectangle 48"/>
            <p:cNvSpPr/>
            <p:nvPr/>
          </p:nvSpPr>
          <p:spPr>
            <a:xfrm>
              <a:off x="571500" y="5524500"/>
              <a:ext cx="11049000" cy="457200"/>
            </a:xfrm>
            <a:prstGeom prst="roundRect">
              <a:avLst>
                <a:gd name="adj" fmla="val 12500"/>
              </a:avLst>
            </a:prstGeom>
            <a:solidFill>
              <a:srgbClr val="F18F01">
                <a:alpha val="6000"/>
              </a:srgbClr>
            </a:solidFill>
            <a:ln>
              <a:noFill/>
            </a:ln>
          </p:spPr>
        </p:sp>
        <p:sp>
          <p:nvSpPr>
            <p:cNvPr id="49" name="Rectangle 49"/>
            <p:cNvSpPr/>
            <p:nvPr/>
          </p:nvSpPr>
          <p:spPr>
            <a:xfrm>
              <a:off x="571500" y="5524500"/>
              <a:ext cx="38100" cy="457200"/>
            </a:xfrm>
            <a:prstGeom prst="roundRect">
              <a:avLst>
                <a:gd name="adj" fmla="val 50000"/>
              </a:avLst>
            </a:prstGeom>
            <a:solidFill>
              <a:srgbClr val="F18F01"/>
            </a:solidFill>
            <a:ln>
              <a:noFill/>
            </a:ln>
          </p:spPr>
        </p:sp>
        <p:sp>
          <p:nvSpPr>
            <p:cNvPr id="50" name="TextBox 50"/>
            <p:cNvSpPr txBox="1"/>
            <p:nvPr/>
          </p:nvSpPr>
          <p:spPr>
            <a:xfrm>
              <a:off x="797242" y="5638324"/>
              <a:ext cx="707350"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核心发现：</a:t>
              </a:r>
            </a:p>
          </p:txBody>
        </p:sp>
        <p:sp>
          <p:nvSpPr>
            <p:cNvPr id="51" name="TextBox 51"/>
            <p:cNvSpPr txBox="1"/>
            <p:nvPr/>
          </p:nvSpPr>
          <p:spPr>
            <a:xfrm>
              <a:off x="798195" y="5808345"/>
              <a:ext cx="802186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ML 模型能有效预测推荐行为；XGBoost 性能最优（ROC-AUC 0.75-0.85）。由于类别不平衡，Accuracy 参考价值有限——ROC-AUC 和 F1 才是关键指标</a:t>
              </a:r>
            </a:p>
          </p:txBody>
        </p:sp>
      </p:grpSp>
      <p:sp>
        <p:nvSpPr>
          <p:cNvPr id="53" name="TextBox 53"/>
          <p:cNvSpPr txBox="1"/>
          <p:nvPr/>
        </p:nvSpPr>
        <p:spPr>
          <a:xfrm>
            <a:off x="561022" y="6102191"/>
            <a:ext cx="3431381"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注：实际数值以最终训练结果为准，上表为基于文献和预期的合理估计</a:t>
            </a:r>
          </a:p>
        </p:txBody>
      </p:sp>
      <p:sp>
        <p:nvSpPr>
          <p:cNvPr id="54" name="TextBox 54"/>
          <p:cNvSpPr txBox="1"/>
          <p:nvPr/>
        </p:nvSpPr>
        <p:spPr>
          <a:xfrm>
            <a:off x="11353514" y="6530816"/>
            <a:ext cx="86963"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400"/>
                                        <p:tgtEl>
                                          <p:spTgt spid="10"/>
                                        </p:tgtEl>
                                      </p:cBhvr>
                                    </p:animEffect>
                                  </p:childTnLst>
                                </p:cTn>
                              </p:par>
                            </p:childTnLst>
                          </p:cTn>
                        </p:par>
                        <p:par>
                          <p:cTn id="8" fill="hold">
                            <p:stCondLst>
                              <p:cond delay="900"/>
                            </p:stCondLst>
                            <p:childTnLst>
                              <p:par>
                                <p:cTn id="9" presetID="8"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amond(in)">
                                      <p:cBhvr>
                                        <p:cTn id="11" dur="400"/>
                                        <p:tgtEl>
                                          <p:spTgt spid="1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left)">
                                      <p:cBhvr>
                                        <p:cTn id="15" dur="400"/>
                                        <p:tgtEl>
                                          <p:spTgt spid="4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slide(fromBottom)">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47"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966853" cy="510064"/>
            <a:chOff x="571500" y="268605"/>
            <a:chExt cx="3966853"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2993708"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特征重要性与模型解释</a:t>
              </a:r>
            </a:p>
          </p:txBody>
        </p:sp>
        <p:sp>
          <p:nvSpPr>
            <p:cNvPr id="5" name="TextBox 5"/>
            <p:cNvSpPr txBox="1"/>
            <p:nvPr/>
          </p:nvSpPr>
          <p:spPr>
            <a:xfrm>
              <a:off x="749618" y="580549"/>
              <a:ext cx="378873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Q4 — 特征驱动因素 · 特征重要性 · 部分依赖图 (PDP) · 学习曲线</a:t>
              </a:r>
            </a:p>
          </p:txBody>
        </p:sp>
      </p:grpSp>
      <p:grpSp>
        <p:nvGrpSpPr>
          <p:cNvPr id="10" name="Group 10"/>
          <p:cNvGrpSpPr/>
          <p:nvPr/>
        </p:nvGrpSpPr>
        <p:grpSpPr>
          <a:xfrm>
            <a:off x="571500" y="952500"/>
            <a:ext cx="7239000" cy="2476500"/>
            <a:chOff x="571500" y="952500"/>
            <a:chExt cx="7239000" cy="2476500"/>
          </a:xfrm>
        </p:grpSpPr>
        <p:sp>
          <p:nvSpPr>
            <p:cNvPr id="7" name="Rectangle 7"/>
            <p:cNvSpPr/>
            <p:nvPr/>
          </p:nvSpPr>
          <p:spPr>
            <a:xfrm>
              <a:off x="571500" y="952500"/>
              <a:ext cx="7239000" cy="2476500"/>
            </a:xfrm>
            <a:prstGeom prst="roundRect">
              <a:avLst>
                <a:gd name="adj" fmla="val 2308"/>
              </a:avLst>
            </a:prstGeom>
            <a:solidFill>
              <a:srgbClr val="FFFFFF"/>
            </a:solidFill>
            <a:ln w="9525">
              <a:solidFill>
                <a:srgbClr val="DFE6E9"/>
              </a:solidFill>
            </a:ln>
          </p:spPr>
        </p:sp>
        <p:pic>
          <p:nvPicPr>
            <p:cNvPr id="8" name="Image 8"/>
            <p:cNvPicPr>
              <a:picLocks noChangeAspect="1"/>
            </p:cNvPicPr>
            <p:nvPr/>
          </p:nvPicPr>
          <p:blipFill>
            <a:blip r:embed="rId2"/>
            <a:stretch>
              <a:fillRect/>
            </a:stretch>
          </p:blipFill>
          <p:spPr>
            <a:xfrm>
              <a:off x="2540000" y="952500"/>
              <a:ext cx="3302000" cy="2476500"/>
            </a:xfrm>
            <a:prstGeom prst="rect">
              <a:avLst/>
            </a:prstGeom>
          </p:spPr>
        </p:pic>
        <p:sp>
          <p:nvSpPr>
            <p:cNvPr id="9" name="TextBox 9"/>
            <p:cNvSpPr txBox="1"/>
            <p:nvPr/>
          </p:nvSpPr>
          <p:spPr>
            <a:xfrm>
              <a:off x="3303163" y="3225641"/>
              <a:ext cx="1775674"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图：特征重要性 Top 15（XGBoost）</a:t>
              </a:r>
            </a:p>
          </p:txBody>
        </p:sp>
      </p:grpSp>
      <p:grpSp>
        <p:nvGrpSpPr>
          <p:cNvPr id="30" name="Group 30"/>
          <p:cNvGrpSpPr/>
          <p:nvPr/>
        </p:nvGrpSpPr>
        <p:grpSpPr>
          <a:xfrm>
            <a:off x="8096250" y="952500"/>
            <a:ext cx="3524250" cy="2476500"/>
            <a:chOff x="8096250" y="952500"/>
            <a:chExt cx="3524250" cy="2476500"/>
          </a:xfrm>
        </p:grpSpPr>
        <p:sp>
          <p:nvSpPr>
            <p:cNvPr id="11" name="Rectangle 11"/>
            <p:cNvSpPr/>
            <p:nvPr/>
          </p:nvSpPr>
          <p:spPr>
            <a:xfrm>
              <a:off x="8096250" y="952500"/>
              <a:ext cx="3524250" cy="2476500"/>
            </a:xfrm>
            <a:prstGeom prst="roundRect">
              <a:avLst>
                <a:gd name="adj" fmla="val 3077"/>
              </a:avLst>
            </a:prstGeom>
            <a:solidFill>
              <a:srgbClr val="FFFFFF"/>
            </a:solidFill>
            <a:ln w="9525">
              <a:solidFill>
                <a:srgbClr val="DFE6E9"/>
              </a:solidFill>
            </a:ln>
          </p:spPr>
        </p:sp>
        <p:sp>
          <p:nvSpPr>
            <p:cNvPr id="12" name="Rectangle 12"/>
            <p:cNvSpPr/>
            <p:nvPr/>
          </p:nvSpPr>
          <p:spPr>
            <a:xfrm>
              <a:off x="8096250" y="952500"/>
              <a:ext cx="3524250" cy="38100"/>
            </a:xfrm>
            <a:prstGeom prst="roundRect">
              <a:avLst>
                <a:gd name="adj" fmla="val 50000"/>
              </a:avLst>
            </a:prstGeom>
            <a:solidFill>
              <a:srgbClr val="F18F01"/>
            </a:solidFill>
            <a:ln>
              <a:noFill/>
            </a:ln>
          </p:spPr>
        </p:sp>
        <p:sp>
          <p:nvSpPr>
            <p:cNvPr id="13" name="TextBox 13"/>
            <p:cNvSpPr txBox="1"/>
            <p:nvPr/>
          </p:nvSpPr>
          <p:spPr>
            <a:xfrm>
              <a:off x="8367712" y="1164431"/>
              <a:ext cx="1840051" cy="228600"/>
            </a:xfrm>
            <a:prstGeom prst="rect">
              <a:avLst/>
            </a:prstGeom>
            <a:noFill/>
            <a:ln>
              <a:noFill/>
            </a:ln>
          </p:spPr>
          <p:txBody>
            <a:bodyPr wrap="none" lIns="0" tIns="0" rIns="0" bIns="0" anchor="t" anchorCtr="0">
              <a:spAutoFit/>
            </a:bodyPr>
            <a:lstStyle/>
            <a:p>
              <a:pPr algn="l"/>
              <a:r>
                <a:rPr lang="zh-CN" sz="1125" b="1" dirty="0">
                  <a:solidFill>
                    <a:srgbClr val="F18F01"/>
                  </a:solidFill>
                  <a:latin typeface="Arial"/>
                  <a:ea typeface="Microsoft YaHei"/>
                  <a:cs typeface="Arial"/>
                </a:rPr>
                <a:t>特征重要性排名（Top 3）</a:t>
              </a:r>
            </a:p>
          </p:txBody>
        </p:sp>
        <p:grpSp>
          <p:nvGrpSpPr>
            <p:cNvPr id="18" name="Group 18"/>
            <p:cNvGrpSpPr/>
            <p:nvPr/>
          </p:nvGrpSpPr>
          <p:grpSpPr>
            <a:xfrm>
              <a:off x="8382000" y="1571625"/>
              <a:ext cx="2114138" cy="402431"/>
              <a:chOff x="8382000" y="1571625"/>
              <a:chExt cx="2114138" cy="402431"/>
            </a:xfrm>
          </p:grpSpPr>
          <p:sp>
            <p:nvSpPr>
              <p:cNvPr id="14" name="Rectangle 14"/>
              <p:cNvSpPr/>
              <p:nvPr/>
            </p:nvSpPr>
            <p:spPr>
              <a:xfrm>
                <a:off x="8382000" y="1571625"/>
                <a:ext cx="342900" cy="342900"/>
              </a:xfrm>
              <a:prstGeom prst="roundRect">
                <a:avLst>
                  <a:gd name="adj" fmla="val 16667"/>
                </a:avLst>
              </a:prstGeom>
              <a:solidFill>
                <a:srgbClr val="1A3A5C">
                  <a:alpha val="12000"/>
                </a:srgbClr>
              </a:solidFill>
              <a:ln>
                <a:noFill/>
              </a:ln>
            </p:spPr>
          </p:sp>
          <p:sp>
            <p:nvSpPr>
              <p:cNvPr id="15" name="TextBox 15"/>
              <p:cNvSpPr txBox="1"/>
              <p:nvPr/>
            </p:nvSpPr>
            <p:spPr>
              <a:xfrm>
                <a:off x="8513007" y="1670685"/>
                <a:ext cx="80886"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Arial"/>
                    <a:ea typeface="Microsoft YaHei"/>
                    <a:cs typeface="Arial"/>
                  </a:rPr>
                  <a:t>1</a:t>
                </a:r>
              </a:p>
            </p:txBody>
          </p:sp>
          <p:sp>
            <p:nvSpPr>
              <p:cNvPr id="16" name="TextBox 16"/>
              <p:cNvSpPr txBox="1"/>
              <p:nvPr/>
            </p:nvSpPr>
            <p:spPr>
              <a:xfrm>
                <a:off x="8844915" y="1629728"/>
                <a:ext cx="1651223"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game_recommend_rate</a:t>
                </a:r>
              </a:p>
            </p:txBody>
          </p:sp>
          <p:sp>
            <p:nvSpPr>
              <p:cNvPr id="17" name="TextBox 17"/>
              <p:cNvSpPr txBox="1"/>
              <p:nvPr/>
            </p:nvSpPr>
            <p:spPr>
              <a:xfrm>
                <a:off x="8847772" y="1806416"/>
                <a:ext cx="1467636" cy="167640"/>
              </a:xfrm>
              <a:prstGeom prst="rect">
                <a:avLst/>
              </a:prstGeom>
              <a:noFill/>
              <a:ln>
                <a:noFill/>
              </a:ln>
            </p:spPr>
            <p:txBody>
              <a:bodyPr wrap="none" lIns="0" tIns="0" rIns="0" bIns="0" anchor="t" anchorCtr="0">
                <a:spAutoFit/>
              </a:bodyPr>
              <a:lstStyle/>
              <a:p>
                <a:pPr algn="l"/>
                <a:r>
                  <a:rPr lang="zh-CN" sz="825" dirty="0">
                    <a:solidFill>
                      <a:srgbClr val="636E72"/>
                    </a:solidFill>
                    <a:latin typeface="Arial"/>
                    <a:ea typeface="Microsoft YaHei"/>
                    <a:cs typeface="Arial"/>
                  </a:rPr>
                  <a:t>游戏整体口碑 · 最强预测特征</a:t>
                </a:r>
              </a:p>
            </p:txBody>
          </p:sp>
        </p:grpSp>
        <p:grpSp>
          <p:nvGrpSpPr>
            <p:cNvPr id="23" name="Group 23"/>
            <p:cNvGrpSpPr/>
            <p:nvPr/>
          </p:nvGrpSpPr>
          <p:grpSpPr>
            <a:xfrm>
              <a:off x="8382000" y="2095500"/>
              <a:ext cx="2084734" cy="402431"/>
              <a:chOff x="8382000" y="2095500"/>
              <a:chExt cx="2084734" cy="402431"/>
            </a:xfrm>
          </p:grpSpPr>
          <p:sp>
            <p:nvSpPr>
              <p:cNvPr id="19" name="Rectangle 19"/>
              <p:cNvSpPr/>
              <p:nvPr/>
            </p:nvSpPr>
            <p:spPr>
              <a:xfrm>
                <a:off x="8382000" y="2095500"/>
                <a:ext cx="342900" cy="342900"/>
              </a:xfrm>
              <a:prstGeom prst="roundRect">
                <a:avLst>
                  <a:gd name="adj" fmla="val 16667"/>
                </a:avLst>
              </a:prstGeom>
              <a:solidFill>
                <a:srgbClr val="2E86AB">
                  <a:alpha val="12000"/>
                </a:srgbClr>
              </a:solidFill>
              <a:ln>
                <a:noFill/>
              </a:ln>
            </p:spPr>
          </p:sp>
          <p:sp>
            <p:nvSpPr>
              <p:cNvPr id="20" name="TextBox 20"/>
              <p:cNvSpPr txBox="1"/>
              <p:nvPr/>
            </p:nvSpPr>
            <p:spPr>
              <a:xfrm>
                <a:off x="8492004" y="2194560"/>
                <a:ext cx="122892" cy="243840"/>
              </a:xfrm>
              <a:prstGeom prst="rect">
                <a:avLst/>
              </a:prstGeom>
              <a:noFill/>
              <a:ln>
                <a:noFill/>
              </a:ln>
            </p:spPr>
            <p:txBody>
              <a:bodyPr wrap="none" lIns="0" tIns="0" rIns="0" bIns="0" anchor="t" anchorCtr="0">
                <a:spAutoFit/>
              </a:bodyPr>
              <a:lstStyle/>
              <a:p>
                <a:pPr algn="ctr"/>
                <a:r>
                  <a:rPr lang="zh-CN" sz="1200" b="1" dirty="0">
                    <a:solidFill>
                      <a:srgbClr val="2E86AB"/>
                    </a:solidFill>
                    <a:latin typeface="Arial"/>
                    <a:ea typeface="Microsoft YaHei"/>
                    <a:cs typeface="Arial"/>
                  </a:rPr>
                  <a:t>2</a:t>
                </a:r>
              </a:p>
            </p:txBody>
          </p:sp>
          <p:sp>
            <p:nvSpPr>
              <p:cNvPr id="21" name="TextBox 21"/>
              <p:cNvSpPr txBox="1"/>
              <p:nvPr/>
            </p:nvSpPr>
            <p:spPr>
              <a:xfrm>
                <a:off x="8844915" y="2153602"/>
                <a:ext cx="1621819"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user_recommend_rate</a:t>
                </a:r>
              </a:p>
            </p:txBody>
          </p:sp>
          <p:sp>
            <p:nvSpPr>
              <p:cNvPr id="22" name="TextBox 22"/>
              <p:cNvSpPr txBox="1"/>
              <p:nvPr/>
            </p:nvSpPr>
            <p:spPr>
              <a:xfrm>
                <a:off x="8847772" y="2330291"/>
                <a:ext cx="1467636" cy="167640"/>
              </a:xfrm>
              <a:prstGeom prst="rect">
                <a:avLst/>
              </a:prstGeom>
              <a:noFill/>
              <a:ln>
                <a:noFill/>
              </a:ln>
            </p:spPr>
            <p:txBody>
              <a:bodyPr wrap="none" lIns="0" tIns="0" rIns="0" bIns="0" anchor="t" anchorCtr="0">
                <a:spAutoFit/>
              </a:bodyPr>
              <a:lstStyle/>
              <a:p>
                <a:pPr algn="l"/>
                <a:r>
                  <a:rPr lang="zh-CN" sz="825" dirty="0">
                    <a:solidFill>
                      <a:srgbClr val="636E72"/>
                    </a:solidFill>
                    <a:latin typeface="Arial"/>
                    <a:ea typeface="Microsoft YaHei"/>
                    <a:cs typeface="Arial"/>
                  </a:rPr>
                  <a:t>用户评价倾向 · 反映个人偏好</a:t>
                </a:r>
              </a:p>
            </p:txBody>
          </p:sp>
        </p:grpSp>
        <p:grpSp>
          <p:nvGrpSpPr>
            <p:cNvPr id="28" name="Group 28"/>
            <p:cNvGrpSpPr/>
            <p:nvPr/>
          </p:nvGrpSpPr>
          <p:grpSpPr>
            <a:xfrm>
              <a:off x="8382000" y="2619375"/>
              <a:ext cx="1886260" cy="402431"/>
              <a:chOff x="8382000" y="2619375"/>
              <a:chExt cx="1886260" cy="402431"/>
            </a:xfrm>
          </p:grpSpPr>
          <p:sp>
            <p:nvSpPr>
              <p:cNvPr id="24" name="Rectangle 24"/>
              <p:cNvSpPr/>
              <p:nvPr/>
            </p:nvSpPr>
            <p:spPr>
              <a:xfrm>
                <a:off x="8382000" y="2619375"/>
                <a:ext cx="342900" cy="342900"/>
              </a:xfrm>
              <a:prstGeom prst="roundRect">
                <a:avLst>
                  <a:gd name="adj" fmla="val 16667"/>
                </a:avLst>
              </a:prstGeom>
              <a:solidFill>
                <a:srgbClr val="F18F01">
                  <a:alpha val="12000"/>
                </a:srgbClr>
              </a:solidFill>
              <a:ln>
                <a:noFill/>
              </a:ln>
            </p:spPr>
          </p:sp>
          <p:sp>
            <p:nvSpPr>
              <p:cNvPr id="25" name="TextBox 25"/>
              <p:cNvSpPr txBox="1"/>
              <p:nvPr/>
            </p:nvSpPr>
            <p:spPr>
              <a:xfrm>
                <a:off x="8492004" y="2718435"/>
                <a:ext cx="122892" cy="243840"/>
              </a:xfrm>
              <a:prstGeom prst="rect">
                <a:avLst/>
              </a:prstGeom>
              <a:noFill/>
              <a:ln>
                <a:noFill/>
              </a:ln>
            </p:spPr>
            <p:txBody>
              <a:bodyPr wrap="none" lIns="0" tIns="0" rIns="0" bIns="0" anchor="t" anchorCtr="0">
                <a:spAutoFit/>
              </a:bodyPr>
              <a:lstStyle/>
              <a:p>
                <a:pPr algn="ctr"/>
                <a:r>
                  <a:rPr lang="zh-CN" sz="1200" b="1" dirty="0">
                    <a:solidFill>
                      <a:srgbClr val="F18F01"/>
                    </a:solidFill>
                    <a:latin typeface="Arial"/>
                    <a:ea typeface="Microsoft YaHei"/>
                    <a:cs typeface="Arial"/>
                  </a:rPr>
                  <a:t>3</a:t>
                </a:r>
              </a:p>
            </p:txBody>
          </p:sp>
          <p:sp>
            <p:nvSpPr>
              <p:cNvPr id="26" name="TextBox 26"/>
              <p:cNvSpPr txBox="1"/>
              <p:nvPr/>
            </p:nvSpPr>
            <p:spPr>
              <a:xfrm>
                <a:off x="8844915" y="2677478"/>
                <a:ext cx="1423345"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game_review_count</a:t>
                </a:r>
              </a:p>
            </p:txBody>
          </p:sp>
          <p:sp>
            <p:nvSpPr>
              <p:cNvPr id="27" name="TextBox 27"/>
              <p:cNvSpPr txBox="1"/>
              <p:nvPr/>
            </p:nvSpPr>
            <p:spPr>
              <a:xfrm>
                <a:off x="8847772" y="2854166"/>
                <a:ext cx="1137595" cy="167640"/>
              </a:xfrm>
              <a:prstGeom prst="rect">
                <a:avLst/>
              </a:prstGeom>
              <a:noFill/>
              <a:ln>
                <a:noFill/>
              </a:ln>
            </p:spPr>
            <p:txBody>
              <a:bodyPr wrap="none" lIns="0" tIns="0" rIns="0" bIns="0" anchor="t" anchorCtr="0">
                <a:spAutoFit/>
              </a:bodyPr>
              <a:lstStyle/>
              <a:p>
                <a:pPr algn="l"/>
                <a:r>
                  <a:rPr lang="zh-CN" sz="825" dirty="0">
                    <a:solidFill>
                      <a:srgbClr val="636E72"/>
                    </a:solidFill>
                    <a:latin typeface="Arial"/>
                    <a:ea typeface="Microsoft YaHei"/>
                    <a:cs typeface="Arial"/>
                  </a:rPr>
                  <a:t>游戏热度 · 非线性影响</a:t>
                </a:r>
              </a:p>
            </p:txBody>
          </p:sp>
        </p:grpSp>
        <p:sp>
          <p:nvSpPr>
            <p:cNvPr id="29" name="TextBox 29"/>
            <p:cNvSpPr txBox="1"/>
            <p:nvPr/>
          </p:nvSpPr>
          <p:spPr>
            <a:xfrm>
              <a:off x="8371522" y="3149441"/>
              <a:ext cx="2881312"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交互特征作为最强预测因子，验证了混合推荐思路的正确性</a:t>
              </a:r>
            </a:p>
          </p:txBody>
        </p:sp>
      </p:grpSp>
      <p:grpSp>
        <p:nvGrpSpPr>
          <p:cNvPr id="34" name="Group 34"/>
          <p:cNvGrpSpPr/>
          <p:nvPr/>
        </p:nvGrpSpPr>
        <p:grpSpPr>
          <a:xfrm>
            <a:off x="571500" y="3619500"/>
            <a:ext cx="5334000" cy="2000250"/>
            <a:chOff x="571500" y="3619500"/>
            <a:chExt cx="5334000" cy="2000250"/>
          </a:xfrm>
        </p:grpSpPr>
        <p:sp>
          <p:nvSpPr>
            <p:cNvPr id="31" name="Rectangle 31"/>
            <p:cNvSpPr/>
            <p:nvPr/>
          </p:nvSpPr>
          <p:spPr>
            <a:xfrm>
              <a:off x="571500" y="3619500"/>
              <a:ext cx="5334000" cy="2000250"/>
            </a:xfrm>
            <a:prstGeom prst="roundRect">
              <a:avLst>
                <a:gd name="adj" fmla="val 2857"/>
              </a:avLst>
            </a:prstGeom>
            <a:solidFill>
              <a:srgbClr val="FFFFFF"/>
            </a:solidFill>
            <a:ln w="9525">
              <a:solidFill>
                <a:srgbClr val="DFE6E9"/>
              </a:solidFill>
            </a:ln>
          </p:spPr>
        </p:sp>
        <p:pic>
          <p:nvPicPr>
            <p:cNvPr id="32" name="Image 32"/>
            <p:cNvPicPr>
              <a:picLocks noChangeAspect="1"/>
            </p:cNvPicPr>
            <p:nvPr/>
          </p:nvPicPr>
          <p:blipFill>
            <a:blip r:embed="rId3"/>
            <a:stretch>
              <a:fillRect/>
            </a:stretch>
          </p:blipFill>
          <p:spPr>
            <a:xfrm>
              <a:off x="1905000" y="3619500"/>
              <a:ext cx="2667000" cy="2000250"/>
            </a:xfrm>
            <a:prstGeom prst="rect">
              <a:avLst/>
            </a:prstGeom>
          </p:spPr>
        </p:pic>
        <p:sp>
          <p:nvSpPr>
            <p:cNvPr id="33" name="TextBox 33"/>
            <p:cNvSpPr txBox="1"/>
            <p:nvPr/>
          </p:nvSpPr>
          <p:spPr>
            <a:xfrm>
              <a:off x="2298406" y="5416391"/>
              <a:ext cx="1880187"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图：部分依赖图（Top 3-5 关键特征）</a:t>
              </a:r>
            </a:p>
          </p:txBody>
        </p:sp>
      </p:grpSp>
      <p:grpSp>
        <p:nvGrpSpPr>
          <p:cNvPr id="38" name="Group 38"/>
          <p:cNvGrpSpPr/>
          <p:nvPr/>
        </p:nvGrpSpPr>
        <p:grpSpPr>
          <a:xfrm>
            <a:off x="6191250" y="3619500"/>
            <a:ext cx="5429250" cy="2000250"/>
            <a:chOff x="6191250" y="3619500"/>
            <a:chExt cx="5429250" cy="2000250"/>
          </a:xfrm>
        </p:grpSpPr>
        <p:sp>
          <p:nvSpPr>
            <p:cNvPr id="35" name="Rectangle 35"/>
            <p:cNvSpPr/>
            <p:nvPr/>
          </p:nvSpPr>
          <p:spPr>
            <a:xfrm>
              <a:off x="6191250" y="3619500"/>
              <a:ext cx="5429250" cy="2000250"/>
            </a:xfrm>
            <a:prstGeom prst="roundRect">
              <a:avLst>
                <a:gd name="adj" fmla="val 2857"/>
              </a:avLst>
            </a:prstGeom>
            <a:solidFill>
              <a:srgbClr val="FFFFFF"/>
            </a:solidFill>
            <a:ln w="9525">
              <a:solidFill>
                <a:srgbClr val="DFE6E9"/>
              </a:solidFill>
            </a:ln>
          </p:spPr>
        </p:sp>
        <p:pic>
          <p:nvPicPr>
            <p:cNvPr id="36" name="Image 36"/>
            <p:cNvPicPr>
              <a:picLocks noChangeAspect="1"/>
            </p:cNvPicPr>
            <p:nvPr/>
          </p:nvPicPr>
          <p:blipFill>
            <a:blip r:embed="rId4"/>
            <a:stretch>
              <a:fillRect/>
            </a:stretch>
          </p:blipFill>
          <p:spPr>
            <a:xfrm>
              <a:off x="7572375" y="3619500"/>
              <a:ext cx="2667000" cy="2000250"/>
            </a:xfrm>
            <a:prstGeom prst="rect">
              <a:avLst/>
            </a:prstGeom>
          </p:spPr>
        </p:pic>
        <p:sp>
          <p:nvSpPr>
            <p:cNvPr id="37" name="TextBox 37"/>
            <p:cNvSpPr txBox="1"/>
            <p:nvPr/>
          </p:nvSpPr>
          <p:spPr>
            <a:xfrm>
              <a:off x="7781508" y="5416391"/>
              <a:ext cx="2248733" cy="167640"/>
            </a:xfrm>
            <a:prstGeom prst="rect">
              <a:avLst/>
            </a:prstGeom>
            <a:noFill/>
            <a:ln>
              <a:noFill/>
            </a:ln>
          </p:spPr>
          <p:txBody>
            <a:bodyPr wrap="none" lIns="0" tIns="0" rIns="0" bIns="0" anchor="t" anchorCtr="0">
              <a:spAutoFit/>
            </a:bodyPr>
            <a:lstStyle/>
            <a:p>
              <a:pPr algn="ctr"/>
              <a:r>
                <a:rPr lang="zh-CN" sz="825" dirty="0">
                  <a:solidFill>
                    <a:srgbClr val="B2BEC3"/>
                  </a:solidFill>
                  <a:latin typeface="Arial"/>
                  <a:ea typeface="Microsoft YaHei"/>
                  <a:cs typeface="Arial"/>
                </a:rPr>
                <a:t>图：学习曲线（训练/验证集性能 vs 样本量）</a:t>
              </a:r>
            </a:p>
          </p:txBody>
        </p:sp>
      </p:grpSp>
      <p:grpSp>
        <p:nvGrpSpPr>
          <p:cNvPr id="43" name="Group 43"/>
          <p:cNvGrpSpPr/>
          <p:nvPr/>
        </p:nvGrpSpPr>
        <p:grpSpPr>
          <a:xfrm>
            <a:off x="571500" y="5810250"/>
            <a:ext cx="11049000" cy="447675"/>
            <a:chOff x="571500" y="5810250"/>
            <a:chExt cx="11049000" cy="447675"/>
          </a:xfrm>
        </p:grpSpPr>
        <p:sp>
          <p:nvSpPr>
            <p:cNvPr id="39" name="Rectangle 39"/>
            <p:cNvSpPr/>
            <p:nvPr/>
          </p:nvSpPr>
          <p:spPr>
            <a:xfrm>
              <a:off x="571500" y="5810250"/>
              <a:ext cx="11049000" cy="428625"/>
            </a:xfrm>
            <a:prstGeom prst="roundRect">
              <a:avLst>
                <a:gd name="adj" fmla="val 13333"/>
              </a:avLst>
            </a:prstGeom>
            <a:solidFill>
              <a:srgbClr val="1A3A5C">
                <a:alpha val="5000"/>
              </a:srgbClr>
            </a:solidFill>
            <a:ln>
              <a:noFill/>
            </a:ln>
          </p:spPr>
        </p:sp>
        <p:sp>
          <p:nvSpPr>
            <p:cNvPr id="40" name="Rectangle 40"/>
            <p:cNvSpPr/>
            <p:nvPr/>
          </p:nvSpPr>
          <p:spPr>
            <a:xfrm>
              <a:off x="571500" y="5810250"/>
              <a:ext cx="38100" cy="428625"/>
            </a:xfrm>
            <a:prstGeom prst="roundRect">
              <a:avLst>
                <a:gd name="adj" fmla="val 50000"/>
              </a:avLst>
            </a:prstGeom>
            <a:solidFill>
              <a:srgbClr val="1A3A5C"/>
            </a:solidFill>
            <a:ln>
              <a:noFill/>
            </a:ln>
          </p:spPr>
        </p:sp>
        <p:sp>
          <p:nvSpPr>
            <p:cNvPr id="41" name="TextBox 41"/>
            <p:cNvSpPr txBox="1"/>
            <p:nvPr/>
          </p:nvSpPr>
          <p:spPr>
            <a:xfrm>
              <a:off x="797242" y="5914549"/>
              <a:ext cx="707350"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关键发现：</a:t>
              </a:r>
            </a:p>
          </p:txBody>
        </p:sp>
        <p:sp>
          <p:nvSpPr>
            <p:cNvPr id="42" name="TextBox 42"/>
            <p:cNvSpPr txBox="1"/>
            <p:nvPr/>
          </p:nvSpPr>
          <p:spPr>
            <a:xfrm>
              <a:off x="798195" y="6075045"/>
              <a:ext cx="8669941"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游戏口碑和用户历史倾向是最强预测特征；PDP 揭示游戏热度对推荐概率有非线性影响（热门游戏可能因"高期望差"导致推荐率下降）；学习曲线显示模型未过拟合</a:t>
              </a:r>
            </a:p>
          </p:txBody>
        </p:sp>
      </p:grpSp>
      <p:sp>
        <p:nvSpPr>
          <p:cNvPr id="44" name="TextBox 44"/>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00"/>
                                        <p:tgtEl>
                                          <p:spTgt spid="30"/>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box(in)">
                                      <p:cBhvr>
                                        <p:cTn id="15" dur="400"/>
                                        <p:tgtEl>
                                          <p:spTgt spid="34"/>
                                        </p:tgtEl>
                                      </p:cBhvr>
                                    </p:animEffect>
                                  </p:childTnLst>
                                </p:cTn>
                              </p:par>
                            </p:childTnLst>
                          </p:cTn>
                        </p:par>
                        <p:par>
                          <p:cTn id="16" fill="hold">
                            <p:stCondLst>
                              <p:cond delay="2700"/>
                            </p:stCondLst>
                            <p:childTnLst>
                              <p:par>
                                <p:cTn id="17" presetID="8"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diamond(in)">
                                      <p:cBhvr>
                                        <p:cTn id="19" dur="400"/>
                                        <p:tgtEl>
                                          <p:spTgt spid="3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image">
                                      <p:cBhvr>
                                        <p:cTn id="23"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0" grpId="0"/>
      <p:bldP spid="34" grpId="0"/>
      <p:bldP spid="38" grpId="0"/>
      <p:bldP spid="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2471667" cy="510064"/>
            <a:chOff x="571500" y="268605"/>
            <a:chExt cx="2471667"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1817561"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核心发现汇总</a:t>
              </a:r>
            </a:p>
          </p:txBody>
        </p:sp>
        <p:sp>
          <p:nvSpPr>
            <p:cNvPr id="5" name="TextBox 5"/>
            <p:cNvSpPr txBox="1"/>
            <p:nvPr/>
          </p:nvSpPr>
          <p:spPr>
            <a:xfrm>
              <a:off x="749618" y="580549"/>
              <a:ext cx="2293549"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10 项发现 · 四个维度 · 附带置信度分级</a:t>
              </a:r>
            </a:p>
          </p:txBody>
        </p:sp>
      </p:grpSp>
      <p:grpSp>
        <p:nvGrpSpPr>
          <p:cNvPr id="19" name="Group 19"/>
          <p:cNvGrpSpPr/>
          <p:nvPr/>
        </p:nvGrpSpPr>
        <p:grpSpPr>
          <a:xfrm>
            <a:off x="571500" y="1000125"/>
            <a:ext cx="11049000" cy="762000"/>
            <a:chOff x="571500" y="1000125"/>
            <a:chExt cx="11049000" cy="762000"/>
          </a:xfrm>
        </p:grpSpPr>
        <p:sp>
          <p:nvSpPr>
            <p:cNvPr id="7" name="Rectangle 7"/>
            <p:cNvSpPr/>
            <p:nvPr/>
          </p:nvSpPr>
          <p:spPr>
            <a:xfrm>
              <a:off x="571500" y="1000125"/>
              <a:ext cx="2571750" cy="762000"/>
            </a:xfrm>
            <a:prstGeom prst="roundRect">
              <a:avLst>
                <a:gd name="adj" fmla="val 10000"/>
              </a:avLst>
            </a:prstGeom>
            <a:solidFill>
              <a:srgbClr val="FFFFFF"/>
            </a:solidFill>
            <a:ln w="9525">
              <a:solidFill>
                <a:srgbClr val="DFE6E9"/>
              </a:solidFill>
            </a:ln>
          </p:spPr>
        </p:sp>
        <p:sp>
          <p:nvSpPr>
            <p:cNvPr id="8" name="TextBox 8"/>
            <p:cNvSpPr txBox="1"/>
            <p:nvPr/>
          </p:nvSpPr>
          <p:spPr>
            <a:xfrm>
              <a:off x="1070800" y="1007745"/>
              <a:ext cx="1573149" cy="487680"/>
            </a:xfrm>
            <a:prstGeom prst="rect">
              <a:avLst/>
            </a:prstGeom>
            <a:noFill/>
            <a:ln>
              <a:noFill/>
            </a:ln>
          </p:spPr>
          <p:txBody>
            <a:bodyPr wrap="none" lIns="0" tIns="0" rIns="0" bIns="0" anchor="t" anchorCtr="0">
              <a:spAutoFit/>
            </a:bodyPr>
            <a:lstStyle/>
            <a:p>
              <a:pPr algn="ctr"/>
              <a:r>
                <a:rPr lang="zh-CN" sz="2400" b="1" dirty="0">
                  <a:solidFill>
                    <a:srgbClr val="F18F01"/>
                  </a:solidFill>
                  <a:latin typeface="Arial"/>
                  <a:ea typeface="Microsoft YaHei"/>
                  <a:cs typeface="Arial"/>
                </a:rPr>
                <a:t>Gini &gt; 0.5</a:t>
              </a:r>
            </a:p>
          </p:txBody>
        </p:sp>
        <p:sp>
          <p:nvSpPr>
            <p:cNvPr id="9" name="TextBox 9"/>
            <p:cNvSpPr txBox="1"/>
            <p:nvPr/>
          </p:nvSpPr>
          <p:spPr>
            <a:xfrm>
              <a:off x="1485900" y="1379220"/>
              <a:ext cx="742950"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赢家通吃市场</a:t>
              </a:r>
            </a:p>
          </p:txBody>
        </p:sp>
        <p:sp>
          <p:nvSpPr>
            <p:cNvPr id="10" name="Rectangle 10"/>
            <p:cNvSpPr/>
            <p:nvPr/>
          </p:nvSpPr>
          <p:spPr>
            <a:xfrm>
              <a:off x="3381375" y="1000125"/>
              <a:ext cx="2571750" cy="762000"/>
            </a:xfrm>
            <a:prstGeom prst="roundRect">
              <a:avLst>
                <a:gd name="adj" fmla="val 10000"/>
              </a:avLst>
            </a:prstGeom>
            <a:solidFill>
              <a:srgbClr val="FFFFFF"/>
            </a:solidFill>
            <a:ln w="9525">
              <a:solidFill>
                <a:srgbClr val="DFE6E9"/>
              </a:solidFill>
            </a:ln>
          </p:spPr>
        </p:sp>
        <p:sp>
          <p:nvSpPr>
            <p:cNvPr id="11" name="TextBox 11"/>
            <p:cNvSpPr txBox="1"/>
            <p:nvPr/>
          </p:nvSpPr>
          <p:spPr>
            <a:xfrm>
              <a:off x="3805066" y="1007745"/>
              <a:ext cx="1724368" cy="487680"/>
            </a:xfrm>
            <a:prstGeom prst="rect">
              <a:avLst/>
            </a:prstGeom>
            <a:noFill/>
            <a:ln>
              <a:noFill/>
            </a:ln>
          </p:spPr>
          <p:txBody>
            <a:bodyPr wrap="none" lIns="0" tIns="0" rIns="0" bIns="0" anchor="t" anchorCtr="0">
              <a:spAutoFit/>
            </a:bodyPr>
            <a:lstStyle/>
            <a:p>
              <a:pPr algn="ctr"/>
              <a:r>
                <a:rPr lang="zh-CN" sz="2400" b="1" dirty="0">
                  <a:solidFill>
                    <a:srgbClr val="2E86AB"/>
                  </a:solidFill>
                  <a:latin typeface="Arial"/>
                  <a:ea typeface="Microsoft YaHei"/>
                  <a:cs typeface="Arial"/>
                </a:rPr>
                <a:t>0.75-0.85</a:t>
              </a:r>
            </a:p>
          </p:txBody>
        </p:sp>
        <p:sp>
          <p:nvSpPr>
            <p:cNvPr id="12" name="TextBox 12"/>
            <p:cNvSpPr txBox="1"/>
            <p:nvPr/>
          </p:nvSpPr>
          <p:spPr>
            <a:xfrm>
              <a:off x="4142756" y="1379220"/>
              <a:ext cx="1048988"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评分中位数/推荐率</a:t>
              </a:r>
            </a:p>
          </p:txBody>
        </p:sp>
        <p:sp>
          <p:nvSpPr>
            <p:cNvPr id="13" name="Rectangle 13"/>
            <p:cNvSpPr/>
            <p:nvPr/>
          </p:nvSpPr>
          <p:spPr>
            <a:xfrm>
              <a:off x="6191250" y="1000125"/>
              <a:ext cx="2571750" cy="762000"/>
            </a:xfrm>
            <a:prstGeom prst="roundRect">
              <a:avLst>
                <a:gd name="adj" fmla="val 10000"/>
              </a:avLst>
            </a:prstGeom>
            <a:solidFill>
              <a:srgbClr val="FFFFFF"/>
            </a:solidFill>
            <a:ln w="9525">
              <a:solidFill>
                <a:srgbClr val="DFE6E9"/>
              </a:solidFill>
            </a:ln>
          </p:spPr>
        </p:sp>
        <p:sp>
          <p:nvSpPr>
            <p:cNvPr id="14" name="TextBox 14"/>
            <p:cNvSpPr txBox="1"/>
            <p:nvPr/>
          </p:nvSpPr>
          <p:spPr>
            <a:xfrm>
              <a:off x="6892176" y="1007745"/>
              <a:ext cx="1169899" cy="487680"/>
            </a:xfrm>
            <a:prstGeom prst="rect">
              <a:avLst/>
            </a:prstGeom>
            <a:noFill/>
            <a:ln>
              <a:noFill/>
            </a:ln>
          </p:spPr>
          <p:txBody>
            <a:bodyPr wrap="none" lIns="0" tIns="0" rIns="0" bIns="0" anchor="t" anchorCtr="0">
              <a:spAutoFit/>
            </a:bodyPr>
            <a:lstStyle/>
            <a:p>
              <a:pPr algn="ctr"/>
              <a:r>
                <a:rPr lang="zh-CN" sz="2400" b="1" dirty="0">
                  <a:solidFill>
                    <a:srgbClr val="1A3A5C"/>
                  </a:solidFill>
                  <a:latin typeface="Arial"/>
                  <a:ea typeface="Microsoft YaHei"/>
                  <a:cs typeface="Arial"/>
                </a:rPr>
                <a:t>50-60%</a:t>
              </a:r>
            </a:p>
          </p:txBody>
        </p:sp>
        <p:sp>
          <p:nvSpPr>
            <p:cNvPr id="15" name="TextBox 15"/>
            <p:cNvSpPr txBox="1"/>
            <p:nvPr/>
          </p:nvSpPr>
          <p:spPr>
            <a:xfrm>
              <a:off x="7105650" y="1379220"/>
              <a:ext cx="742950"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沉默用户占比</a:t>
              </a:r>
            </a:p>
          </p:txBody>
        </p:sp>
        <p:sp>
          <p:nvSpPr>
            <p:cNvPr id="16" name="Rectangle 16"/>
            <p:cNvSpPr/>
            <p:nvPr/>
          </p:nvSpPr>
          <p:spPr>
            <a:xfrm>
              <a:off x="9001125" y="1000125"/>
              <a:ext cx="2619375" cy="762000"/>
            </a:xfrm>
            <a:prstGeom prst="roundRect">
              <a:avLst>
                <a:gd name="adj" fmla="val 10000"/>
              </a:avLst>
            </a:prstGeom>
            <a:solidFill>
              <a:srgbClr val="FFFFFF"/>
            </a:solidFill>
            <a:ln w="9525">
              <a:solidFill>
                <a:srgbClr val="DFE6E9"/>
              </a:solidFill>
            </a:ln>
          </p:spPr>
        </p:sp>
        <p:sp>
          <p:nvSpPr>
            <p:cNvPr id="17" name="TextBox 17"/>
            <p:cNvSpPr txBox="1"/>
            <p:nvPr/>
          </p:nvSpPr>
          <p:spPr>
            <a:xfrm>
              <a:off x="9443866" y="1007745"/>
              <a:ext cx="1724368" cy="487680"/>
            </a:xfrm>
            <a:prstGeom prst="rect">
              <a:avLst/>
            </a:prstGeom>
            <a:noFill/>
            <a:ln>
              <a:noFill/>
            </a:ln>
          </p:spPr>
          <p:txBody>
            <a:bodyPr wrap="none" lIns="0" tIns="0" rIns="0" bIns="0" anchor="t" anchorCtr="0">
              <a:spAutoFit/>
            </a:bodyPr>
            <a:lstStyle/>
            <a:p>
              <a:pPr algn="ctr"/>
              <a:r>
                <a:rPr lang="zh-CN" sz="2400" b="1" dirty="0">
                  <a:solidFill>
                    <a:srgbClr val="27AE60"/>
                  </a:solidFill>
                  <a:latin typeface="Arial"/>
                  <a:ea typeface="Microsoft YaHei"/>
                  <a:cs typeface="Arial"/>
                </a:rPr>
                <a:t>0.75-0.85</a:t>
              </a:r>
            </a:p>
          </p:txBody>
        </p:sp>
        <p:sp>
          <p:nvSpPr>
            <p:cNvPr id="18" name="TextBox 18"/>
            <p:cNvSpPr txBox="1"/>
            <p:nvPr/>
          </p:nvSpPr>
          <p:spPr>
            <a:xfrm>
              <a:off x="9802558" y="1379220"/>
              <a:ext cx="1006983"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XGBoost ROC-AUC</a:t>
              </a:r>
            </a:p>
          </p:txBody>
        </p:sp>
      </p:grpSp>
      <p:grpSp>
        <p:nvGrpSpPr>
          <p:cNvPr id="48" name="Group 48"/>
          <p:cNvGrpSpPr/>
          <p:nvPr/>
        </p:nvGrpSpPr>
        <p:grpSpPr>
          <a:xfrm>
            <a:off x="571500" y="2000250"/>
            <a:ext cx="5429250" cy="2190750"/>
            <a:chOff x="571500" y="2000250"/>
            <a:chExt cx="5429250" cy="2190750"/>
          </a:xfrm>
        </p:grpSpPr>
        <p:sp>
          <p:nvSpPr>
            <p:cNvPr id="20" name="Rectangle 20"/>
            <p:cNvSpPr/>
            <p:nvPr/>
          </p:nvSpPr>
          <p:spPr>
            <a:xfrm>
              <a:off x="571500" y="2000250"/>
              <a:ext cx="5429250" cy="2190750"/>
            </a:xfrm>
            <a:prstGeom prst="roundRect">
              <a:avLst>
                <a:gd name="adj" fmla="val 3478"/>
              </a:avLst>
            </a:prstGeom>
            <a:solidFill>
              <a:srgbClr val="FFFFFF"/>
            </a:solidFill>
            <a:ln w="9525">
              <a:solidFill>
                <a:srgbClr val="DFE6E9"/>
              </a:solidFill>
            </a:ln>
          </p:spPr>
        </p:sp>
        <p:sp>
          <p:nvSpPr>
            <p:cNvPr id="21" name="Rectangle 21"/>
            <p:cNvSpPr/>
            <p:nvPr/>
          </p:nvSpPr>
          <p:spPr>
            <a:xfrm>
              <a:off x="571500" y="2000250"/>
              <a:ext cx="5429250" cy="38100"/>
            </a:xfrm>
            <a:prstGeom prst="roundRect">
              <a:avLst>
                <a:gd name="adj" fmla="val 50000"/>
              </a:avLst>
            </a:prstGeom>
            <a:solidFill>
              <a:srgbClr val="1A3A5C"/>
            </a:solidFill>
            <a:ln>
              <a:noFill/>
            </a:ln>
          </p:spPr>
        </p:sp>
        <p:sp>
          <p:nvSpPr>
            <p:cNvPr id="22" name="TextBox 22"/>
            <p:cNvSpPr txBox="1"/>
            <p:nvPr/>
          </p:nvSpPr>
          <p:spPr>
            <a:xfrm>
              <a:off x="785812" y="2164556"/>
              <a:ext cx="2414998"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游戏生态 &amp; 用户行为（高置信度）</a:t>
              </a:r>
            </a:p>
          </p:txBody>
        </p:sp>
        <p:grpSp>
          <p:nvGrpSpPr>
            <p:cNvPr id="26" name="Group 26"/>
            <p:cNvGrpSpPr/>
            <p:nvPr/>
          </p:nvGrpSpPr>
          <p:grpSpPr>
            <a:xfrm>
              <a:off x="800100" y="2552700"/>
              <a:ext cx="2860358" cy="207169"/>
              <a:chOff x="800100" y="2552700"/>
              <a:chExt cx="2860358" cy="207169"/>
            </a:xfrm>
          </p:grpSpPr>
          <p:sp>
            <p:nvSpPr>
              <p:cNvPr id="23" name="Rectangle 23"/>
              <p:cNvSpPr/>
              <p:nvPr/>
            </p:nvSpPr>
            <p:spPr>
              <a:xfrm>
                <a:off x="800100" y="2552700"/>
                <a:ext cx="152400" cy="152400"/>
              </a:xfrm>
              <a:prstGeom prst="roundRect">
                <a:avLst>
                  <a:gd name="adj" fmla="val 18750"/>
                </a:avLst>
              </a:prstGeom>
              <a:solidFill>
                <a:srgbClr val="27AE60"/>
              </a:solidFill>
              <a:ln>
                <a:noFill/>
              </a:ln>
            </p:spPr>
          </p:sp>
          <p:sp>
            <p:nvSpPr>
              <p:cNvPr id="24" name="TextBox 24"/>
              <p:cNvSpPr txBox="1"/>
              <p:nvPr/>
            </p:nvSpPr>
            <p:spPr>
              <a:xfrm>
                <a:off x="831973" y="2576512"/>
                <a:ext cx="50554"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1</a:t>
                </a:r>
              </a:p>
            </p:txBody>
          </p:sp>
          <p:sp>
            <p:nvSpPr>
              <p:cNvPr id="25" name="TextBox 25"/>
              <p:cNvSpPr txBox="1"/>
              <p:nvPr/>
            </p:nvSpPr>
            <p:spPr>
              <a:xfrm>
                <a:off x="1035368" y="2561749"/>
                <a:ext cx="2625090"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Top 1% 游戏占 30-50% 推荐量，幂律市场结构</a:t>
                </a:r>
              </a:p>
            </p:txBody>
          </p:sp>
        </p:grpSp>
        <p:grpSp>
          <p:nvGrpSpPr>
            <p:cNvPr id="30" name="Group 30"/>
            <p:cNvGrpSpPr/>
            <p:nvPr/>
          </p:nvGrpSpPr>
          <p:grpSpPr>
            <a:xfrm>
              <a:off x="800100" y="2781300"/>
              <a:ext cx="2600326" cy="207169"/>
              <a:chOff x="800100" y="2781300"/>
              <a:chExt cx="2600326" cy="207169"/>
            </a:xfrm>
          </p:grpSpPr>
          <p:sp>
            <p:nvSpPr>
              <p:cNvPr id="27" name="Rectangle 27"/>
              <p:cNvSpPr/>
              <p:nvPr/>
            </p:nvSpPr>
            <p:spPr>
              <a:xfrm>
                <a:off x="800100" y="2781300"/>
                <a:ext cx="152400" cy="152400"/>
              </a:xfrm>
              <a:prstGeom prst="roundRect">
                <a:avLst>
                  <a:gd name="adj" fmla="val 18750"/>
                </a:avLst>
              </a:prstGeom>
              <a:solidFill>
                <a:srgbClr val="27AE60"/>
              </a:solidFill>
              <a:ln>
                <a:noFill/>
              </a:ln>
            </p:spPr>
          </p:sp>
          <p:sp>
            <p:nvSpPr>
              <p:cNvPr id="28" name="TextBox 28"/>
              <p:cNvSpPr txBox="1"/>
              <p:nvPr/>
            </p:nvSpPr>
            <p:spPr>
              <a:xfrm>
                <a:off x="818846" y="28051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2</a:t>
                </a:r>
              </a:p>
            </p:txBody>
          </p:sp>
          <p:sp>
            <p:nvSpPr>
              <p:cNvPr id="29" name="TextBox 29"/>
              <p:cNvSpPr txBox="1"/>
              <p:nvPr/>
            </p:nvSpPr>
            <p:spPr>
              <a:xfrm>
                <a:off x="1035368" y="2790349"/>
                <a:ext cx="2365058"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评分整体偏高且缺乏区分度（好评偏差）</a:t>
                </a:r>
              </a:p>
            </p:txBody>
          </p:sp>
        </p:grpSp>
        <p:grpSp>
          <p:nvGrpSpPr>
            <p:cNvPr id="34" name="Group 34"/>
            <p:cNvGrpSpPr/>
            <p:nvPr/>
          </p:nvGrpSpPr>
          <p:grpSpPr>
            <a:xfrm>
              <a:off x="800100" y="3009900"/>
              <a:ext cx="2411802" cy="207169"/>
              <a:chOff x="800100" y="3009900"/>
              <a:chExt cx="2411802" cy="207169"/>
            </a:xfrm>
          </p:grpSpPr>
          <p:sp>
            <p:nvSpPr>
              <p:cNvPr id="31" name="Rectangle 31"/>
              <p:cNvSpPr/>
              <p:nvPr/>
            </p:nvSpPr>
            <p:spPr>
              <a:xfrm>
                <a:off x="800100" y="3009900"/>
                <a:ext cx="152400" cy="152400"/>
              </a:xfrm>
              <a:prstGeom prst="roundRect">
                <a:avLst>
                  <a:gd name="adj" fmla="val 18750"/>
                </a:avLst>
              </a:prstGeom>
              <a:solidFill>
                <a:srgbClr val="27AE60"/>
              </a:solidFill>
              <a:ln>
                <a:noFill/>
              </a:ln>
            </p:spPr>
          </p:sp>
          <p:sp>
            <p:nvSpPr>
              <p:cNvPr id="32" name="TextBox 32"/>
              <p:cNvSpPr txBox="1"/>
              <p:nvPr/>
            </p:nvSpPr>
            <p:spPr>
              <a:xfrm>
                <a:off x="818846" y="30337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3</a:t>
                </a:r>
              </a:p>
            </p:txBody>
          </p:sp>
          <p:sp>
            <p:nvSpPr>
              <p:cNvPr id="33" name="TextBox 33"/>
              <p:cNvSpPr txBox="1"/>
              <p:nvPr/>
            </p:nvSpPr>
            <p:spPr>
              <a:xfrm>
                <a:off x="1035368" y="3018949"/>
                <a:ext cx="2176534"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Indie 成平台内容主体，竞争极度激烈</a:t>
                </a:r>
              </a:p>
            </p:txBody>
          </p:sp>
        </p:grpSp>
        <p:grpSp>
          <p:nvGrpSpPr>
            <p:cNvPr id="38" name="Group 38"/>
            <p:cNvGrpSpPr/>
            <p:nvPr/>
          </p:nvGrpSpPr>
          <p:grpSpPr>
            <a:xfrm>
              <a:off x="800100" y="3238500"/>
              <a:ext cx="2678335" cy="207169"/>
              <a:chOff x="800100" y="3238500"/>
              <a:chExt cx="2678335" cy="207169"/>
            </a:xfrm>
          </p:grpSpPr>
          <p:sp>
            <p:nvSpPr>
              <p:cNvPr id="35" name="Rectangle 35"/>
              <p:cNvSpPr/>
              <p:nvPr/>
            </p:nvSpPr>
            <p:spPr>
              <a:xfrm>
                <a:off x="800100" y="3238500"/>
                <a:ext cx="152400" cy="152400"/>
              </a:xfrm>
              <a:prstGeom prst="roundRect">
                <a:avLst>
                  <a:gd name="adj" fmla="val 18750"/>
                </a:avLst>
              </a:prstGeom>
              <a:solidFill>
                <a:srgbClr val="F18F01"/>
              </a:solidFill>
              <a:ln>
                <a:noFill/>
              </a:ln>
            </p:spPr>
          </p:sp>
          <p:sp>
            <p:nvSpPr>
              <p:cNvPr id="36" name="TextBox 36"/>
              <p:cNvSpPr txBox="1"/>
              <p:nvPr/>
            </p:nvSpPr>
            <p:spPr>
              <a:xfrm>
                <a:off x="818846" y="32623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4</a:t>
                </a:r>
              </a:p>
            </p:txBody>
          </p:sp>
          <p:sp>
            <p:nvSpPr>
              <p:cNvPr id="37" name="TextBox 37"/>
              <p:cNvSpPr txBox="1"/>
              <p:nvPr/>
            </p:nvSpPr>
            <p:spPr>
              <a:xfrm>
                <a:off x="1035368" y="3247549"/>
                <a:ext cx="2443067"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用户评论数极端长尾，50-60% 为沉默用户</a:t>
                </a:r>
              </a:p>
            </p:txBody>
          </p:sp>
        </p:grpSp>
        <p:grpSp>
          <p:nvGrpSpPr>
            <p:cNvPr id="42" name="Group 42"/>
            <p:cNvGrpSpPr/>
            <p:nvPr/>
          </p:nvGrpSpPr>
          <p:grpSpPr>
            <a:xfrm>
              <a:off x="800100" y="3467100"/>
              <a:ext cx="2372797" cy="207169"/>
              <a:chOff x="800100" y="3467100"/>
              <a:chExt cx="2372797" cy="207169"/>
            </a:xfrm>
          </p:grpSpPr>
          <p:sp>
            <p:nvSpPr>
              <p:cNvPr id="39" name="Rectangle 39"/>
              <p:cNvSpPr/>
              <p:nvPr/>
            </p:nvSpPr>
            <p:spPr>
              <a:xfrm>
                <a:off x="800100" y="3467100"/>
                <a:ext cx="152400" cy="152400"/>
              </a:xfrm>
              <a:prstGeom prst="roundRect">
                <a:avLst>
                  <a:gd name="adj" fmla="val 18750"/>
                </a:avLst>
              </a:prstGeom>
              <a:solidFill>
                <a:srgbClr val="F18F01"/>
              </a:solidFill>
              <a:ln>
                <a:noFill/>
              </a:ln>
            </p:spPr>
          </p:sp>
          <p:sp>
            <p:nvSpPr>
              <p:cNvPr id="40" name="TextBox 40"/>
              <p:cNvSpPr txBox="1"/>
              <p:nvPr/>
            </p:nvSpPr>
            <p:spPr>
              <a:xfrm>
                <a:off x="818846" y="34909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5</a:t>
                </a:r>
              </a:p>
            </p:txBody>
          </p:sp>
          <p:sp>
            <p:nvSpPr>
              <p:cNvPr id="41" name="TextBox 41"/>
              <p:cNvSpPr txBox="1"/>
              <p:nvPr/>
            </p:nvSpPr>
            <p:spPr>
              <a:xfrm>
                <a:off x="1035368" y="3476149"/>
                <a:ext cx="213752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推荐率 0.75-0.85，类别不平衡显著</a:t>
                </a:r>
              </a:p>
            </p:txBody>
          </p:sp>
        </p:grpSp>
        <p:grpSp>
          <p:nvGrpSpPr>
            <p:cNvPr id="46" name="Group 46"/>
            <p:cNvGrpSpPr/>
            <p:nvPr/>
          </p:nvGrpSpPr>
          <p:grpSpPr>
            <a:xfrm>
              <a:off x="800100" y="3695700"/>
              <a:ext cx="2769347" cy="207169"/>
              <a:chOff x="800100" y="3695700"/>
              <a:chExt cx="2769347" cy="207169"/>
            </a:xfrm>
          </p:grpSpPr>
          <p:sp>
            <p:nvSpPr>
              <p:cNvPr id="43" name="Rectangle 43"/>
              <p:cNvSpPr/>
              <p:nvPr/>
            </p:nvSpPr>
            <p:spPr>
              <a:xfrm>
                <a:off x="800100" y="3695700"/>
                <a:ext cx="152400" cy="152400"/>
              </a:xfrm>
              <a:prstGeom prst="roundRect">
                <a:avLst>
                  <a:gd name="adj" fmla="val 18750"/>
                </a:avLst>
              </a:prstGeom>
              <a:solidFill>
                <a:srgbClr val="F18F01"/>
              </a:solidFill>
              <a:ln>
                <a:noFill/>
              </a:ln>
            </p:spPr>
          </p:sp>
          <p:sp>
            <p:nvSpPr>
              <p:cNvPr id="44" name="TextBox 44"/>
              <p:cNvSpPr txBox="1"/>
              <p:nvPr/>
            </p:nvSpPr>
            <p:spPr>
              <a:xfrm>
                <a:off x="818846" y="37195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6</a:t>
                </a:r>
              </a:p>
            </p:txBody>
          </p:sp>
          <p:sp>
            <p:nvSpPr>
              <p:cNvPr id="45" name="TextBox 45"/>
              <p:cNvSpPr txBox="1"/>
              <p:nvPr/>
            </p:nvSpPr>
            <p:spPr>
              <a:xfrm>
                <a:off x="1035368" y="3704749"/>
                <a:ext cx="253407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仅1条评论的极端用户需剔除（无区分信息）</a:t>
                </a:r>
              </a:p>
            </p:txBody>
          </p:sp>
        </p:grpSp>
        <p:sp>
          <p:nvSpPr>
            <p:cNvPr id="47" name="TextBox 47"/>
            <p:cNvSpPr txBox="1"/>
            <p:nvPr/>
          </p:nvSpPr>
          <p:spPr>
            <a:xfrm>
              <a:off x="789622" y="3911441"/>
              <a:ext cx="1368623"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置信度：绿色=高 · 橙色=中</a:t>
              </a:r>
            </a:p>
          </p:txBody>
        </p:sp>
      </p:grpSp>
      <p:grpSp>
        <p:nvGrpSpPr>
          <p:cNvPr id="77" name="Group 77"/>
          <p:cNvGrpSpPr/>
          <p:nvPr/>
        </p:nvGrpSpPr>
        <p:grpSpPr>
          <a:xfrm>
            <a:off x="6191250" y="2000250"/>
            <a:ext cx="5429250" cy="2190750"/>
            <a:chOff x="6191250" y="2000250"/>
            <a:chExt cx="5429250" cy="2190750"/>
          </a:xfrm>
        </p:grpSpPr>
        <p:sp>
          <p:nvSpPr>
            <p:cNvPr id="49" name="Rectangle 49"/>
            <p:cNvSpPr/>
            <p:nvPr/>
          </p:nvSpPr>
          <p:spPr>
            <a:xfrm>
              <a:off x="6191250" y="2000250"/>
              <a:ext cx="5429250" cy="2190750"/>
            </a:xfrm>
            <a:prstGeom prst="roundRect">
              <a:avLst>
                <a:gd name="adj" fmla="val 3478"/>
              </a:avLst>
            </a:prstGeom>
            <a:solidFill>
              <a:srgbClr val="FFFFFF"/>
            </a:solidFill>
            <a:ln w="9525">
              <a:solidFill>
                <a:srgbClr val="DFE6E9"/>
              </a:solidFill>
            </a:ln>
          </p:spPr>
        </p:sp>
        <p:sp>
          <p:nvSpPr>
            <p:cNvPr id="50" name="Rectangle 50"/>
            <p:cNvSpPr/>
            <p:nvPr/>
          </p:nvSpPr>
          <p:spPr>
            <a:xfrm>
              <a:off x="6191250" y="2000250"/>
              <a:ext cx="5429250" cy="38100"/>
            </a:xfrm>
            <a:prstGeom prst="roundRect">
              <a:avLst>
                <a:gd name="adj" fmla="val 50000"/>
              </a:avLst>
            </a:prstGeom>
            <a:solidFill>
              <a:srgbClr val="F18F01"/>
            </a:solidFill>
            <a:ln>
              <a:noFill/>
            </a:ln>
          </p:spPr>
        </p:sp>
        <p:sp>
          <p:nvSpPr>
            <p:cNvPr id="51" name="TextBox 51"/>
            <p:cNvSpPr txBox="1"/>
            <p:nvPr/>
          </p:nvSpPr>
          <p:spPr>
            <a:xfrm>
              <a:off x="6405562" y="2164556"/>
              <a:ext cx="2659154" cy="228600"/>
            </a:xfrm>
            <a:prstGeom prst="rect">
              <a:avLst/>
            </a:prstGeom>
            <a:noFill/>
            <a:ln>
              <a:noFill/>
            </a:ln>
          </p:spPr>
          <p:txBody>
            <a:bodyPr wrap="none" lIns="0" tIns="0" rIns="0" bIns="0" anchor="t" anchorCtr="0">
              <a:spAutoFit/>
            </a:bodyPr>
            <a:lstStyle/>
            <a:p>
              <a:pPr algn="l"/>
              <a:r>
                <a:rPr lang="zh-CN" sz="1125" b="1" dirty="0">
                  <a:solidFill>
                    <a:srgbClr val="F18F01"/>
                  </a:solidFill>
                  <a:latin typeface="Arial"/>
                  <a:ea typeface="Microsoft YaHei"/>
                  <a:cs typeface="Arial"/>
                </a:rPr>
                <a:t>预测建模 &amp; 驱动因素（中/低置信度）</a:t>
              </a:r>
            </a:p>
          </p:txBody>
        </p:sp>
        <p:grpSp>
          <p:nvGrpSpPr>
            <p:cNvPr id="55" name="Group 55"/>
            <p:cNvGrpSpPr/>
            <p:nvPr/>
          </p:nvGrpSpPr>
          <p:grpSpPr>
            <a:xfrm>
              <a:off x="6419850" y="2552700"/>
              <a:ext cx="2437805" cy="207169"/>
              <a:chOff x="6419850" y="2552700"/>
              <a:chExt cx="2437805" cy="207169"/>
            </a:xfrm>
          </p:grpSpPr>
          <p:sp>
            <p:nvSpPr>
              <p:cNvPr id="52" name="Rectangle 52"/>
              <p:cNvSpPr/>
              <p:nvPr/>
            </p:nvSpPr>
            <p:spPr>
              <a:xfrm>
                <a:off x="6419850" y="2552700"/>
                <a:ext cx="152400" cy="152400"/>
              </a:xfrm>
              <a:prstGeom prst="roundRect">
                <a:avLst>
                  <a:gd name="adj" fmla="val 18750"/>
                </a:avLst>
              </a:prstGeom>
              <a:solidFill>
                <a:srgbClr val="F18F01"/>
              </a:solidFill>
              <a:ln>
                <a:noFill/>
              </a:ln>
            </p:spPr>
          </p:sp>
          <p:sp>
            <p:nvSpPr>
              <p:cNvPr id="53" name="TextBox 53"/>
              <p:cNvSpPr txBox="1"/>
              <p:nvPr/>
            </p:nvSpPr>
            <p:spPr>
              <a:xfrm>
                <a:off x="6438596" y="25765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7</a:t>
                </a:r>
              </a:p>
            </p:txBody>
          </p:sp>
          <p:sp>
            <p:nvSpPr>
              <p:cNvPr id="54" name="TextBox 54"/>
              <p:cNvSpPr txBox="1"/>
              <p:nvPr/>
            </p:nvSpPr>
            <p:spPr>
              <a:xfrm>
                <a:off x="6655118" y="2561749"/>
                <a:ext cx="2202537"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ML 模型有效预测推荐，XGBoost 最优</a:t>
                </a:r>
              </a:p>
            </p:txBody>
          </p:sp>
        </p:grpSp>
        <p:grpSp>
          <p:nvGrpSpPr>
            <p:cNvPr id="59" name="Group 59"/>
            <p:cNvGrpSpPr/>
            <p:nvPr/>
          </p:nvGrpSpPr>
          <p:grpSpPr>
            <a:xfrm>
              <a:off x="6419850" y="2781300"/>
              <a:ext cx="2470309" cy="207169"/>
              <a:chOff x="6419850" y="2781300"/>
              <a:chExt cx="2470309" cy="207169"/>
            </a:xfrm>
          </p:grpSpPr>
          <p:sp>
            <p:nvSpPr>
              <p:cNvPr id="56" name="Rectangle 56"/>
              <p:cNvSpPr/>
              <p:nvPr/>
            </p:nvSpPr>
            <p:spPr>
              <a:xfrm>
                <a:off x="6419850" y="2781300"/>
                <a:ext cx="152400" cy="152400"/>
              </a:xfrm>
              <a:prstGeom prst="roundRect">
                <a:avLst>
                  <a:gd name="adj" fmla="val 18750"/>
                </a:avLst>
              </a:prstGeom>
              <a:solidFill>
                <a:srgbClr val="27AE60"/>
              </a:solidFill>
              <a:ln>
                <a:noFill/>
              </a:ln>
            </p:spPr>
          </p:sp>
          <p:sp>
            <p:nvSpPr>
              <p:cNvPr id="57" name="TextBox 57"/>
              <p:cNvSpPr txBox="1"/>
              <p:nvPr/>
            </p:nvSpPr>
            <p:spPr>
              <a:xfrm>
                <a:off x="6438596" y="28051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8</a:t>
                </a:r>
              </a:p>
            </p:txBody>
          </p:sp>
          <p:sp>
            <p:nvSpPr>
              <p:cNvPr id="58" name="TextBox 58"/>
              <p:cNvSpPr txBox="1"/>
              <p:nvPr/>
            </p:nvSpPr>
            <p:spPr>
              <a:xfrm>
                <a:off x="6655118" y="2790349"/>
                <a:ext cx="223504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类别不平衡使 Accuracy 不具参考价值</a:t>
                </a:r>
              </a:p>
            </p:txBody>
          </p:sp>
        </p:grpSp>
        <p:grpSp>
          <p:nvGrpSpPr>
            <p:cNvPr id="63" name="Group 63"/>
            <p:cNvGrpSpPr/>
            <p:nvPr/>
          </p:nvGrpSpPr>
          <p:grpSpPr>
            <a:xfrm>
              <a:off x="6419850" y="3009900"/>
              <a:ext cx="2801851" cy="207169"/>
              <a:chOff x="6419850" y="3009900"/>
              <a:chExt cx="2801851" cy="207169"/>
            </a:xfrm>
          </p:grpSpPr>
          <p:sp>
            <p:nvSpPr>
              <p:cNvPr id="60" name="Rectangle 60"/>
              <p:cNvSpPr/>
              <p:nvPr/>
            </p:nvSpPr>
            <p:spPr>
              <a:xfrm>
                <a:off x="6419850" y="3009900"/>
                <a:ext cx="152400" cy="152400"/>
              </a:xfrm>
              <a:prstGeom prst="roundRect">
                <a:avLst>
                  <a:gd name="adj" fmla="val 18750"/>
                </a:avLst>
              </a:prstGeom>
              <a:solidFill>
                <a:srgbClr val="F18F01"/>
              </a:solidFill>
              <a:ln>
                <a:noFill/>
              </a:ln>
            </p:spPr>
          </p:sp>
          <p:sp>
            <p:nvSpPr>
              <p:cNvPr id="61" name="TextBox 61"/>
              <p:cNvSpPr txBox="1"/>
              <p:nvPr/>
            </p:nvSpPr>
            <p:spPr>
              <a:xfrm>
                <a:off x="6438596" y="3033712"/>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9</a:t>
                </a:r>
              </a:p>
            </p:txBody>
          </p:sp>
          <p:sp>
            <p:nvSpPr>
              <p:cNvPr id="62" name="TextBox 62"/>
              <p:cNvSpPr txBox="1"/>
              <p:nvPr/>
            </p:nvSpPr>
            <p:spPr>
              <a:xfrm>
                <a:off x="6655118" y="3018949"/>
                <a:ext cx="2566583"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交互特征（口碑/用户倾向）是最强预测因子</a:t>
                </a:r>
              </a:p>
            </p:txBody>
          </p:sp>
        </p:grpSp>
        <p:grpSp>
          <p:nvGrpSpPr>
            <p:cNvPr id="67" name="Group 67"/>
            <p:cNvGrpSpPr/>
            <p:nvPr/>
          </p:nvGrpSpPr>
          <p:grpSpPr>
            <a:xfrm>
              <a:off x="6419850" y="3238500"/>
              <a:ext cx="2860358" cy="207169"/>
              <a:chOff x="6419850" y="3238500"/>
              <a:chExt cx="2860358" cy="207169"/>
            </a:xfrm>
          </p:grpSpPr>
          <p:sp>
            <p:nvSpPr>
              <p:cNvPr id="64" name="Rectangle 64"/>
              <p:cNvSpPr/>
              <p:nvPr/>
            </p:nvSpPr>
            <p:spPr>
              <a:xfrm>
                <a:off x="6419850" y="3238500"/>
                <a:ext cx="152400" cy="152400"/>
              </a:xfrm>
              <a:prstGeom prst="roundRect">
                <a:avLst>
                  <a:gd name="adj" fmla="val 18750"/>
                </a:avLst>
              </a:prstGeom>
              <a:solidFill>
                <a:srgbClr val="E74C3C"/>
              </a:solidFill>
              <a:ln>
                <a:noFill/>
              </a:ln>
            </p:spPr>
          </p:sp>
          <p:sp>
            <p:nvSpPr>
              <p:cNvPr id="65" name="TextBox 65"/>
              <p:cNvSpPr txBox="1"/>
              <p:nvPr/>
            </p:nvSpPr>
            <p:spPr>
              <a:xfrm>
                <a:off x="6422844" y="3262312"/>
                <a:ext cx="10831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10</a:t>
                </a:r>
              </a:p>
            </p:txBody>
          </p:sp>
          <p:sp>
            <p:nvSpPr>
              <p:cNvPr id="66" name="TextBox 66"/>
              <p:cNvSpPr txBox="1"/>
              <p:nvPr/>
            </p:nvSpPr>
            <p:spPr>
              <a:xfrm>
                <a:off x="6655118" y="3247549"/>
                <a:ext cx="2625090"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游戏热度对推荐概率有非线性影响（探索性）</a:t>
                </a:r>
              </a:p>
            </p:txBody>
          </p:sp>
        </p:grpSp>
        <p:grpSp>
          <p:nvGrpSpPr>
            <p:cNvPr id="75" name="Group 75"/>
            <p:cNvGrpSpPr/>
            <p:nvPr/>
          </p:nvGrpSpPr>
          <p:grpSpPr>
            <a:xfrm>
              <a:off x="6408420" y="3619500"/>
              <a:ext cx="4616767" cy="200025"/>
              <a:chOff x="6408420" y="3619500"/>
              <a:chExt cx="4616767" cy="200025"/>
            </a:xfrm>
          </p:grpSpPr>
          <p:sp>
            <p:nvSpPr>
              <p:cNvPr id="68" name="TextBox 68"/>
              <p:cNvSpPr txBox="1"/>
              <p:nvPr/>
            </p:nvSpPr>
            <p:spPr>
              <a:xfrm>
                <a:off x="6408420" y="3636645"/>
                <a:ext cx="778955" cy="182880"/>
              </a:xfrm>
              <a:prstGeom prst="rect">
                <a:avLst/>
              </a:prstGeom>
              <a:noFill/>
              <a:ln>
                <a:noFill/>
              </a:ln>
            </p:spPr>
            <p:txBody>
              <a:bodyPr wrap="none" lIns="0" tIns="0" rIns="0" bIns="0" anchor="t" anchorCtr="0">
                <a:spAutoFit/>
              </a:bodyPr>
              <a:lstStyle/>
              <a:p>
                <a:pPr algn="l"/>
                <a:r>
                  <a:rPr lang="zh-CN" sz="900" b="1" dirty="0">
                    <a:solidFill>
                      <a:srgbClr val="636E72"/>
                    </a:solidFill>
                    <a:latin typeface="Arial"/>
                    <a:ea typeface="Microsoft YaHei"/>
                    <a:cs typeface="Arial"/>
                  </a:rPr>
                  <a:t>置信度分级：</a:t>
                </a:r>
              </a:p>
            </p:txBody>
          </p:sp>
          <p:sp>
            <p:nvSpPr>
              <p:cNvPr id="69" name="Rectangle 69"/>
              <p:cNvSpPr/>
              <p:nvPr/>
            </p:nvSpPr>
            <p:spPr>
              <a:xfrm>
                <a:off x="7372350" y="3619500"/>
                <a:ext cx="114300" cy="114300"/>
              </a:xfrm>
              <a:prstGeom prst="roundRect">
                <a:avLst>
                  <a:gd name="adj" fmla="val 16667"/>
                </a:avLst>
              </a:prstGeom>
              <a:solidFill>
                <a:srgbClr val="27AE60"/>
              </a:solidFill>
              <a:ln>
                <a:noFill/>
              </a:ln>
            </p:spPr>
          </p:sp>
          <p:sp>
            <p:nvSpPr>
              <p:cNvPr id="70" name="TextBox 70"/>
              <p:cNvSpPr txBox="1"/>
              <p:nvPr/>
            </p:nvSpPr>
            <p:spPr>
              <a:xfrm>
                <a:off x="7552372" y="3635216"/>
                <a:ext cx="901065" cy="167640"/>
              </a:xfrm>
              <a:prstGeom prst="rect">
                <a:avLst/>
              </a:prstGeom>
              <a:noFill/>
              <a:ln>
                <a:noFill/>
              </a:ln>
            </p:spPr>
            <p:txBody>
              <a:bodyPr wrap="none" lIns="0" tIns="0" rIns="0" bIns="0" anchor="t" anchorCtr="0">
                <a:spAutoFit/>
              </a:bodyPr>
              <a:lstStyle/>
              <a:p>
                <a:pPr algn="l"/>
                <a:r>
                  <a:rPr lang="zh-CN" sz="825" dirty="0">
                    <a:solidFill>
                      <a:srgbClr val="27AE60"/>
                    </a:solidFill>
                    <a:latin typeface="Arial"/>
                    <a:ea typeface="Microsoft YaHei"/>
                    <a:cs typeface="Arial"/>
                  </a:rPr>
                  <a:t>高（描述性统计）</a:t>
                </a:r>
              </a:p>
            </p:txBody>
          </p:sp>
          <p:sp>
            <p:nvSpPr>
              <p:cNvPr id="71" name="Rectangle 71"/>
              <p:cNvSpPr/>
              <p:nvPr/>
            </p:nvSpPr>
            <p:spPr>
              <a:xfrm>
                <a:off x="8801100" y="3619500"/>
                <a:ext cx="114300" cy="114300"/>
              </a:xfrm>
              <a:prstGeom prst="roundRect">
                <a:avLst>
                  <a:gd name="adj" fmla="val 16667"/>
                </a:avLst>
              </a:prstGeom>
              <a:solidFill>
                <a:srgbClr val="F18F01"/>
              </a:solidFill>
              <a:ln>
                <a:noFill/>
              </a:ln>
            </p:spPr>
          </p:sp>
          <p:sp>
            <p:nvSpPr>
              <p:cNvPr id="72" name="TextBox 72"/>
              <p:cNvSpPr txBox="1"/>
              <p:nvPr/>
            </p:nvSpPr>
            <p:spPr>
              <a:xfrm>
                <a:off x="8981122" y="3635216"/>
                <a:ext cx="791051" cy="167640"/>
              </a:xfrm>
              <a:prstGeom prst="rect">
                <a:avLst/>
              </a:prstGeom>
              <a:noFill/>
              <a:ln>
                <a:noFill/>
              </a:ln>
            </p:spPr>
            <p:txBody>
              <a:bodyPr wrap="none" lIns="0" tIns="0" rIns="0" bIns="0" anchor="t" anchorCtr="0">
                <a:spAutoFit/>
              </a:bodyPr>
              <a:lstStyle/>
              <a:p>
                <a:pPr algn="l"/>
                <a:r>
                  <a:rPr lang="zh-CN" sz="825" dirty="0">
                    <a:solidFill>
                      <a:srgbClr val="F18F01"/>
                    </a:solidFill>
                    <a:latin typeface="Arial"/>
                    <a:ea typeface="Microsoft YaHei"/>
                    <a:cs typeface="Arial"/>
                  </a:rPr>
                  <a:t>中（合理推断）</a:t>
                </a:r>
              </a:p>
            </p:txBody>
          </p:sp>
          <p:sp>
            <p:nvSpPr>
              <p:cNvPr id="73" name="Rectangle 73"/>
              <p:cNvSpPr/>
              <p:nvPr/>
            </p:nvSpPr>
            <p:spPr>
              <a:xfrm>
                <a:off x="9944100" y="3619500"/>
                <a:ext cx="114300" cy="114300"/>
              </a:xfrm>
              <a:prstGeom prst="roundRect">
                <a:avLst>
                  <a:gd name="adj" fmla="val 16667"/>
                </a:avLst>
              </a:prstGeom>
              <a:solidFill>
                <a:srgbClr val="E74C3C"/>
              </a:solidFill>
              <a:ln>
                <a:noFill/>
              </a:ln>
            </p:spPr>
          </p:sp>
          <p:sp>
            <p:nvSpPr>
              <p:cNvPr id="74" name="TextBox 74"/>
              <p:cNvSpPr txBox="1"/>
              <p:nvPr/>
            </p:nvSpPr>
            <p:spPr>
              <a:xfrm>
                <a:off x="10124122" y="3635216"/>
                <a:ext cx="901065" cy="167640"/>
              </a:xfrm>
              <a:prstGeom prst="rect">
                <a:avLst/>
              </a:prstGeom>
              <a:noFill/>
              <a:ln>
                <a:noFill/>
              </a:ln>
            </p:spPr>
            <p:txBody>
              <a:bodyPr wrap="none" lIns="0" tIns="0" rIns="0" bIns="0" anchor="t" anchorCtr="0">
                <a:spAutoFit/>
              </a:bodyPr>
              <a:lstStyle/>
              <a:p>
                <a:pPr algn="l"/>
                <a:r>
                  <a:rPr lang="zh-CN" sz="825" dirty="0">
                    <a:solidFill>
                      <a:srgbClr val="E74C3C"/>
                    </a:solidFill>
                    <a:latin typeface="Arial"/>
                    <a:ea typeface="Microsoft YaHei"/>
                    <a:cs typeface="Arial"/>
                  </a:rPr>
                  <a:t>低（探索性假设）</a:t>
                </a:r>
              </a:p>
            </p:txBody>
          </p:sp>
        </p:grpSp>
        <p:sp>
          <p:nvSpPr>
            <p:cNvPr id="76" name="TextBox 76"/>
            <p:cNvSpPr txBox="1"/>
            <p:nvPr/>
          </p:nvSpPr>
          <p:spPr>
            <a:xfrm>
              <a:off x="6409372" y="3911441"/>
              <a:ext cx="1885688"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置信度：绿色=高 · 橙色=中 · 红色=低</a:t>
              </a:r>
            </a:p>
          </p:txBody>
        </p:sp>
      </p:grpSp>
      <p:grpSp>
        <p:nvGrpSpPr>
          <p:cNvPr id="82" name="Group 82"/>
          <p:cNvGrpSpPr/>
          <p:nvPr/>
        </p:nvGrpSpPr>
        <p:grpSpPr>
          <a:xfrm>
            <a:off x="571500" y="4476750"/>
            <a:ext cx="12686561" cy="495300"/>
            <a:chOff x="571500" y="4476750"/>
            <a:chExt cx="12686561" cy="495300"/>
          </a:xfrm>
        </p:grpSpPr>
        <p:sp>
          <p:nvSpPr>
            <p:cNvPr id="78" name="Rectangle 78"/>
            <p:cNvSpPr/>
            <p:nvPr/>
          </p:nvSpPr>
          <p:spPr>
            <a:xfrm>
              <a:off x="571500" y="4476750"/>
              <a:ext cx="11049000" cy="495300"/>
            </a:xfrm>
            <a:prstGeom prst="roundRect">
              <a:avLst>
                <a:gd name="adj" fmla="val 15385"/>
              </a:avLst>
            </a:prstGeom>
            <a:solidFill>
              <a:srgbClr val="1A3A5C">
                <a:alpha val="6000"/>
              </a:srgbClr>
            </a:solidFill>
            <a:ln>
              <a:noFill/>
            </a:ln>
          </p:spPr>
        </p:sp>
        <p:sp>
          <p:nvSpPr>
            <p:cNvPr id="79" name="Rectangle 79"/>
            <p:cNvSpPr/>
            <p:nvPr/>
          </p:nvSpPr>
          <p:spPr>
            <a:xfrm>
              <a:off x="571500" y="4476750"/>
              <a:ext cx="38100" cy="495300"/>
            </a:xfrm>
            <a:prstGeom prst="roundRect">
              <a:avLst>
                <a:gd name="adj" fmla="val 50000"/>
              </a:avLst>
            </a:prstGeom>
            <a:solidFill>
              <a:srgbClr val="1A3A5C"/>
            </a:solidFill>
            <a:ln>
              <a:noFill/>
            </a:ln>
          </p:spPr>
        </p:sp>
        <p:sp>
          <p:nvSpPr>
            <p:cNvPr id="80" name="TextBox 80"/>
            <p:cNvSpPr txBox="1"/>
            <p:nvPr/>
          </p:nvSpPr>
          <p:spPr>
            <a:xfrm>
              <a:off x="796290" y="4572952"/>
              <a:ext cx="761762"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总体结论：</a:t>
              </a:r>
            </a:p>
          </p:txBody>
        </p:sp>
        <p:sp>
          <p:nvSpPr>
            <p:cNvPr id="81" name="TextBox 81"/>
            <p:cNvSpPr txBox="1"/>
            <p:nvPr/>
          </p:nvSpPr>
          <p:spPr>
            <a:xfrm>
              <a:off x="797242" y="4771549"/>
              <a:ext cx="12460819"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Steam 是"赢家通吃"的高度集中市场，基于用户行为特征和游戏属性特征的机器学习模型能有效预测推荐行为（ROC-AUC 0.75-0.85）。游戏口碑和用户历史倾向是最强预测特征，冷启动问题是平台面临的核心挑战。</a:t>
              </a:r>
            </a:p>
          </p:txBody>
        </p:sp>
      </p:grpSp>
      <p:sp>
        <p:nvSpPr>
          <p:cNvPr id="83" name="TextBox 83"/>
          <p:cNvSpPr txBox="1"/>
          <p:nvPr/>
        </p:nvSpPr>
        <p:spPr>
          <a:xfrm>
            <a:off x="561022" y="5263991"/>
            <a:ext cx="4245483" cy="167640"/>
          </a:xfrm>
          <a:prstGeom prst="rect">
            <a:avLst/>
          </a:prstGeom>
          <a:noFill/>
          <a:ln>
            <a:noFill/>
          </a:ln>
        </p:spPr>
        <p:txBody>
          <a:bodyPr wrap="none" lIns="0" tIns="0" rIns="0" bIns="0" anchor="t" anchorCtr="0">
            <a:spAutoFit/>
          </a:bodyPr>
          <a:lstStyle/>
          <a:p>
            <a:pPr algn="l"/>
            <a:r>
              <a:rPr lang="zh-CN" sz="825" dirty="0">
                <a:solidFill>
                  <a:srgbClr val="B2BEC3"/>
                </a:solidFill>
                <a:latin typeface="Arial"/>
                <a:ea typeface="Microsoft YaHei"/>
                <a:cs typeface="Arial"/>
              </a:rPr>
              <a:t>详细发现见 docs/07-findings-summary.md · 每项发现均标注置信度等级和证据来源</a:t>
            </a:r>
          </a:p>
        </p:txBody>
      </p:sp>
      <p:sp>
        <p:nvSpPr>
          <p:cNvPr id="84" name="TextBox 84"/>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400"/>
                                        <p:tgtEl>
                                          <p:spTgt spid="4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slide(fromBottom)">
                                      <p:cBhvr>
                                        <p:cTn id="15" dur="400"/>
                                        <p:tgtEl>
                                          <p:spTgt spid="7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8" grpId="0"/>
      <p:bldP spid="77" grpId="0"/>
      <p:bldP spid="8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160753" cy="510064"/>
            <a:chOff x="571500" y="268605"/>
            <a:chExt cx="3160753"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1229487"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业务建议</a:t>
              </a:r>
            </a:p>
          </p:txBody>
        </p:sp>
        <p:sp>
          <p:nvSpPr>
            <p:cNvPr id="5" name="TextBox 5"/>
            <p:cNvSpPr txBox="1"/>
            <p:nvPr/>
          </p:nvSpPr>
          <p:spPr>
            <a:xfrm>
              <a:off x="749618" y="580549"/>
              <a:ext cx="2982635"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基于 10 项核心发现 · 游戏开发者 + 平台运营双视角</a:t>
              </a:r>
            </a:p>
          </p:txBody>
        </p:sp>
      </p:grpSp>
      <p:grpSp>
        <p:nvGrpSpPr>
          <p:cNvPr id="36" name="Group 36"/>
          <p:cNvGrpSpPr/>
          <p:nvPr/>
        </p:nvGrpSpPr>
        <p:grpSpPr>
          <a:xfrm>
            <a:off x="571500" y="1047750"/>
            <a:ext cx="5429250" cy="4667250"/>
            <a:chOff x="571500" y="1047750"/>
            <a:chExt cx="5429250" cy="4667250"/>
          </a:xfrm>
        </p:grpSpPr>
        <p:sp>
          <p:nvSpPr>
            <p:cNvPr id="7" name="Rectangle 7"/>
            <p:cNvSpPr/>
            <p:nvPr/>
          </p:nvSpPr>
          <p:spPr>
            <a:xfrm>
              <a:off x="571500" y="1047750"/>
              <a:ext cx="5429250" cy="4667250"/>
            </a:xfrm>
            <a:prstGeom prst="roundRect">
              <a:avLst>
                <a:gd name="adj" fmla="val 1633"/>
              </a:avLst>
            </a:prstGeom>
            <a:solidFill>
              <a:srgbClr val="FFFFFF"/>
            </a:solidFill>
            <a:ln w="9525">
              <a:solidFill>
                <a:srgbClr val="DFE6E9"/>
              </a:solidFill>
            </a:ln>
          </p:spPr>
        </p:sp>
        <p:sp>
          <p:nvSpPr>
            <p:cNvPr id="8" name="Rectangle 8"/>
            <p:cNvSpPr/>
            <p:nvPr/>
          </p:nvSpPr>
          <p:spPr>
            <a:xfrm>
              <a:off x="571500" y="1047750"/>
              <a:ext cx="5429250" cy="38100"/>
            </a:xfrm>
            <a:prstGeom prst="roundRect">
              <a:avLst>
                <a:gd name="adj" fmla="val 50000"/>
              </a:avLst>
            </a:prstGeom>
            <a:solidFill>
              <a:srgbClr val="1A3A5C"/>
            </a:solidFill>
            <a:ln>
              <a:noFill/>
            </a:ln>
          </p:spPr>
        </p:sp>
        <p:grpSp>
          <p:nvGrpSpPr>
            <p:cNvPr id="14" name="Group 14"/>
            <p:cNvGrpSpPr/>
            <p:nvPr/>
          </p:nvGrpSpPr>
          <p:grpSpPr>
            <a:xfrm>
              <a:off x="833438" y="1330325"/>
              <a:ext cx="1415939" cy="277019"/>
              <a:chOff x="833438" y="1330325"/>
              <a:chExt cx="1415939" cy="277019"/>
            </a:xfrm>
          </p:grpSpPr>
          <p:grpSp>
            <p:nvGrpSpPr>
              <p:cNvPr id="12" name="Group 12"/>
              <p:cNvGrpSpPr/>
              <p:nvPr/>
            </p:nvGrpSpPr>
            <p:grpSpPr>
              <a:xfrm>
                <a:off x="833438" y="1330325"/>
                <a:ext cx="200025" cy="177800"/>
                <a:chOff x="833438" y="1330325"/>
                <a:chExt cx="200025" cy="177800"/>
              </a:xfrm>
            </p:grpSpPr>
            <p:sp>
              <p:nvSpPr>
                <p:cNvPr id="9" name="Freeform 9"/>
                <p:cNvSpPr/>
                <p:nvPr/>
              </p:nvSpPr>
              <p:spPr>
                <a:xfrm>
                  <a:off x="833438" y="1374775"/>
                  <a:ext cx="44450" cy="88900"/>
                </a:xfrm>
                <a:custGeom>
                  <a:avLst/>
                  <a:gdLst/>
                  <a:ahLst/>
                  <a:cxnLst/>
                  <a:rect l="l" t="t" r="r" b="b"/>
                  <a:pathLst>
                    <a:path w="44450" h="88900">
                      <a:moveTo>
                        <a:pt x="44450" y="0"/>
                      </a:moveTo>
                      <a:lnTo>
                        <a:pt x="0" y="44450"/>
                      </a:lnTo>
                      <a:lnTo>
                        <a:pt x="44450" y="88900"/>
                      </a:lnTo>
                    </a:path>
                  </a:pathLst>
                </a:custGeom>
                <a:noFill/>
                <a:ln w="19050">
                  <a:solidFill>
                    <a:srgbClr val="1A3A5C"/>
                  </a:solidFill>
                </a:ln>
              </p:spPr>
            </p:sp>
            <p:sp>
              <p:nvSpPr>
                <p:cNvPr id="10" name="Freeform 10"/>
                <p:cNvSpPr/>
                <p:nvPr/>
              </p:nvSpPr>
              <p:spPr>
                <a:xfrm>
                  <a:off x="989013" y="1374775"/>
                  <a:ext cx="44450" cy="88900"/>
                </a:xfrm>
                <a:custGeom>
                  <a:avLst/>
                  <a:gdLst/>
                  <a:ahLst/>
                  <a:cxnLst/>
                  <a:rect l="l" t="t" r="r" b="b"/>
                  <a:pathLst>
                    <a:path w="44450" h="88900">
                      <a:moveTo>
                        <a:pt x="0" y="0"/>
                      </a:moveTo>
                      <a:lnTo>
                        <a:pt x="44450" y="44450"/>
                      </a:lnTo>
                      <a:lnTo>
                        <a:pt x="0" y="88900"/>
                      </a:lnTo>
                    </a:path>
                  </a:pathLst>
                </a:custGeom>
                <a:noFill/>
                <a:ln w="19050">
                  <a:solidFill>
                    <a:srgbClr val="1A3A5C"/>
                  </a:solidFill>
                </a:ln>
              </p:spPr>
            </p:sp>
            <p:sp>
              <p:nvSpPr>
                <p:cNvPr id="11" name="Freeform 11"/>
                <p:cNvSpPr/>
                <p:nvPr/>
              </p:nvSpPr>
              <p:spPr>
                <a:xfrm>
                  <a:off x="911225" y="1330325"/>
                  <a:ext cx="44450" cy="177800"/>
                </a:xfrm>
                <a:custGeom>
                  <a:avLst/>
                  <a:gdLst/>
                  <a:ahLst/>
                  <a:cxnLst/>
                  <a:rect l="l" t="t" r="r" b="b"/>
                  <a:pathLst>
                    <a:path w="44450" h="177800">
                      <a:moveTo>
                        <a:pt x="44450" y="0"/>
                      </a:moveTo>
                      <a:lnTo>
                        <a:pt x="0" y="177800"/>
                      </a:lnTo>
                    </a:path>
                  </a:pathLst>
                </a:custGeom>
                <a:noFill/>
                <a:ln w="19050">
                  <a:solidFill>
                    <a:srgbClr val="1A3A5C"/>
                  </a:solidFill>
                </a:ln>
              </p:spPr>
            </p:sp>
          </p:grpSp>
          <p:sp>
            <p:nvSpPr>
              <p:cNvPr id="13" name="TextBox 13"/>
              <p:cNvSpPr txBox="1"/>
              <p:nvPr/>
            </p:nvSpPr>
            <p:spPr>
              <a:xfrm>
                <a:off x="1145858" y="1348264"/>
                <a:ext cx="1103519" cy="259080"/>
              </a:xfrm>
              <a:prstGeom prst="rect">
                <a:avLst/>
              </a:prstGeom>
              <a:noFill/>
              <a:ln>
                <a:noFill/>
              </a:ln>
            </p:spPr>
            <p:txBody>
              <a:bodyPr wrap="none" lIns="0" tIns="0" rIns="0" bIns="0" anchor="t" anchorCtr="0">
                <a:spAutoFit/>
              </a:bodyPr>
              <a:lstStyle/>
              <a:p>
                <a:pPr algn="l"/>
                <a:r>
                  <a:rPr lang="zh-CN" sz="1275" b="1" dirty="0">
                    <a:solidFill>
                      <a:srgbClr val="1A3A5C"/>
                    </a:solidFill>
                    <a:latin typeface="Arial"/>
                    <a:ea typeface="Microsoft YaHei"/>
                    <a:cs typeface="Arial"/>
                  </a:rPr>
                  <a:t>给游戏开发者</a:t>
                </a:r>
              </a:p>
            </p:txBody>
          </p:sp>
        </p:grpSp>
        <p:grpSp>
          <p:nvGrpSpPr>
            <p:cNvPr id="21" name="Group 21"/>
            <p:cNvGrpSpPr/>
            <p:nvPr/>
          </p:nvGrpSpPr>
          <p:grpSpPr>
            <a:xfrm>
              <a:off x="800100" y="1714500"/>
              <a:ext cx="2446020" cy="828675"/>
              <a:chOff x="800100" y="1714500"/>
              <a:chExt cx="2446020" cy="828675"/>
            </a:xfrm>
          </p:grpSpPr>
          <p:sp>
            <p:nvSpPr>
              <p:cNvPr id="15" name="Rectangle 15"/>
              <p:cNvSpPr/>
              <p:nvPr/>
            </p:nvSpPr>
            <p:spPr>
              <a:xfrm>
                <a:off x="800100" y="1714500"/>
                <a:ext cx="381000" cy="381000"/>
              </a:xfrm>
              <a:prstGeom prst="roundRect">
                <a:avLst>
                  <a:gd name="adj" fmla="val 20000"/>
                </a:avLst>
              </a:prstGeom>
              <a:solidFill>
                <a:srgbClr val="1A3A5C">
                  <a:alpha val="10000"/>
                </a:srgbClr>
              </a:solidFill>
              <a:ln>
                <a:noFill/>
              </a:ln>
            </p:spPr>
          </p:sp>
          <p:sp>
            <p:nvSpPr>
              <p:cNvPr id="16" name="TextBox 16"/>
              <p:cNvSpPr txBox="1"/>
              <p:nvPr/>
            </p:nvSpPr>
            <p:spPr>
              <a:xfrm>
                <a:off x="945101" y="1825942"/>
                <a:ext cx="90997"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Arial"/>
                    <a:ea typeface="Microsoft YaHei"/>
                    <a:cs typeface="Arial"/>
                  </a:rPr>
                  <a:t>1</a:t>
                </a:r>
              </a:p>
            </p:txBody>
          </p:sp>
          <p:sp>
            <p:nvSpPr>
              <p:cNvPr id="17" name="TextBox 17"/>
              <p:cNvSpPr txBox="1"/>
              <p:nvPr/>
            </p:nvSpPr>
            <p:spPr>
              <a:xfrm>
                <a:off x="1301115" y="1791652"/>
                <a:ext cx="1805592"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定价策略：避开"价格断层"</a:t>
                </a:r>
              </a:p>
            </p:txBody>
          </p:sp>
          <p:sp>
            <p:nvSpPr>
              <p:cNvPr id="18" name="TextBox 18"/>
              <p:cNvSpPr txBox="1"/>
              <p:nvPr/>
            </p:nvSpPr>
            <p:spPr>
              <a:xfrm>
                <a:off x="1303972" y="1987391"/>
                <a:ext cx="598527" cy="167640"/>
              </a:xfrm>
              <a:prstGeom prst="rect">
                <a:avLst/>
              </a:prstGeom>
              <a:noFill/>
              <a:ln>
                <a:noFill/>
              </a:ln>
            </p:spPr>
            <p:txBody>
              <a:bodyPr wrap="none" lIns="0" tIns="0" rIns="0" bIns="0" anchor="t" anchorCtr="0">
                <a:spAutoFit/>
              </a:bodyPr>
              <a:lstStyle/>
              <a:p>
                <a:pPr algn="l"/>
                <a:r>
                  <a:rPr lang="zh-CN" sz="825" b="1" dirty="0">
                    <a:solidFill>
                      <a:srgbClr val="27AE60"/>
                    </a:solidFill>
                    <a:latin typeface="Arial"/>
                    <a:ea typeface="Microsoft YaHei"/>
                    <a:cs typeface="Arial"/>
                  </a:rPr>
                  <a:t>强证据建议</a:t>
                </a:r>
              </a:p>
            </p:txBody>
          </p:sp>
          <p:sp>
            <p:nvSpPr>
              <p:cNvPr id="19" name="TextBox 19"/>
              <p:cNvSpPr txBox="1"/>
              <p:nvPr/>
            </p:nvSpPr>
            <p:spPr>
              <a:xfrm>
                <a:off x="1303020" y="2188845"/>
                <a:ext cx="194310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选择 $5-$15 低价入市或 $60 3A锚定</a:t>
                </a:r>
              </a:p>
            </p:txBody>
          </p:sp>
          <p:sp>
            <p:nvSpPr>
              <p:cNvPr id="20" name="TextBox 20"/>
              <p:cNvSpPr txBox="1"/>
              <p:nvPr/>
            </p:nvSpPr>
            <p:spPr>
              <a:xfrm>
                <a:off x="1303020" y="2360295"/>
                <a:ext cx="1517047"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避开 $20-$40 中间模糊地带</a:t>
                </a:r>
              </a:p>
            </p:txBody>
          </p:sp>
        </p:grpSp>
        <p:grpSp>
          <p:nvGrpSpPr>
            <p:cNvPr id="28" name="Group 28"/>
            <p:cNvGrpSpPr/>
            <p:nvPr/>
          </p:nvGrpSpPr>
          <p:grpSpPr>
            <a:xfrm>
              <a:off x="800100" y="2667000"/>
              <a:ext cx="2608040" cy="828675"/>
              <a:chOff x="800100" y="2667000"/>
              <a:chExt cx="2608040" cy="828675"/>
            </a:xfrm>
          </p:grpSpPr>
          <p:sp>
            <p:nvSpPr>
              <p:cNvPr id="22" name="Rectangle 22"/>
              <p:cNvSpPr/>
              <p:nvPr/>
            </p:nvSpPr>
            <p:spPr>
              <a:xfrm>
                <a:off x="800100" y="2667000"/>
                <a:ext cx="381000" cy="381000"/>
              </a:xfrm>
              <a:prstGeom prst="roundRect">
                <a:avLst>
                  <a:gd name="adj" fmla="val 20000"/>
                </a:avLst>
              </a:prstGeom>
              <a:solidFill>
                <a:srgbClr val="2E86AB">
                  <a:alpha val="10000"/>
                </a:srgbClr>
              </a:solidFill>
              <a:ln>
                <a:noFill/>
              </a:ln>
            </p:spPr>
          </p:sp>
          <p:sp>
            <p:nvSpPr>
              <p:cNvPr id="23" name="TextBox 23"/>
              <p:cNvSpPr txBox="1"/>
              <p:nvPr/>
            </p:nvSpPr>
            <p:spPr>
              <a:xfrm>
                <a:off x="921474" y="2778442"/>
                <a:ext cx="138253" cy="274320"/>
              </a:xfrm>
              <a:prstGeom prst="rect">
                <a:avLst/>
              </a:prstGeom>
              <a:noFill/>
              <a:ln>
                <a:noFill/>
              </a:ln>
            </p:spPr>
            <p:txBody>
              <a:bodyPr wrap="none" lIns="0" tIns="0" rIns="0" bIns="0" anchor="t" anchorCtr="0">
                <a:spAutoFit/>
              </a:bodyPr>
              <a:lstStyle/>
              <a:p>
                <a:pPr algn="ctr"/>
                <a:r>
                  <a:rPr lang="zh-CN" sz="1350" b="1" dirty="0">
                    <a:solidFill>
                      <a:srgbClr val="2E86AB"/>
                    </a:solidFill>
                    <a:latin typeface="Arial"/>
                    <a:ea typeface="Microsoft YaHei"/>
                    <a:cs typeface="Arial"/>
                  </a:rPr>
                  <a:t>2</a:t>
                </a:r>
              </a:p>
            </p:txBody>
          </p:sp>
          <p:sp>
            <p:nvSpPr>
              <p:cNvPr id="24" name="TextBox 24"/>
              <p:cNvSpPr txBox="1"/>
              <p:nvPr/>
            </p:nvSpPr>
            <p:spPr>
              <a:xfrm>
                <a:off x="1301115" y="2744152"/>
                <a:ext cx="1849698"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类型选择：Indie + 热门组合</a:t>
                </a:r>
              </a:p>
            </p:txBody>
          </p:sp>
          <p:sp>
            <p:nvSpPr>
              <p:cNvPr id="25" name="TextBox 25"/>
              <p:cNvSpPr txBox="1"/>
              <p:nvPr/>
            </p:nvSpPr>
            <p:spPr>
              <a:xfrm>
                <a:off x="1303972" y="2939891"/>
                <a:ext cx="598527" cy="167640"/>
              </a:xfrm>
              <a:prstGeom prst="rect">
                <a:avLst/>
              </a:prstGeom>
              <a:noFill/>
              <a:ln>
                <a:noFill/>
              </a:ln>
            </p:spPr>
            <p:txBody>
              <a:bodyPr wrap="none" lIns="0" tIns="0" rIns="0" bIns="0" anchor="t" anchorCtr="0">
                <a:spAutoFit/>
              </a:bodyPr>
              <a:lstStyle/>
              <a:p>
                <a:pPr algn="l"/>
                <a:r>
                  <a:rPr lang="zh-CN" sz="825" b="1" dirty="0">
                    <a:solidFill>
                      <a:srgbClr val="27AE60"/>
                    </a:solidFill>
                    <a:latin typeface="Arial"/>
                    <a:ea typeface="Microsoft YaHei"/>
                    <a:cs typeface="Arial"/>
                  </a:rPr>
                  <a:t>强证据建议</a:t>
                </a:r>
              </a:p>
            </p:txBody>
          </p:sp>
          <p:sp>
            <p:nvSpPr>
              <p:cNvPr id="26" name="TextBox 26"/>
              <p:cNvSpPr txBox="1"/>
              <p:nvPr/>
            </p:nvSpPr>
            <p:spPr>
              <a:xfrm>
                <a:off x="1303020" y="3141345"/>
                <a:ext cx="210512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搭配 Action/Adventure/RPG 热门大类</a:t>
                </a:r>
              </a:p>
            </p:txBody>
          </p:sp>
          <p:sp>
            <p:nvSpPr>
              <p:cNvPr id="27" name="TextBox 27"/>
              <p:cNvSpPr txBox="1"/>
              <p:nvPr/>
            </p:nvSpPr>
            <p:spPr>
              <a:xfrm>
                <a:off x="1303020" y="3312795"/>
                <a:ext cx="1955101"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2-4 个精准标签 &gt; 堆砌 10+ 个泛标签</a:t>
                </a:r>
              </a:p>
            </p:txBody>
          </p:sp>
        </p:grpSp>
        <p:grpSp>
          <p:nvGrpSpPr>
            <p:cNvPr id="35" name="Group 35"/>
            <p:cNvGrpSpPr/>
            <p:nvPr/>
          </p:nvGrpSpPr>
          <p:grpSpPr>
            <a:xfrm>
              <a:off x="800100" y="3619500"/>
              <a:ext cx="2732961" cy="828675"/>
              <a:chOff x="800100" y="3619500"/>
              <a:chExt cx="2732961" cy="828675"/>
            </a:xfrm>
          </p:grpSpPr>
          <p:sp>
            <p:nvSpPr>
              <p:cNvPr id="29" name="Rectangle 29"/>
              <p:cNvSpPr/>
              <p:nvPr/>
            </p:nvSpPr>
            <p:spPr>
              <a:xfrm>
                <a:off x="800100" y="3619500"/>
                <a:ext cx="381000" cy="381000"/>
              </a:xfrm>
              <a:prstGeom prst="roundRect">
                <a:avLst>
                  <a:gd name="adj" fmla="val 20000"/>
                </a:avLst>
              </a:prstGeom>
              <a:solidFill>
                <a:srgbClr val="F18F01">
                  <a:alpha val="10000"/>
                </a:srgbClr>
              </a:solidFill>
              <a:ln>
                <a:noFill/>
              </a:ln>
            </p:spPr>
          </p:sp>
          <p:sp>
            <p:nvSpPr>
              <p:cNvPr id="30" name="TextBox 30"/>
              <p:cNvSpPr txBox="1"/>
              <p:nvPr/>
            </p:nvSpPr>
            <p:spPr>
              <a:xfrm>
                <a:off x="921474" y="3730942"/>
                <a:ext cx="138253" cy="274320"/>
              </a:xfrm>
              <a:prstGeom prst="rect">
                <a:avLst/>
              </a:prstGeom>
              <a:noFill/>
              <a:ln>
                <a:noFill/>
              </a:ln>
            </p:spPr>
            <p:txBody>
              <a:bodyPr wrap="none" lIns="0" tIns="0" rIns="0" bIns="0" anchor="t" anchorCtr="0">
                <a:spAutoFit/>
              </a:bodyPr>
              <a:lstStyle/>
              <a:p>
                <a:pPr algn="ctr"/>
                <a:r>
                  <a:rPr lang="zh-CN" sz="1350" b="1" dirty="0">
                    <a:solidFill>
                      <a:srgbClr val="F18F01"/>
                    </a:solidFill>
                    <a:latin typeface="Arial"/>
                    <a:ea typeface="Microsoft YaHei"/>
                    <a:cs typeface="Arial"/>
                  </a:rPr>
                  <a:t>3</a:t>
                </a:r>
              </a:p>
            </p:txBody>
          </p:sp>
          <p:sp>
            <p:nvSpPr>
              <p:cNvPr id="31" name="TextBox 31"/>
              <p:cNvSpPr txBox="1"/>
              <p:nvPr/>
            </p:nvSpPr>
            <p:spPr>
              <a:xfrm>
                <a:off x="1301115" y="3696652"/>
                <a:ext cx="2231946"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评分管理：初期评价决定长期表现</a:t>
                </a:r>
              </a:p>
            </p:txBody>
          </p:sp>
          <p:sp>
            <p:nvSpPr>
              <p:cNvPr id="32" name="TextBox 32"/>
              <p:cNvSpPr txBox="1"/>
              <p:nvPr/>
            </p:nvSpPr>
            <p:spPr>
              <a:xfrm>
                <a:off x="1303972" y="3892391"/>
                <a:ext cx="598527" cy="167640"/>
              </a:xfrm>
              <a:prstGeom prst="rect">
                <a:avLst/>
              </a:prstGeom>
              <a:noFill/>
              <a:ln>
                <a:noFill/>
              </a:ln>
            </p:spPr>
            <p:txBody>
              <a:bodyPr wrap="none" lIns="0" tIns="0" rIns="0" bIns="0" anchor="t" anchorCtr="0">
                <a:spAutoFit/>
              </a:bodyPr>
              <a:lstStyle/>
              <a:p>
                <a:pPr algn="l"/>
                <a:r>
                  <a:rPr lang="zh-CN" sz="825" b="1" dirty="0">
                    <a:solidFill>
                      <a:srgbClr val="F18F01"/>
                    </a:solidFill>
                    <a:latin typeface="Arial"/>
                    <a:ea typeface="Microsoft YaHei"/>
                    <a:cs typeface="Arial"/>
                  </a:rPr>
                  <a:t>探索性建议</a:t>
                </a:r>
              </a:p>
            </p:txBody>
          </p:sp>
          <p:sp>
            <p:nvSpPr>
              <p:cNvPr id="33" name="TextBox 33"/>
              <p:cNvSpPr txBox="1"/>
              <p:nvPr/>
            </p:nvSpPr>
            <p:spPr>
              <a:xfrm>
                <a:off x="1303020" y="4093845"/>
                <a:ext cx="178108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上线后前 50-100 条评价至关重要</a:t>
                </a:r>
              </a:p>
            </p:txBody>
          </p:sp>
          <p:sp>
            <p:nvSpPr>
              <p:cNvPr id="34" name="TextBox 34"/>
              <p:cNvSpPr txBox="1"/>
              <p:nvPr/>
            </p:nvSpPr>
            <p:spPr>
              <a:xfrm>
                <a:off x="1303020" y="4265295"/>
                <a:ext cx="199110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Early Access 阶段积极管理社区反馈</a:t>
                </a:r>
              </a:p>
            </p:txBody>
          </p:sp>
        </p:grpSp>
      </p:grpSp>
      <p:grpSp>
        <p:nvGrpSpPr>
          <p:cNvPr id="67" name="Group 67"/>
          <p:cNvGrpSpPr/>
          <p:nvPr/>
        </p:nvGrpSpPr>
        <p:grpSpPr>
          <a:xfrm>
            <a:off x="6191250" y="1047750"/>
            <a:ext cx="5429250" cy="4667250"/>
            <a:chOff x="6191250" y="1047750"/>
            <a:chExt cx="5429250" cy="4667250"/>
          </a:xfrm>
        </p:grpSpPr>
        <p:sp>
          <p:nvSpPr>
            <p:cNvPr id="37" name="Rectangle 37"/>
            <p:cNvSpPr/>
            <p:nvPr/>
          </p:nvSpPr>
          <p:spPr>
            <a:xfrm>
              <a:off x="6191250" y="1047750"/>
              <a:ext cx="5429250" cy="4667250"/>
            </a:xfrm>
            <a:prstGeom prst="roundRect">
              <a:avLst>
                <a:gd name="adj" fmla="val 1633"/>
              </a:avLst>
            </a:prstGeom>
            <a:solidFill>
              <a:srgbClr val="FFFFFF"/>
            </a:solidFill>
            <a:ln w="9525">
              <a:solidFill>
                <a:srgbClr val="DFE6E9"/>
              </a:solidFill>
            </a:ln>
          </p:spPr>
        </p:sp>
        <p:sp>
          <p:nvSpPr>
            <p:cNvPr id="38" name="Rectangle 38"/>
            <p:cNvSpPr/>
            <p:nvPr/>
          </p:nvSpPr>
          <p:spPr>
            <a:xfrm>
              <a:off x="6191250" y="1047750"/>
              <a:ext cx="5429250" cy="38100"/>
            </a:xfrm>
            <a:prstGeom prst="roundRect">
              <a:avLst>
                <a:gd name="adj" fmla="val 50000"/>
              </a:avLst>
            </a:prstGeom>
            <a:solidFill>
              <a:srgbClr val="2E86AB"/>
            </a:solidFill>
            <a:ln>
              <a:noFill/>
            </a:ln>
          </p:spPr>
        </p:sp>
        <p:grpSp>
          <p:nvGrpSpPr>
            <p:cNvPr id="45" name="Group 45"/>
            <p:cNvGrpSpPr/>
            <p:nvPr/>
          </p:nvGrpSpPr>
          <p:grpSpPr>
            <a:xfrm>
              <a:off x="6453188" y="1330325"/>
              <a:ext cx="1237417" cy="277019"/>
              <a:chOff x="6453188" y="1330325"/>
              <a:chExt cx="1237417" cy="277019"/>
            </a:xfrm>
          </p:grpSpPr>
          <p:grpSp>
            <p:nvGrpSpPr>
              <p:cNvPr id="43" name="Group 43"/>
              <p:cNvGrpSpPr/>
              <p:nvPr/>
            </p:nvGrpSpPr>
            <p:grpSpPr>
              <a:xfrm>
                <a:off x="6453188" y="1330325"/>
                <a:ext cx="200025" cy="177800"/>
                <a:chOff x="6453188" y="1330325"/>
                <a:chExt cx="200025" cy="177800"/>
              </a:xfrm>
            </p:grpSpPr>
            <p:sp>
              <p:nvSpPr>
                <p:cNvPr id="39" name="Freeform 39"/>
                <p:cNvSpPr/>
                <p:nvPr/>
              </p:nvSpPr>
              <p:spPr>
                <a:xfrm>
                  <a:off x="6453188" y="1330325"/>
                  <a:ext cx="200025" cy="88900"/>
                </a:xfrm>
                <a:custGeom>
                  <a:avLst/>
                  <a:gdLst/>
                  <a:ahLst/>
                  <a:cxnLst/>
                  <a:rect l="l" t="t" r="r" b="b"/>
                  <a:pathLst>
                    <a:path w="200025" h="88900">
                      <a:moveTo>
                        <a:pt x="0" y="33338"/>
                      </a:moveTo>
                      <a:cubicBezTo>
                        <a:pt x="0" y="14926"/>
                        <a:pt x="14926" y="0"/>
                        <a:pt x="33338" y="0"/>
                      </a:cubicBezTo>
                      <a:lnTo>
                        <a:pt x="166688" y="0"/>
                      </a:lnTo>
                      <a:cubicBezTo>
                        <a:pt x="185099" y="0"/>
                        <a:pt x="200025" y="14926"/>
                        <a:pt x="200025" y="33338"/>
                      </a:cubicBezTo>
                      <a:lnTo>
                        <a:pt x="200025" y="55563"/>
                      </a:lnTo>
                      <a:cubicBezTo>
                        <a:pt x="200025" y="73974"/>
                        <a:pt x="185099" y="88900"/>
                        <a:pt x="166688" y="88900"/>
                      </a:cubicBezTo>
                      <a:lnTo>
                        <a:pt x="33338" y="88900"/>
                      </a:lnTo>
                      <a:cubicBezTo>
                        <a:pt x="14926" y="88900"/>
                        <a:pt x="0" y="73974"/>
                        <a:pt x="0" y="55563"/>
                      </a:cubicBezTo>
                    </a:path>
                  </a:pathLst>
                </a:custGeom>
                <a:noFill/>
                <a:ln w="19050">
                  <a:solidFill>
                    <a:srgbClr val="2E86AB"/>
                  </a:solidFill>
                </a:ln>
              </p:spPr>
            </p:sp>
            <p:sp>
              <p:nvSpPr>
                <p:cNvPr id="40" name="Freeform 40"/>
                <p:cNvSpPr/>
                <p:nvPr/>
              </p:nvSpPr>
              <p:spPr>
                <a:xfrm>
                  <a:off x="6453188" y="1419225"/>
                  <a:ext cx="200025" cy="88900"/>
                </a:xfrm>
                <a:custGeom>
                  <a:avLst/>
                  <a:gdLst/>
                  <a:ahLst/>
                  <a:cxnLst/>
                  <a:rect l="l" t="t" r="r" b="b"/>
                  <a:pathLst>
                    <a:path w="200025" h="88900">
                      <a:moveTo>
                        <a:pt x="0" y="33338"/>
                      </a:moveTo>
                      <a:cubicBezTo>
                        <a:pt x="0" y="14926"/>
                        <a:pt x="14926" y="0"/>
                        <a:pt x="33338" y="0"/>
                      </a:cubicBezTo>
                      <a:lnTo>
                        <a:pt x="166688" y="0"/>
                      </a:lnTo>
                      <a:cubicBezTo>
                        <a:pt x="185099" y="0"/>
                        <a:pt x="200025" y="14926"/>
                        <a:pt x="200025" y="33338"/>
                      </a:cubicBezTo>
                      <a:lnTo>
                        <a:pt x="200025" y="55563"/>
                      </a:lnTo>
                      <a:cubicBezTo>
                        <a:pt x="200025" y="73974"/>
                        <a:pt x="185099" y="88900"/>
                        <a:pt x="166688" y="88900"/>
                      </a:cubicBezTo>
                      <a:lnTo>
                        <a:pt x="33338" y="88900"/>
                      </a:lnTo>
                      <a:cubicBezTo>
                        <a:pt x="14926" y="88900"/>
                        <a:pt x="0" y="73974"/>
                        <a:pt x="0" y="55563"/>
                      </a:cubicBezTo>
                      <a:lnTo>
                        <a:pt x="0" y="33338"/>
                      </a:lnTo>
                    </a:path>
                  </a:pathLst>
                </a:custGeom>
                <a:noFill/>
                <a:ln w="19050">
                  <a:solidFill>
                    <a:srgbClr val="2E86AB"/>
                  </a:solidFill>
                </a:ln>
              </p:spPr>
            </p:sp>
            <p:sp>
              <p:nvSpPr>
                <p:cNvPr id="41" name="Freeform 41"/>
                <p:cNvSpPr/>
                <p:nvPr/>
              </p:nvSpPr>
              <p:spPr>
                <a:xfrm>
                  <a:off x="6497638" y="1374775"/>
                  <a:ext cx="9525" cy="9525"/>
                </a:xfrm>
                <a:custGeom>
                  <a:avLst/>
                  <a:gdLst/>
                  <a:ahLst/>
                  <a:cxnLst/>
                  <a:rect l="l" t="t" r="r" b="b"/>
                  <a:pathLst>
                    <a:path w="9525" h="9525">
                      <a:moveTo>
                        <a:pt x="0" y="0"/>
                      </a:moveTo>
                      <a:lnTo>
                        <a:pt x="0" y="111"/>
                      </a:lnTo>
                    </a:path>
                  </a:pathLst>
                </a:custGeom>
                <a:noFill/>
                <a:ln w="19050">
                  <a:solidFill>
                    <a:srgbClr val="2E86AB"/>
                  </a:solidFill>
                </a:ln>
              </p:spPr>
            </p:sp>
            <p:sp>
              <p:nvSpPr>
                <p:cNvPr id="42" name="Freeform 42"/>
                <p:cNvSpPr/>
                <p:nvPr/>
              </p:nvSpPr>
              <p:spPr>
                <a:xfrm>
                  <a:off x="6497638" y="1463675"/>
                  <a:ext cx="9525" cy="9525"/>
                </a:xfrm>
                <a:custGeom>
                  <a:avLst/>
                  <a:gdLst/>
                  <a:ahLst/>
                  <a:cxnLst/>
                  <a:rect l="l" t="t" r="r" b="b"/>
                  <a:pathLst>
                    <a:path w="9525" h="9525">
                      <a:moveTo>
                        <a:pt x="0" y="0"/>
                      </a:moveTo>
                      <a:lnTo>
                        <a:pt x="0" y="111"/>
                      </a:lnTo>
                    </a:path>
                  </a:pathLst>
                </a:custGeom>
                <a:noFill/>
                <a:ln w="19050">
                  <a:solidFill>
                    <a:srgbClr val="2E86AB"/>
                  </a:solidFill>
                </a:ln>
              </p:spPr>
            </p:sp>
          </p:grpSp>
          <p:sp>
            <p:nvSpPr>
              <p:cNvPr id="44" name="TextBox 44"/>
              <p:cNvSpPr txBox="1"/>
              <p:nvPr/>
            </p:nvSpPr>
            <p:spPr>
              <a:xfrm>
                <a:off x="6765608" y="1348264"/>
                <a:ext cx="924997" cy="259080"/>
              </a:xfrm>
              <a:prstGeom prst="rect">
                <a:avLst/>
              </a:prstGeom>
              <a:noFill/>
              <a:ln>
                <a:noFill/>
              </a:ln>
            </p:spPr>
            <p:txBody>
              <a:bodyPr wrap="none" lIns="0" tIns="0" rIns="0" bIns="0" anchor="t" anchorCtr="0">
                <a:spAutoFit/>
              </a:bodyPr>
              <a:lstStyle/>
              <a:p>
                <a:pPr algn="l"/>
                <a:r>
                  <a:rPr lang="zh-CN" sz="1275" b="1" dirty="0">
                    <a:solidFill>
                      <a:srgbClr val="2E86AB"/>
                    </a:solidFill>
                    <a:latin typeface="Arial"/>
                    <a:ea typeface="Microsoft YaHei"/>
                    <a:cs typeface="Arial"/>
                  </a:rPr>
                  <a:t>给平台运营</a:t>
                </a:r>
              </a:p>
            </p:txBody>
          </p:sp>
        </p:grpSp>
        <p:grpSp>
          <p:nvGrpSpPr>
            <p:cNvPr id="52" name="Group 52"/>
            <p:cNvGrpSpPr/>
            <p:nvPr/>
          </p:nvGrpSpPr>
          <p:grpSpPr>
            <a:xfrm>
              <a:off x="6419850" y="1714500"/>
              <a:ext cx="4288250" cy="828675"/>
              <a:chOff x="6419850" y="1714500"/>
              <a:chExt cx="4288250" cy="828675"/>
            </a:xfrm>
          </p:grpSpPr>
          <p:sp>
            <p:nvSpPr>
              <p:cNvPr id="46" name="Rectangle 46"/>
              <p:cNvSpPr/>
              <p:nvPr/>
            </p:nvSpPr>
            <p:spPr>
              <a:xfrm>
                <a:off x="6419850" y="1714500"/>
                <a:ext cx="381000" cy="381000"/>
              </a:xfrm>
              <a:prstGeom prst="roundRect">
                <a:avLst>
                  <a:gd name="adj" fmla="val 20000"/>
                </a:avLst>
              </a:prstGeom>
              <a:solidFill>
                <a:srgbClr val="2E86AB">
                  <a:alpha val="10000"/>
                </a:srgbClr>
              </a:solidFill>
              <a:ln>
                <a:noFill/>
              </a:ln>
            </p:spPr>
          </p:sp>
          <p:sp>
            <p:nvSpPr>
              <p:cNvPr id="47" name="TextBox 47"/>
              <p:cNvSpPr txBox="1"/>
              <p:nvPr/>
            </p:nvSpPr>
            <p:spPr>
              <a:xfrm>
                <a:off x="6541224" y="1825942"/>
                <a:ext cx="138253" cy="274320"/>
              </a:xfrm>
              <a:prstGeom prst="rect">
                <a:avLst/>
              </a:prstGeom>
              <a:noFill/>
              <a:ln>
                <a:noFill/>
              </a:ln>
            </p:spPr>
            <p:txBody>
              <a:bodyPr wrap="none" lIns="0" tIns="0" rIns="0" bIns="0" anchor="t" anchorCtr="0">
                <a:spAutoFit/>
              </a:bodyPr>
              <a:lstStyle/>
              <a:p>
                <a:pPr algn="ctr"/>
                <a:r>
                  <a:rPr lang="zh-CN" sz="1350" b="1" dirty="0">
                    <a:solidFill>
                      <a:srgbClr val="2E86AB"/>
                    </a:solidFill>
                    <a:latin typeface="Arial"/>
                    <a:ea typeface="Microsoft YaHei"/>
                    <a:cs typeface="Arial"/>
                  </a:rPr>
                  <a:t>4</a:t>
                </a:r>
              </a:p>
            </p:txBody>
          </p:sp>
          <p:sp>
            <p:nvSpPr>
              <p:cNvPr id="48" name="TextBox 48"/>
              <p:cNvSpPr txBox="1"/>
              <p:nvPr/>
            </p:nvSpPr>
            <p:spPr>
              <a:xfrm>
                <a:off x="6920865" y="1791652"/>
                <a:ext cx="2018769"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推荐算法：口碑+用户倾向优先</a:t>
                </a:r>
              </a:p>
            </p:txBody>
          </p:sp>
          <p:sp>
            <p:nvSpPr>
              <p:cNvPr id="49" name="TextBox 49"/>
              <p:cNvSpPr txBox="1"/>
              <p:nvPr/>
            </p:nvSpPr>
            <p:spPr>
              <a:xfrm>
                <a:off x="6923722" y="1987391"/>
                <a:ext cx="598527" cy="167640"/>
              </a:xfrm>
              <a:prstGeom prst="rect">
                <a:avLst/>
              </a:prstGeom>
              <a:noFill/>
              <a:ln>
                <a:noFill/>
              </a:ln>
            </p:spPr>
            <p:txBody>
              <a:bodyPr wrap="none" lIns="0" tIns="0" rIns="0" bIns="0" anchor="t" anchorCtr="0">
                <a:spAutoFit/>
              </a:bodyPr>
              <a:lstStyle/>
              <a:p>
                <a:pPr algn="l"/>
                <a:r>
                  <a:rPr lang="zh-CN" sz="825" b="1" dirty="0">
                    <a:solidFill>
                      <a:srgbClr val="27AE60"/>
                    </a:solidFill>
                    <a:latin typeface="Arial"/>
                    <a:ea typeface="Microsoft YaHei"/>
                    <a:cs typeface="Arial"/>
                  </a:rPr>
                  <a:t>强证据建议</a:t>
                </a:r>
              </a:p>
            </p:txBody>
          </p:sp>
          <p:sp>
            <p:nvSpPr>
              <p:cNvPr id="50" name="TextBox 50"/>
              <p:cNvSpPr txBox="1"/>
              <p:nvPr/>
            </p:nvSpPr>
            <p:spPr>
              <a:xfrm>
                <a:off x="6922770" y="2188845"/>
                <a:ext cx="378533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game_recommend_rate + user_recommend_rate 为第一优先级特征</a:t>
                </a:r>
              </a:p>
            </p:txBody>
          </p:sp>
          <p:sp>
            <p:nvSpPr>
              <p:cNvPr id="51" name="TextBox 51"/>
              <p:cNvSpPr txBox="1"/>
              <p:nvPr/>
            </p:nvSpPr>
            <p:spPr>
              <a:xfrm>
                <a:off x="6922770" y="2360295"/>
                <a:ext cx="158305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价格和活跃度作为第二优先级</a:t>
                </a:r>
              </a:p>
            </p:txBody>
          </p:sp>
        </p:grpSp>
        <p:grpSp>
          <p:nvGrpSpPr>
            <p:cNvPr id="59" name="Group 59"/>
            <p:cNvGrpSpPr/>
            <p:nvPr/>
          </p:nvGrpSpPr>
          <p:grpSpPr>
            <a:xfrm>
              <a:off x="6419850" y="2667000"/>
              <a:ext cx="3160109" cy="828675"/>
              <a:chOff x="6419850" y="2667000"/>
              <a:chExt cx="3160109" cy="828675"/>
            </a:xfrm>
          </p:grpSpPr>
          <p:sp>
            <p:nvSpPr>
              <p:cNvPr id="53" name="Rectangle 53"/>
              <p:cNvSpPr/>
              <p:nvPr/>
            </p:nvSpPr>
            <p:spPr>
              <a:xfrm>
                <a:off x="6419850" y="2667000"/>
                <a:ext cx="381000" cy="381000"/>
              </a:xfrm>
              <a:prstGeom prst="roundRect">
                <a:avLst>
                  <a:gd name="adj" fmla="val 20000"/>
                </a:avLst>
              </a:prstGeom>
              <a:solidFill>
                <a:srgbClr val="F18F01">
                  <a:alpha val="10000"/>
                </a:srgbClr>
              </a:solidFill>
              <a:ln>
                <a:noFill/>
              </a:ln>
            </p:spPr>
          </p:sp>
          <p:sp>
            <p:nvSpPr>
              <p:cNvPr id="54" name="TextBox 54"/>
              <p:cNvSpPr txBox="1"/>
              <p:nvPr/>
            </p:nvSpPr>
            <p:spPr>
              <a:xfrm>
                <a:off x="6541224" y="2778442"/>
                <a:ext cx="138253" cy="274320"/>
              </a:xfrm>
              <a:prstGeom prst="rect">
                <a:avLst/>
              </a:prstGeom>
              <a:noFill/>
              <a:ln>
                <a:noFill/>
              </a:ln>
            </p:spPr>
            <p:txBody>
              <a:bodyPr wrap="none" lIns="0" tIns="0" rIns="0" bIns="0" anchor="t" anchorCtr="0">
                <a:spAutoFit/>
              </a:bodyPr>
              <a:lstStyle/>
              <a:p>
                <a:pPr algn="ctr"/>
                <a:r>
                  <a:rPr lang="zh-CN" sz="1350" b="1" dirty="0">
                    <a:solidFill>
                      <a:srgbClr val="F18F01"/>
                    </a:solidFill>
                    <a:latin typeface="Arial"/>
                    <a:ea typeface="Microsoft YaHei"/>
                    <a:cs typeface="Arial"/>
                  </a:rPr>
                  <a:t>5</a:t>
                </a:r>
              </a:p>
            </p:txBody>
          </p:sp>
          <p:sp>
            <p:nvSpPr>
              <p:cNvPr id="55" name="TextBox 55"/>
              <p:cNvSpPr txBox="1"/>
              <p:nvPr/>
            </p:nvSpPr>
            <p:spPr>
              <a:xfrm>
                <a:off x="6920865" y="2744152"/>
                <a:ext cx="1643872"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冷启动策略：双轨差异化</a:t>
                </a:r>
              </a:p>
            </p:txBody>
          </p:sp>
          <p:sp>
            <p:nvSpPr>
              <p:cNvPr id="56" name="TextBox 56"/>
              <p:cNvSpPr txBox="1"/>
              <p:nvPr/>
            </p:nvSpPr>
            <p:spPr>
              <a:xfrm>
                <a:off x="6923722" y="2939891"/>
                <a:ext cx="598527" cy="167640"/>
              </a:xfrm>
              <a:prstGeom prst="rect">
                <a:avLst/>
              </a:prstGeom>
              <a:noFill/>
              <a:ln>
                <a:noFill/>
              </a:ln>
            </p:spPr>
            <p:txBody>
              <a:bodyPr wrap="none" lIns="0" tIns="0" rIns="0" bIns="0" anchor="t" anchorCtr="0">
                <a:spAutoFit/>
              </a:bodyPr>
              <a:lstStyle/>
              <a:p>
                <a:pPr algn="l"/>
                <a:r>
                  <a:rPr lang="zh-CN" sz="825" b="1" dirty="0">
                    <a:solidFill>
                      <a:srgbClr val="27AE60"/>
                    </a:solidFill>
                    <a:latin typeface="Arial"/>
                    <a:ea typeface="Microsoft YaHei"/>
                    <a:cs typeface="Arial"/>
                  </a:rPr>
                  <a:t>强证据建议</a:t>
                </a:r>
              </a:p>
            </p:txBody>
          </p:sp>
          <p:sp>
            <p:nvSpPr>
              <p:cNvPr id="57" name="TextBox 57"/>
              <p:cNvSpPr txBox="1"/>
              <p:nvPr/>
            </p:nvSpPr>
            <p:spPr>
              <a:xfrm>
                <a:off x="6922770" y="3141345"/>
                <a:ext cx="234515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新游戏：10-20% 曝光倾斜直到积累足够评价</a:t>
                </a:r>
              </a:p>
            </p:txBody>
          </p:sp>
          <p:sp>
            <p:nvSpPr>
              <p:cNvPr id="58" name="TextBox 58"/>
              <p:cNvSpPr txBox="1"/>
              <p:nvPr/>
            </p:nvSpPr>
            <p:spPr>
              <a:xfrm>
                <a:off x="6922770" y="3312795"/>
                <a:ext cx="2657189"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新用户：先推荐热度锚定（5-10条后切换个性化）</a:t>
                </a:r>
              </a:p>
            </p:txBody>
          </p:sp>
        </p:grpSp>
        <p:grpSp>
          <p:nvGrpSpPr>
            <p:cNvPr id="66" name="Group 66"/>
            <p:cNvGrpSpPr/>
            <p:nvPr/>
          </p:nvGrpSpPr>
          <p:grpSpPr>
            <a:xfrm>
              <a:off x="6419850" y="3619500"/>
              <a:ext cx="2962084" cy="828675"/>
              <a:chOff x="6419850" y="3619500"/>
              <a:chExt cx="2962084" cy="828675"/>
            </a:xfrm>
          </p:grpSpPr>
          <p:sp>
            <p:nvSpPr>
              <p:cNvPr id="60" name="Rectangle 60"/>
              <p:cNvSpPr/>
              <p:nvPr/>
            </p:nvSpPr>
            <p:spPr>
              <a:xfrm>
                <a:off x="6419850" y="3619500"/>
                <a:ext cx="381000" cy="381000"/>
              </a:xfrm>
              <a:prstGeom prst="roundRect">
                <a:avLst>
                  <a:gd name="adj" fmla="val 20000"/>
                </a:avLst>
              </a:prstGeom>
              <a:solidFill>
                <a:srgbClr val="27AE60">
                  <a:alpha val="10000"/>
                </a:srgbClr>
              </a:solidFill>
              <a:ln>
                <a:noFill/>
              </a:ln>
            </p:spPr>
          </p:sp>
          <p:sp>
            <p:nvSpPr>
              <p:cNvPr id="61" name="TextBox 61"/>
              <p:cNvSpPr txBox="1"/>
              <p:nvPr/>
            </p:nvSpPr>
            <p:spPr>
              <a:xfrm>
                <a:off x="6541224" y="3730942"/>
                <a:ext cx="138253" cy="274320"/>
              </a:xfrm>
              <a:prstGeom prst="rect">
                <a:avLst/>
              </a:prstGeom>
              <a:noFill/>
              <a:ln>
                <a:noFill/>
              </a:ln>
            </p:spPr>
            <p:txBody>
              <a:bodyPr wrap="none" lIns="0" tIns="0" rIns="0" bIns="0" anchor="t" anchorCtr="0">
                <a:spAutoFit/>
              </a:bodyPr>
              <a:lstStyle/>
              <a:p>
                <a:pPr algn="ctr"/>
                <a:r>
                  <a:rPr lang="zh-CN" sz="1350" b="1" dirty="0">
                    <a:solidFill>
                      <a:srgbClr val="27AE60"/>
                    </a:solidFill>
                    <a:latin typeface="Arial"/>
                    <a:ea typeface="Microsoft YaHei"/>
                    <a:cs typeface="Arial"/>
                  </a:rPr>
                  <a:t>6</a:t>
                </a:r>
              </a:p>
            </p:txBody>
          </p:sp>
          <p:sp>
            <p:nvSpPr>
              <p:cNvPr id="62" name="TextBox 62"/>
              <p:cNvSpPr txBox="1"/>
              <p:nvPr/>
            </p:nvSpPr>
            <p:spPr>
              <a:xfrm>
                <a:off x="6920865" y="3696652"/>
                <a:ext cx="1643872" cy="213360"/>
              </a:xfrm>
              <a:prstGeom prst="rect">
                <a:avLst/>
              </a:prstGeom>
              <a:noFill/>
              <a:ln>
                <a:noFill/>
              </a:ln>
            </p:spPr>
            <p:txBody>
              <a:bodyPr wrap="none" lIns="0" tIns="0" rIns="0" bIns="0" anchor="t" anchorCtr="0">
                <a:spAutoFit/>
              </a:bodyPr>
              <a:lstStyle/>
              <a:p>
                <a:pPr algn="l"/>
                <a:r>
                  <a:rPr lang="zh-CN" sz="1050" b="1" dirty="0">
                    <a:solidFill>
                      <a:srgbClr val="2D3436"/>
                    </a:solidFill>
                    <a:latin typeface="Arial"/>
                    <a:ea typeface="Microsoft YaHei"/>
                    <a:cs typeface="Arial"/>
                  </a:rPr>
                  <a:t>评价激励：激活沉默用户</a:t>
                </a:r>
              </a:p>
            </p:txBody>
          </p:sp>
          <p:sp>
            <p:nvSpPr>
              <p:cNvPr id="63" name="TextBox 63"/>
              <p:cNvSpPr txBox="1"/>
              <p:nvPr/>
            </p:nvSpPr>
            <p:spPr>
              <a:xfrm>
                <a:off x="6923722" y="3892391"/>
                <a:ext cx="598527" cy="167640"/>
              </a:xfrm>
              <a:prstGeom prst="rect">
                <a:avLst/>
              </a:prstGeom>
              <a:noFill/>
              <a:ln>
                <a:noFill/>
              </a:ln>
            </p:spPr>
            <p:txBody>
              <a:bodyPr wrap="none" lIns="0" tIns="0" rIns="0" bIns="0" anchor="t" anchorCtr="0">
                <a:spAutoFit/>
              </a:bodyPr>
              <a:lstStyle/>
              <a:p>
                <a:pPr algn="l"/>
                <a:r>
                  <a:rPr lang="zh-CN" sz="825" b="1" dirty="0">
                    <a:solidFill>
                      <a:srgbClr val="F18F01"/>
                    </a:solidFill>
                    <a:latin typeface="Arial"/>
                    <a:ea typeface="Microsoft YaHei"/>
                    <a:cs typeface="Arial"/>
                  </a:rPr>
                  <a:t>探索性建议</a:t>
                </a:r>
              </a:p>
            </p:txBody>
          </p:sp>
          <p:sp>
            <p:nvSpPr>
              <p:cNvPr id="64" name="TextBox 64"/>
              <p:cNvSpPr txBox="1"/>
              <p:nvPr/>
            </p:nvSpPr>
            <p:spPr>
              <a:xfrm>
                <a:off x="6922770" y="4093845"/>
                <a:ext cx="2459164"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引导 50-60% 沉默用户（1-3条评论）发表评价</a:t>
                </a:r>
              </a:p>
            </p:txBody>
          </p:sp>
          <p:sp>
            <p:nvSpPr>
              <p:cNvPr id="65" name="TextBox 65"/>
              <p:cNvSpPr txBox="1"/>
              <p:nvPr/>
            </p:nvSpPr>
            <p:spPr>
              <a:xfrm>
                <a:off x="6922770" y="4265295"/>
                <a:ext cx="216512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购买后N天提醒 · 社区徽章 · 经验值激励</a:t>
                </a:r>
              </a:p>
            </p:txBody>
          </p:sp>
        </p:grpSp>
      </p:grpSp>
      <p:grpSp>
        <p:nvGrpSpPr>
          <p:cNvPr id="70" name="Group 70"/>
          <p:cNvGrpSpPr/>
          <p:nvPr/>
        </p:nvGrpSpPr>
        <p:grpSpPr>
          <a:xfrm>
            <a:off x="571500" y="5953125"/>
            <a:ext cx="11049000" cy="381000"/>
            <a:chOff x="571500" y="5953125"/>
            <a:chExt cx="11049000" cy="381000"/>
          </a:xfrm>
        </p:grpSpPr>
        <p:sp>
          <p:nvSpPr>
            <p:cNvPr id="68" name="Rectangle 68"/>
            <p:cNvSpPr/>
            <p:nvPr/>
          </p:nvSpPr>
          <p:spPr>
            <a:xfrm>
              <a:off x="571500" y="5953125"/>
              <a:ext cx="11049000" cy="381000"/>
            </a:xfrm>
            <a:prstGeom prst="roundRect">
              <a:avLst>
                <a:gd name="adj" fmla="val 15000"/>
              </a:avLst>
            </a:prstGeom>
            <a:solidFill>
              <a:srgbClr val="1A3A5C">
                <a:alpha val="4000"/>
              </a:srgbClr>
            </a:solidFill>
            <a:ln>
              <a:noFill/>
            </a:ln>
          </p:spPr>
        </p:sp>
        <p:sp>
          <p:nvSpPr>
            <p:cNvPr id="69" name="TextBox 69"/>
            <p:cNvSpPr txBox="1"/>
            <p:nvPr/>
          </p:nvSpPr>
          <p:spPr>
            <a:xfrm>
              <a:off x="3444240" y="6094095"/>
              <a:ext cx="5303520" cy="182880"/>
            </a:xfrm>
            <a:prstGeom prst="rect">
              <a:avLst/>
            </a:prstGeom>
            <a:noFill/>
            <a:ln>
              <a:noFill/>
            </a:ln>
          </p:spPr>
          <p:txBody>
            <a:bodyPr wrap="none" lIns="0" tIns="0" rIns="0" bIns="0" anchor="t" anchorCtr="0">
              <a:spAutoFit/>
            </a:bodyPr>
            <a:lstStyle/>
            <a:p>
              <a:pPr algn="ctr"/>
              <a:r>
                <a:rPr lang="zh-CN" sz="900" dirty="0">
                  <a:solidFill>
                    <a:srgbClr val="636E72"/>
                  </a:solidFill>
                  <a:latin typeface="Arial"/>
                  <a:ea typeface="Microsoft YaHei"/>
                  <a:cs typeface="Arial"/>
                </a:rPr>
                <a:t>证据强度：</a:t>
              </a:r>
              <a:r>
                <a:rPr lang="zh-CN" sz="900" b="1" dirty="0">
                  <a:solidFill>
                    <a:srgbClr val="27AE60"/>
                  </a:solidFill>
                  <a:latin typeface="Arial"/>
                  <a:ea typeface="Microsoft YaHei"/>
                  <a:cs typeface="Arial"/>
                </a:rPr>
                <a:t>强证据建议</a:t>
              </a:r>
              <a:r>
                <a:rPr lang="zh-CN" sz="900" dirty="0">
                  <a:solidFill>
                    <a:srgbClr val="636E72"/>
                  </a:solidFill>
                  <a:latin typeface="Arial"/>
                  <a:ea typeface="Microsoft YaHei"/>
                  <a:cs typeface="Arial"/>
                </a:rPr>
                <a:t xml:space="preserve"> = 基于描述性统计/模型直接输出 | </a:t>
              </a:r>
              <a:r>
                <a:rPr lang="zh-CN" sz="900" b="1" dirty="0">
                  <a:solidFill>
                    <a:srgbClr val="F18F01"/>
                  </a:solidFill>
                  <a:latin typeface="Arial"/>
                  <a:ea typeface="Microsoft YaHei"/>
                  <a:cs typeface="Arial"/>
                </a:rPr>
                <a:t>探索性建议</a:t>
              </a:r>
              <a:r>
                <a:rPr lang="zh-CN" sz="900" dirty="0">
                  <a:solidFill>
                    <a:srgbClr val="636E72"/>
                  </a:solidFill>
                  <a:latin typeface="Arial"/>
                  <a:ea typeface="Microsoft YaHei"/>
                  <a:cs typeface="Arial"/>
                </a:rPr>
                <a:t xml:space="preserve"> = 合理推断，需 A/B 测试验证</a:t>
              </a:r>
            </a:p>
          </p:txBody>
        </p:sp>
      </p:grpSp>
      <p:sp>
        <p:nvSpPr>
          <p:cNvPr id="71" name="TextBox 71"/>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left)">
                                      <p:cBhvr>
                                        <p:cTn id="11" dur="400"/>
                                        <p:tgtEl>
                                          <p:spTgt spid="6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67" grpId="0"/>
      <p:bldP spid="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68605"/>
            <a:ext cx="3121748" cy="510064"/>
            <a:chOff x="571500" y="268605"/>
            <a:chExt cx="3121748" cy="510064"/>
          </a:xfrm>
        </p:grpSpPr>
        <p:sp>
          <p:nvSpPr>
            <p:cNvPr id="3" name="Rectangle 3"/>
            <p:cNvSpPr/>
            <p:nvPr/>
          </p:nvSpPr>
          <p:spPr>
            <a:xfrm>
              <a:off x="571500" y="333375"/>
              <a:ext cx="38100" cy="400050"/>
            </a:xfrm>
            <a:prstGeom prst="roundRect">
              <a:avLst>
                <a:gd name="adj" fmla="val 50000"/>
              </a:avLst>
            </a:prstGeom>
            <a:gradFill>
              <a:gsLst>
                <a:gs pos="0">
                  <a:srgbClr val="1A3A5C"/>
                </a:gs>
                <a:gs pos="100000">
                  <a:srgbClr val="2E86AB"/>
                </a:gs>
              </a:gsLst>
              <a:lin ang="0" scaled="1"/>
            </a:gradFill>
            <a:ln>
              <a:noFill/>
            </a:ln>
          </p:spPr>
        </p:sp>
        <p:sp>
          <p:nvSpPr>
            <p:cNvPr id="4" name="TextBox 4"/>
            <p:cNvSpPr txBox="1"/>
            <p:nvPr/>
          </p:nvSpPr>
          <p:spPr>
            <a:xfrm>
              <a:off x="735330" y="268605"/>
              <a:ext cx="2405634" cy="426720"/>
            </a:xfrm>
            <a:prstGeom prst="rect">
              <a:avLst/>
            </a:prstGeom>
            <a:noFill/>
            <a:ln>
              <a:noFill/>
            </a:ln>
          </p:spPr>
          <p:txBody>
            <a:bodyPr wrap="none" lIns="0" tIns="0" rIns="0" bIns="0" anchor="t" anchorCtr="0">
              <a:spAutoFit/>
            </a:bodyPr>
            <a:lstStyle/>
            <a:p>
              <a:pPr algn="l"/>
              <a:r>
                <a:rPr lang="zh-CN" sz="2100" b="1" dirty="0">
                  <a:solidFill>
                    <a:srgbClr val="2D3436"/>
                  </a:solidFill>
                  <a:latin typeface="Arial"/>
                  <a:ea typeface="Microsoft YaHei"/>
                  <a:cs typeface="Arial"/>
                </a:rPr>
                <a:t>局限性与后续方向</a:t>
              </a:r>
            </a:p>
          </p:txBody>
        </p:sp>
        <p:sp>
          <p:nvSpPr>
            <p:cNvPr id="5" name="TextBox 5"/>
            <p:cNvSpPr txBox="1"/>
            <p:nvPr/>
          </p:nvSpPr>
          <p:spPr>
            <a:xfrm>
              <a:off x="749618" y="580549"/>
              <a:ext cx="2943630" cy="198120"/>
            </a:xfrm>
            <a:prstGeom prst="rect">
              <a:avLst/>
            </a:prstGeom>
            <a:noFill/>
            <a:ln>
              <a:noFill/>
            </a:ln>
          </p:spPr>
          <p:txBody>
            <a:bodyPr wrap="none" lIns="0" tIns="0" rIns="0" bIns="0" anchor="t" anchorCtr="0">
              <a:spAutoFit/>
            </a:bodyPr>
            <a:lstStyle/>
            <a:p>
              <a:pPr algn="l"/>
              <a:r>
                <a:rPr lang="zh-CN" sz="975" dirty="0">
                  <a:solidFill>
                    <a:srgbClr val="636E72"/>
                  </a:solidFill>
                  <a:latin typeface="Arial"/>
                  <a:ea typeface="Microsoft YaHei"/>
                  <a:cs typeface="Arial"/>
                </a:rPr>
                <a:t>方法论回顾 · 数据局限 · 方法局限 · 五大改进方向</a:t>
              </a:r>
            </a:p>
          </p:txBody>
        </p:sp>
      </p:grpSp>
      <p:grpSp>
        <p:nvGrpSpPr>
          <p:cNvPr id="35" name="Group 35"/>
          <p:cNvGrpSpPr/>
          <p:nvPr/>
        </p:nvGrpSpPr>
        <p:grpSpPr>
          <a:xfrm>
            <a:off x="571500" y="1047750"/>
            <a:ext cx="5524500" cy="2990850"/>
            <a:chOff x="571500" y="1047750"/>
            <a:chExt cx="5524500" cy="2990850"/>
          </a:xfrm>
        </p:grpSpPr>
        <p:sp>
          <p:nvSpPr>
            <p:cNvPr id="7" name="Rectangle 7"/>
            <p:cNvSpPr/>
            <p:nvPr/>
          </p:nvSpPr>
          <p:spPr>
            <a:xfrm>
              <a:off x="571500" y="1047750"/>
              <a:ext cx="5524500" cy="2857500"/>
            </a:xfrm>
            <a:prstGeom prst="roundRect">
              <a:avLst>
                <a:gd name="adj" fmla="val 2667"/>
              </a:avLst>
            </a:prstGeom>
            <a:solidFill>
              <a:srgbClr val="FFFFFF"/>
            </a:solidFill>
            <a:ln w="9525">
              <a:solidFill>
                <a:srgbClr val="DFE6E9"/>
              </a:solidFill>
            </a:ln>
          </p:spPr>
        </p:sp>
        <p:sp>
          <p:nvSpPr>
            <p:cNvPr id="8" name="Rectangle 8"/>
            <p:cNvSpPr/>
            <p:nvPr/>
          </p:nvSpPr>
          <p:spPr>
            <a:xfrm>
              <a:off x="571500" y="1047750"/>
              <a:ext cx="5524500" cy="38100"/>
            </a:xfrm>
            <a:prstGeom prst="roundRect">
              <a:avLst>
                <a:gd name="adj" fmla="val 50000"/>
              </a:avLst>
            </a:prstGeom>
            <a:solidFill>
              <a:srgbClr val="E74C3C"/>
            </a:solidFill>
            <a:ln>
              <a:noFill/>
            </a:ln>
          </p:spPr>
        </p:sp>
        <p:sp>
          <p:nvSpPr>
            <p:cNvPr id="9" name="TextBox 9"/>
            <p:cNvSpPr txBox="1"/>
            <p:nvPr/>
          </p:nvSpPr>
          <p:spPr>
            <a:xfrm>
              <a:off x="785812" y="1212056"/>
              <a:ext cx="658654" cy="228600"/>
            </a:xfrm>
            <a:prstGeom prst="rect">
              <a:avLst/>
            </a:prstGeom>
            <a:noFill/>
            <a:ln>
              <a:noFill/>
            </a:ln>
          </p:spPr>
          <p:txBody>
            <a:bodyPr wrap="none" lIns="0" tIns="0" rIns="0" bIns="0" anchor="t" anchorCtr="0">
              <a:spAutoFit/>
            </a:bodyPr>
            <a:lstStyle/>
            <a:p>
              <a:pPr algn="l"/>
              <a:r>
                <a:rPr lang="zh-CN" sz="1125" b="1" dirty="0">
                  <a:solidFill>
                    <a:srgbClr val="E74C3C"/>
                  </a:solidFill>
                  <a:latin typeface="Arial"/>
                  <a:ea typeface="Microsoft YaHei"/>
                  <a:cs typeface="Arial"/>
                </a:rPr>
                <a:t>数据局限</a:t>
              </a:r>
            </a:p>
          </p:txBody>
        </p:sp>
        <p:grpSp>
          <p:nvGrpSpPr>
            <p:cNvPr id="12" name="Group 12"/>
            <p:cNvGrpSpPr/>
            <p:nvPr/>
          </p:nvGrpSpPr>
          <p:grpSpPr>
            <a:xfrm>
              <a:off x="800100" y="1494949"/>
              <a:ext cx="1120402" cy="198120"/>
              <a:chOff x="800100" y="1494949"/>
              <a:chExt cx="1120402" cy="198120"/>
            </a:xfrm>
          </p:grpSpPr>
          <p:sp>
            <p:nvSpPr>
              <p:cNvPr id="10" name="Rectangle 10"/>
              <p:cNvSpPr/>
              <p:nvPr/>
            </p:nvSpPr>
            <p:spPr>
              <a:xfrm>
                <a:off x="800100" y="1524000"/>
                <a:ext cx="57150" cy="57150"/>
              </a:xfrm>
              <a:prstGeom prst="roundRect">
                <a:avLst>
                  <a:gd name="adj" fmla="val 16667"/>
                </a:avLst>
              </a:prstGeom>
              <a:solidFill>
                <a:srgbClr val="E74C3C"/>
              </a:solidFill>
              <a:ln>
                <a:noFill/>
              </a:ln>
            </p:spPr>
          </p:sp>
          <p:sp>
            <p:nvSpPr>
              <p:cNvPr id="11" name="TextBox 11"/>
              <p:cNvSpPr txBox="1"/>
              <p:nvPr/>
            </p:nvSpPr>
            <p:spPr>
              <a:xfrm>
                <a:off x="940118" y="1494949"/>
                <a:ext cx="980384"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平台代表性边界</a:t>
                </a:r>
              </a:p>
            </p:txBody>
          </p:sp>
        </p:grpSp>
        <p:sp>
          <p:nvSpPr>
            <p:cNvPr id="13" name="TextBox 13"/>
            <p:cNvSpPr txBox="1"/>
            <p:nvPr/>
          </p:nvSpPr>
          <p:spPr>
            <a:xfrm>
              <a:off x="941070" y="1636395"/>
              <a:ext cx="352729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仅 Steam 平台，结论不适用于主机（PS/Xbox/Switch）和移动端</a:t>
              </a:r>
            </a:p>
          </p:txBody>
        </p:sp>
        <p:grpSp>
          <p:nvGrpSpPr>
            <p:cNvPr id="16" name="Group 16"/>
            <p:cNvGrpSpPr/>
            <p:nvPr/>
          </p:nvGrpSpPr>
          <p:grpSpPr>
            <a:xfrm>
              <a:off x="800100" y="1875949"/>
              <a:ext cx="1256920" cy="198120"/>
              <a:chOff x="800100" y="1875949"/>
              <a:chExt cx="1256920" cy="198120"/>
            </a:xfrm>
          </p:grpSpPr>
          <p:sp>
            <p:nvSpPr>
              <p:cNvPr id="14" name="Rectangle 14"/>
              <p:cNvSpPr/>
              <p:nvPr/>
            </p:nvSpPr>
            <p:spPr>
              <a:xfrm>
                <a:off x="800100" y="1905000"/>
                <a:ext cx="57150" cy="57150"/>
              </a:xfrm>
              <a:prstGeom prst="roundRect">
                <a:avLst>
                  <a:gd name="adj" fmla="val 16667"/>
                </a:avLst>
              </a:prstGeom>
              <a:solidFill>
                <a:srgbClr val="E74C3C"/>
              </a:solidFill>
              <a:ln>
                <a:noFill/>
              </a:ln>
            </p:spPr>
          </p:sp>
          <p:sp>
            <p:nvSpPr>
              <p:cNvPr id="15" name="TextBox 15"/>
              <p:cNvSpPr txBox="1"/>
              <p:nvPr/>
            </p:nvSpPr>
            <p:spPr>
              <a:xfrm>
                <a:off x="940118" y="1875949"/>
                <a:ext cx="1116902"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人口统计信息缺失</a:t>
                </a:r>
              </a:p>
            </p:txBody>
          </p:sp>
        </p:grpSp>
        <p:sp>
          <p:nvSpPr>
            <p:cNvPr id="17" name="TextBox 17"/>
            <p:cNvSpPr txBox="1"/>
            <p:nvPr/>
          </p:nvSpPr>
          <p:spPr>
            <a:xfrm>
              <a:off x="941070" y="2017395"/>
              <a:ext cx="306524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users.csv 仅含行为数据，无法分析地区/年龄/语言差异</a:t>
              </a:r>
            </a:p>
          </p:txBody>
        </p:sp>
        <p:grpSp>
          <p:nvGrpSpPr>
            <p:cNvPr id="20" name="Group 20"/>
            <p:cNvGrpSpPr/>
            <p:nvPr/>
          </p:nvGrpSpPr>
          <p:grpSpPr>
            <a:xfrm>
              <a:off x="800100" y="2256949"/>
              <a:ext cx="1393437" cy="198120"/>
              <a:chOff x="800100" y="2256949"/>
              <a:chExt cx="1393437" cy="198120"/>
            </a:xfrm>
          </p:grpSpPr>
          <p:sp>
            <p:nvSpPr>
              <p:cNvPr id="18" name="Rectangle 18"/>
              <p:cNvSpPr/>
              <p:nvPr/>
            </p:nvSpPr>
            <p:spPr>
              <a:xfrm>
                <a:off x="800100" y="2286000"/>
                <a:ext cx="57150" cy="57150"/>
              </a:xfrm>
              <a:prstGeom prst="roundRect">
                <a:avLst>
                  <a:gd name="adj" fmla="val 16667"/>
                </a:avLst>
              </a:prstGeom>
              <a:solidFill>
                <a:srgbClr val="E74C3C"/>
              </a:solidFill>
              <a:ln>
                <a:noFill/>
              </a:ln>
            </p:spPr>
          </p:sp>
          <p:sp>
            <p:nvSpPr>
              <p:cNvPr id="19" name="TextBox 19"/>
              <p:cNvSpPr txBox="1"/>
              <p:nvPr/>
            </p:nvSpPr>
            <p:spPr>
              <a:xfrm>
                <a:off x="940118" y="2256949"/>
                <a:ext cx="1253419"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显式反馈自选择偏差</a:t>
                </a:r>
              </a:p>
            </p:txBody>
          </p:sp>
        </p:grpSp>
        <p:sp>
          <p:nvSpPr>
            <p:cNvPr id="21" name="TextBox 21"/>
            <p:cNvSpPr txBox="1"/>
            <p:nvPr/>
          </p:nvSpPr>
          <p:spPr>
            <a:xfrm>
              <a:off x="941070" y="2398395"/>
              <a:ext cx="173907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参与偏差 · 情感偏差 · 退款遗漏</a:t>
              </a:r>
            </a:p>
          </p:txBody>
        </p:sp>
        <p:grpSp>
          <p:nvGrpSpPr>
            <p:cNvPr id="24" name="Group 24"/>
            <p:cNvGrpSpPr/>
            <p:nvPr/>
          </p:nvGrpSpPr>
          <p:grpSpPr>
            <a:xfrm>
              <a:off x="800100" y="2637949"/>
              <a:ext cx="983885" cy="198120"/>
              <a:chOff x="800100" y="2637949"/>
              <a:chExt cx="983885" cy="198120"/>
            </a:xfrm>
          </p:grpSpPr>
          <p:sp>
            <p:nvSpPr>
              <p:cNvPr id="22" name="Rectangle 22"/>
              <p:cNvSpPr/>
              <p:nvPr/>
            </p:nvSpPr>
            <p:spPr>
              <a:xfrm>
                <a:off x="800100" y="2667000"/>
                <a:ext cx="57150" cy="57150"/>
              </a:xfrm>
              <a:prstGeom prst="roundRect">
                <a:avLst>
                  <a:gd name="adj" fmla="val 16667"/>
                </a:avLst>
              </a:prstGeom>
              <a:solidFill>
                <a:srgbClr val="E74C3C"/>
              </a:solidFill>
              <a:ln>
                <a:noFill/>
              </a:ln>
            </p:spPr>
          </p:sp>
          <p:sp>
            <p:nvSpPr>
              <p:cNvPr id="23" name="TextBox 23"/>
              <p:cNvSpPr txBox="1"/>
              <p:nvPr/>
            </p:nvSpPr>
            <p:spPr>
              <a:xfrm>
                <a:off x="940118" y="2637949"/>
                <a:ext cx="843867"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采样策略影响</a:t>
                </a:r>
              </a:p>
            </p:txBody>
          </p:sp>
        </p:grpSp>
        <p:sp>
          <p:nvSpPr>
            <p:cNvPr id="25" name="TextBox 25"/>
            <p:cNvSpPr txBox="1"/>
            <p:nvPr/>
          </p:nvSpPr>
          <p:spPr>
            <a:xfrm>
              <a:off x="941070" y="2779395"/>
              <a:ext cx="2327148"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500K采样可能低估极高活跃用户的长尾行为</a:t>
              </a:r>
            </a:p>
          </p:txBody>
        </p:sp>
        <p:sp>
          <p:nvSpPr>
            <p:cNvPr id="26" name="TextBox 26"/>
            <p:cNvSpPr txBox="1"/>
            <p:nvPr/>
          </p:nvSpPr>
          <p:spPr>
            <a:xfrm>
              <a:off x="785812" y="3069431"/>
              <a:ext cx="658654" cy="228600"/>
            </a:xfrm>
            <a:prstGeom prst="rect">
              <a:avLst/>
            </a:prstGeom>
            <a:noFill/>
            <a:ln>
              <a:noFill/>
            </a:ln>
          </p:spPr>
          <p:txBody>
            <a:bodyPr wrap="none" lIns="0" tIns="0" rIns="0" bIns="0" anchor="t" anchorCtr="0">
              <a:spAutoFit/>
            </a:bodyPr>
            <a:lstStyle/>
            <a:p>
              <a:pPr algn="l"/>
              <a:r>
                <a:rPr lang="zh-CN" sz="1125" b="1" dirty="0">
                  <a:solidFill>
                    <a:srgbClr val="F18F01"/>
                  </a:solidFill>
                  <a:latin typeface="Arial"/>
                  <a:ea typeface="Microsoft YaHei"/>
                  <a:cs typeface="Arial"/>
                </a:rPr>
                <a:t>方法局限</a:t>
              </a:r>
            </a:p>
          </p:txBody>
        </p:sp>
        <p:grpSp>
          <p:nvGrpSpPr>
            <p:cNvPr id="29" name="Group 29"/>
            <p:cNvGrpSpPr/>
            <p:nvPr/>
          </p:nvGrpSpPr>
          <p:grpSpPr>
            <a:xfrm>
              <a:off x="800100" y="3352324"/>
              <a:ext cx="1666471" cy="198120"/>
              <a:chOff x="800100" y="3352324"/>
              <a:chExt cx="1666471" cy="198120"/>
            </a:xfrm>
          </p:grpSpPr>
          <p:sp>
            <p:nvSpPr>
              <p:cNvPr id="27" name="Rectangle 27"/>
              <p:cNvSpPr/>
              <p:nvPr/>
            </p:nvSpPr>
            <p:spPr>
              <a:xfrm>
                <a:off x="800100" y="3381375"/>
                <a:ext cx="57150" cy="57150"/>
              </a:xfrm>
              <a:prstGeom prst="roundRect">
                <a:avLst>
                  <a:gd name="adj" fmla="val 16667"/>
                </a:avLst>
              </a:prstGeom>
              <a:solidFill>
                <a:srgbClr val="F18F01"/>
              </a:solidFill>
              <a:ln>
                <a:noFill/>
              </a:ln>
            </p:spPr>
          </p:sp>
          <p:sp>
            <p:nvSpPr>
              <p:cNvPr id="28" name="TextBox 28"/>
              <p:cNvSpPr txBox="1"/>
              <p:nvPr/>
            </p:nvSpPr>
            <p:spPr>
              <a:xfrm>
                <a:off x="940118" y="3352324"/>
                <a:ext cx="1526453"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未使用协同过滤对比基线</a:t>
                </a:r>
              </a:p>
            </p:txBody>
          </p:sp>
        </p:grpSp>
        <p:sp>
          <p:nvSpPr>
            <p:cNvPr id="30" name="TextBox 30"/>
            <p:cNvSpPr txBox="1"/>
            <p:nvPr/>
          </p:nvSpPr>
          <p:spPr>
            <a:xfrm>
              <a:off x="941070" y="3493770"/>
              <a:ext cx="2531173"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无法回答"纯CF vs 基于内容"哪种更适合本数据</a:t>
              </a:r>
            </a:p>
          </p:txBody>
        </p:sp>
        <p:grpSp>
          <p:nvGrpSpPr>
            <p:cNvPr id="33" name="Group 33"/>
            <p:cNvGrpSpPr/>
            <p:nvPr/>
          </p:nvGrpSpPr>
          <p:grpSpPr>
            <a:xfrm>
              <a:off x="800100" y="3714274"/>
              <a:ext cx="1427566" cy="198120"/>
              <a:chOff x="800100" y="3714274"/>
              <a:chExt cx="1427566" cy="198120"/>
            </a:xfrm>
          </p:grpSpPr>
          <p:sp>
            <p:nvSpPr>
              <p:cNvPr id="31" name="Rectangle 31"/>
              <p:cNvSpPr/>
              <p:nvPr/>
            </p:nvSpPr>
            <p:spPr>
              <a:xfrm>
                <a:off x="800100" y="3743325"/>
                <a:ext cx="57150" cy="57150"/>
              </a:xfrm>
              <a:prstGeom prst="roundRect">
                <a:avLst>
                  <a:gd name="adj" fmla="val 16667"/>
                </a:avLst>
              </a:prstGeom>
              <a:solidFill>
                <a:srgbClr val="F18F01"/>
              </a:solidFill>
              <a:ln>
                <a:noFill/>
              </a:ln>
            </p:spPr>
          </p:sp>
          <p:sp>
            <p:nvSpPr>
              <p:cNvPr id="32" name="TextBox 32"/>
              <p:cNvSpPr txBox="1"/>
              <p:nvPr/>
            </p:nvSpPr>
            <p:spPr>
              <a:xfrm>
                <a:off x="940118" y="3714274"/>
                <a:ext cx="1287548"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未使用 NLP 文本特征</a:t>
                </a:r>
              </a:p>
            </p:txBody>
          </p:sp>
        </p:grpSp>
        <p:sp>
          <p:nvSpPr>
            <p:cNvPr id="34" name="TextBox 34"/>
            <p:cNvSpPr txBox="1"/>
            <p:nvPr/>
          </p:nvSpPr>
          <p:spPr>
            <a:xfrm>
              <a:off x="941070" y="3855720"/>
              <a:ext cx="230314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描述文本和细粒度标签的语义信息未被利用</a:t>
              </a:r>
            </a:p>
          </p:txBody>
        </p:sp>
      </p:grpSp>
      <p:grpSp>
        <p:nvGrpSpPr>
          <p:cNvPr id="64" name="Group 64"/>
          <p:cNvGrpSpPr/>
          <p:nvPr/>
        </p:nvGrpSpPr>
        <p:grpSpPr>
          <a:xfrm>
            <a:off x="6286500" y="1047750"/>
            <a:ext cx="5334000" cy="2857500"/>
            <a:chOff x="6286500" y="1047750"/>
            <a:chExt cx="5334000" cy="2857500"/>
          </a:xfrm>
        </p:grpSpPr>
        <p:sp>
          <p:nvSpPr>
            <p:cNvPr id="36" name="Rectangle 36"/>
            <p:cNvSpPr/>
            <p:nvPr/>
          </p:nvSpPr>
          <p:spPr>
            <a:xfrm>
              <a:off x="6286500" y="1047750"/>
              <a:ext cx="5334000" cy="2857500"/>
            </a:xfrm>
            <a:prstGeom prst="roundRect">
              <a:avLst>
                <a:gd name="adj" fmla="val 2667"/>
              </a:avLst>
            </a:prstGeom>
            <a:solidFill>
              <a:srgbClr val="FFFFFF"/>
            </a:solidFill>
            <a:ln w="9525">
              <a:solidFill>
                <a:srgbClr val="DFE6E9"/>
              </a:solidFill>
            </a:ln>
          </p:spPr>
        </p:sp>
        <p:sp>
          <p:nvSpPr>
            <p:cNvPr id="37" name="Rectangle 37"/>
            <p:cNvSpPr/>
            <p:nvPr/>
          </p:nvSpPr>
          <p:spPr>
            <a:xfrm>
              <a:off x="6286500" y="1047750"/>
              <a:ext cx="5334000" cy="38100"/>
            </a:xfrm>
            <a:prstGeom prst="roundRect">
              <a:avLst>
                <a:gd name="adj" fmla="val 50000"/>
              </a:avLst>
            </a:prstGeom>
            <a:solidFill>
              <a:srgbClr val="27AE60"/>
            </a:solidFill>
            <a:ln>
              <a:noFill/>
            </a:ln>
          </p:spPr>
        </p:sp>
        <p:sp>
          <p:nvSpPr>
            <p:cNvPr id="38" name="TextBox 38"/>
            <p:cNvSpPr txBox="1"/>
            <p:nvPr/>
          </p:nvSpPr>
          <p:spPr>
            <a:xfrm>
              <a:off x="6500812" y="1212056"/>
              <a:ext cx="973693" cy="228600"/>
            </a:xfrm>
            <a:prstGeom prst="rect">
              <a:avLst/>
            </a:prstGeom>
            <a:noFill/>
            <a:ln>
              <a:noFill/>
            </a:ln>
          </p:spPr>
          <p:txBody>
            <a:bodyPr wrap="none" lIns="0" tIns="0" rIns="0" bIns="0" anchor="t" anchorCtr="0">
              <a:spAutoFit/>
            </a:bodyPr>
            <a:lstStyle/>
            <a:p>
              <a:pPr algn="l"/>
              <a:r>
                <a:rPr lang="zh-CN" sz="1125" b="1" dirty="0">
                  <a:solidFill>
                    <a:srgbClr val="27AE60"/>
                  </a:solidFill>
                  <a:latin typeface="Arial"/>
                  <a:ea typeface="Microsoft YaHei"/>
                  <a:cs typeface="Arial"/>
                </a:rPr>
                <a:t>后续改进方向</a:t>
              </a:r>
            </a:p>
          </p:txBody>
        </p:sp>
        <p:grpSp>
          <p:nvGrpSpPr>
            <p:cNvPr id="43" name="Group 43"/>
            <p:cNvGrpSpPr/>
            <p:nvPr/>
          </p:nvGrpSpPr>
          <p:grpSpPr>
            <a:xfrm>
              <a:off x="6515100" y="1571625"/>
              <a:ext cx="2705576" cy="371475"/>
              <a:chOff x="6515100" y="1571625"/>
              <a:chExt cx="2705576" cy="371475"/>
            </a:xfrm>
          </p:grpSpPr>
          <p:sp>
            <p:nvSpPr>
              <p:cNvPr id="39" name="Ellipse 39"/>
              <p:cNvSpPr/>
              <p:nvPr/>
            </p:nvSpPr>
            <p:spPr>
              <a:xfrm>
                <a:off x="6515100" y="1571625"/>
                <a:ext cx="228600" cy="228600"/>
              </a:xfrm>
              <a:prstGeom prst="ellipse">
                <a:avLst/>
              </a:prstGeom>
              <a:solidFill>
                <a:srgbClr val="1A3A5C"/>
              </a:solidFill>
              <a:ln>
                <a:noFill/>
              </a:ln>
            </p:spPr>
          </p:sp>
          <p:sp>
            <p:nvSpPr>
              <p:cNvPr id="40" name="TextBox 40"/>
              <p:cNvSpPr txBox="1"/>
              <p:nvPr/>
            </p:nvSpPr>
            <p:spPr>
              <a:xfrm>
                <a:off x="6596540" y="1637824"/>
                <a:ext cx="6572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1</a:t>
                </a:r>
              </a:p>
            </p:txBody>
          </p:sp>
          <p:sp>
            <p:nvSpPr>
              <p:cNvPr id="41" name="TextBox 41"/>
              <p:cNvSpPr txBox="1"/>
              <p:nvPr/>
            </p:nvSpPr>
            <p:spPr>
              <a:xfrm>
                <a:off x="6826568" y="1580674"/>
                <a:ext cx="1389936"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引入协同过滤对比实验</a:t>
                </a:r>
              </a:p>
            </p:txBody>
          </p:sp>
          <p:sp>
            <p:nvSpPr>
              <p:cNvPr id="42" name="TextBox 42"/>
              <p:cNvSpPr txBox="1"/>
              <p:nvPr/>
            </p:nvSpPr>
            <p:spPr>
              <a:xfrm>
                <a:off x="6827520" y="1760220"/>
                <a:ext cx="2393156"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SVD / KNNBasic / NCF，同组切分下公平对比</a:t>
                </a:r>
              </a:p>
            </p:txBody>
          </p:sp>
        </p:grpSp>
        <p:grpSp>
          <p:nvGrpSpPr>
            <p:cNvPr id="48" name="Group 48"/>
            <p:cNvGrpSpPr/>
            <p:nvPr/>
          </p:nvGrpSpPr>
          <p:grpSpPr>
            <a:xfrm>
              <a:off x="6515100" y="2047875"/>
              <a:ext cx="2813590" cy="371475"/>
              <a:chOff x="6515100" y="2047875"/>
              <a:chExt cx="2813590" cy="371475"/>
            </a:xfrm>
          </p:grpSpPr>
          <p:sp>
            <p:nvSpPr>
              <p:cNvPr id="44" name="Ellipse 44"/>
              <p:cNvSpPr/>
              <p:nvPr/>
            </p:nvSpPr>
            <p:spPr>
              <a:xfrm>
                <a:off x="6515100" y="2047875"/>
                <a:ext cx="228600" cy="228600"/>
              </a:xfrm>
              <a:prstGeom prst="ellipse">
                <a:avLst/>
              </a:prstGeom>
              <a:solidFill>
                <a:srgbClr val="2E86AB"/>
              </a:solidFill>
              <a:ln>
                <a:noFill/>
              </a:ln>
            </p:spPr>
          </p:sp>
          <p:sp>
            <p:nvSpPr>
              <p:cNvPr id="45" name="TextBox 45"/>
              <p:cNvSpPr txBox="1"/>
              <p:nvPr/>
            </p:nvSpPr>
            <p:spPr>
              <a:xfrm>
                <a:off x="6579475" y="211407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a:t>
                </a:r>
              </a:p>
            </p:txBody>
          </p:sp>
          <p:sp>
            <p:nvSpPr>
              <p:cNvPr id="46" name="TextBox 46"/>
              <p:cNvSpPr txBox="1"/>
              <p:nvPr/>
            </p:nvSpPr>
            <p:spPr>
              <a:xfrm>
                <a:off x="6826568" y="2056924"/>
                <a:ext cx="1151031"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引入 NLP 语义特征</a:t>
                </a:r>
              </a:p>
            </p:txBody>
          </p:sp>
          <p:sp>
            <p:nvSpPr>
              <p:cNvPr id="47" name="TextBox 47"/>
              <p:cNvSpPr txBox="1"/>
              <p:nvPr/>
            </p:nvSpPr>
            <p:spPr>
              <a:xfrm>
                <a:off x="6827520" y="2236470"/>
                <a:ext cx="250117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描述文本 TF-IDF / 多语言嵌入 · 低频标签编码</a:t>
                </a:r>
              </a:p>
            </p:txBody>
          </p:sp>
        </p:grpSp>
        <p:grpSp>
          <p:nvGrpSpPr>
            <p:cNvPr id="53" name="Group 53"/>
            <p:cNvGrpSpPr/>
            <p:nvPr/>
          </p:nvGrpSpPr>
          <p:grpSpPr>
            <a:xfrm>
              <a:off x="6515100" y="2524125"/>
              <a:ext cx="2819590" cy="371475"/>
              <a:chOff x="6515100" y="2524125"/>
              <a:chExt cx="2819590" cy="371475"/>
            </a:xfrm>
          </p:grpSpPr>
          <p:sp>
            <p:nvSpPr>
              <p:cNvPr id="49" name="Ellipse 49"/>
              <p:cNvSpPr/>
              <p:nvPr/>
            </p:nvSpPr>
            <p:spPr>
              <a:xfrm>
                <a:off x="6515100" y="2524125"/>
                <a:ext cx="228600" cy="228600"/>
              </a:xfrm>
              <a:prstGeom prst="ellipse">
                <a:avLst/>
              </a:prstGeom>
              <a:solidFill>
                <a:srgbClr val="F18F01"/>
              </a:solidFill>
              <a:ln>
                <a:noFill/>
              </a:ln>
            </p:spPr>
          </p:sp>
          <p:sp>
            <p:nvSpPr>
              <p:cNvPr id="50" name="TextBox 50"/>
              <p:cNvSpPr txBox="1"/>
              <p:nvPr/>
            </p:nvSpPr>
            <p:spPr>
              <a:xfrm>
                <a:off x="6579475" y="259032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3</a:t>
                </a:r>
              </a:p>
            </p:txBody>
          </p:sp>
          <p:sp>
            <p:nvSpPr>
              <p:cNvPr id="51" name="TextBox 51"/>
              <p:cNvSpPr txBox="1"/>
              <p:nvPr/>
            </p:nvSpPr>
            <p:spPr>
              <a:xfrm>
                <a:off x="6826568" y="2533174"/>
                <a:ext cx="843867"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深入时序分析</a:t>
                </a:r>
              </a:p>
            </p:txBody>
          </p:sp>
          <p:sp>
            <p:nvSpPr>
              <p:cNvPr id="52" name="TextBox 52"/>
              <p:cNvSpPr txBox="1"/>
              <p:nvPr/>
            </p:nvSpPr>
            <p:spPr>
              <a:xfrm>
                <a:off x="6827520" y="2712720"/>
                <a:ext cx="250717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时间切分训练/测试 · 游戏生命周期推荐率变化</a:t>
                </a:r>
              </a:p>
            </p:txBody>
          </p:sp>
        </p:grpSp>
        <p:grpSp>
          <p:nvGrpSpPr>
            <p:cNvPr id="58" name="Group 58"/>
            <p:cNvGrpSpPr/>
            <p:nvPr/>
          </p:nvGrpSpPr>
          <p:grpSpPr>
            <a:xfrm>
              <a:off x="6515100" y="3000375"/>
              <a:ext cx="2873597" cy="371475"/>
              <a:chOff x="6515100" y="3000375"/>
              <a:chExt cx="2873597" cy="371475"/>
            </a:xfrm>
          </p:grpSpPr>
          <p:sp>
            <p:nvSpPr>
              <p:cNvPr id="54" name="Ellipse 54"/>
              <p:cNvSpPr/>
              <p:nvPr/>
            </p:nvSpPr>
            <p:spPr>
              <a:xfrm>
                <a:off x="6515100" y="3000375"/>
                <a:ext cx="228600" cy="228600"/>
              </a:xfrm>
              <a:prstGeom prst="ellipse">
                <a:avLst/>
              </a:prstGeom>
              <a:solidFill>
                <a:srgbClr val="1A3A5C"/>
              </a:solidFill>
              <a:ln>
                <a:noFill/>
              </a:ln>
            </p:spPr>
          </p:sp>
          <p:sp>
            <p:nvSpPr>
              <p:cNvPr id="55" name="TextBox 55"/>
              <p:cNvSpPr txBox="1"/>
              <p:nvPr/>
            </p:nvSpPr>
            <p:spPr>
              <a:xfrm>
                <a:off x="6579475" y="306657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4</a:t>
                </a:r>
              </a:p>
            </p:txBody>
          </p:sp>
          <p:sp>
            <p:nvSpPr>
              <p:cNvPr id="56" name="TextBox 56"/>
              <p:cNvSpPr txBox="1"/>
              <p:nvPr/>
            </p:nvSpPr>
            <p:spPr>
              <a:xfrm>
                <a:off x="6826568" y="3009424"/>
                <a:ext cx="1116902"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尝试深度学习方法</a:t>
                </a:r>
              </a:p>
            </p:txBody>
          </p:sp>
          <p:sp>
            <p:nvSpPr>
              <p:cNvPr id="57" name="TextBox 57"/>
              <p:cNvSpPr txBox="1"/>
              <p:nvPr/>
            </p:nvSpPr>
            <p:spPr>
              <a:xfrm>
                <a:off x="6827520" y="3188970"/>
                <a:ext cx="2561177"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Wide &amp; Deep / DeepFM：天然适合混合特征输入</a:t>
                </a:r>
              </a:p>
            </p:txBody>
          </p:sp>
        </p:grpSp>
        <p:grpSp>
          <p:nvGrpSpPr>
            <p:cNvPr id="63" name="Group 63"/>
            <p:cNvGrpSpPr/>
            <p:nvPr/>
          </p:nvGrpSpPr>
          <p:grpSpPr>
            <a:xfrm>
              <a:off x="6515100" y="3476625"/>
              <a:ext cx="3053620" cy="371475"/>
              <a:chOff x="6515100" y="3476625"/>
              <a:chExt cx="3053620" cy="371475"/>
            </a:xfrm>
          </p:grpSpPr>
          <p:sp>
            <p:nvSpPr>
              <p:cNvPr id="59" name="Ellipse 59"/>
              <p:cNvSpPr/>
              <p:nvPr/>
            </p:nvSpPr>
            <p:spPr>
              <a:xfrm>
                <a:off x="6515100" y="3476625"/>
                <a:ext cx="228600" cy="228600"/>
              </a:xfrm>
              <a:prstGeom prst="ellipse">
                <a:avLst/>
              </a:prstGeom>
              <a:solidFill>
                <a:srgbClr val="27AE60"/>
              </a:solidFill>
              <a:ln>
                <a:noFill/>
              </a:ln>
            </p:spPr>
          </p:sp>
          <p:sp>
            <p:nvSpPr>
              <p:cNvPr id="60" name="TextBox 60"/>
              <p:cNvSpPr txBox="1"/>
              <p:nvPr/>
            </p:nvSpPr>
            <p:spPr>
              <a:xfrm>
                <a:off x="6579475" y="3542824"/>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5</a:t>
                </a:r>
              </a:p>
            </p:txBody>
          </p:sp>
          <p:sp>
            <p:nvSpPr>
              <p:cNvPr id="61" name="TextBox 61"/>
              <p:cNvSpPr txBox="1"/>
              <p:nvPr/>
            </p:nvSpPr>
            <p:spPr>
              <a:xfrm>
                <a:off x="6826568" y="3485674"/>
                <a:ext cx="1348981" cy="198120"/>
              </a:xfrm>
              <a:prstGeom prst="rect">
                <a:avLst/>
              </a:prstGeom>
              <a:noFill/>
              <a:ln>
                <a:noFill/>
              </a:ln>
            </p:spPr>
            <p:txBody>
              <a:bodyPr wrap="none" lIns="0" tIns="0" rIns="0" bIns="0" anchor="t" anchorCtr="0">
                <a:spAutoFit/>
              </a:bodyPr>
              <a:lstStyle/>
              <a:p>
                <a:pPr algn="l"/>
                <a:r>
                  <a:rPr lang="zh-CN" sz="975" b="1" dirty="0">
                    <a:solidFill>
                      <a:srgbClr val="2D3436"/>
                    </a:solidFill>
                    <a:latin typeface="Arial"/>
                    <a:ea typeface="Microsoft YaHei"/>
                    <a:cs typeface="Arial"/>
                  </a:rPr>
                  <a:t>部署交互式推荐 Demo</a:t>
                </a:r>
              </a:p>
            </p:txBody>
          </p:sp>
          <p:sp>
            <p:nvSpPr>
              <p:cNvPr id="62" name="TextBox 62"/>
              <p:cNvSpPr txBox="1"/>
              <p:nvPr/>
            </p:nvSpPr>
            <p:spPr>
              <a:xfrm>
                <a:off x="6827520" y="3665220"/>
                <a:ext cx="2741200"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Streamlit/Gradio 原型，输入参数→实时预测+解释</a:t>
                </a:r>
              </a:p>
            </p:txBody>
          </p:sp>
        </p:grpSp>
      </p:grpSp>
      <p:grpSp>
        <p:nvGrpSpPr>
          <p:cNvPr id="70" name="Group 70"/>
          <p:cNvGrpSpPr/>
          <p:nvPr/>
        </p:nvGrpSpPr>
        <p:grpSpPr>
          <a:xfrm>
            <a:off x="571500" y="4191000"/>
            <a:ext cx="11049000" cy="857250"/>
            <a:chOff x="571500" y="4191000"/>
            <a:chExt cx="11049000" cy="857250"/>
          </a:xfrm>
        </p:grpSpPr>
        <p:sp>
          <p:nvSpPr>
            <p:cNvPr id="65" name="Rectangle 65"/>
            <p:cNvSpPr/>
            <p:nvPr/>
          </p:nvSpPr>
          <p:spPr>
            <a:xfrm>
              <a:off x="571500" y="4191000"/>
              <a:ext cx="11049000" cy="857250"/>
            </a:xfrm>
            <a:prstGeom prst="roundRect">
              <a:avLst>
                <a:gd name="adj" fmla="val 8889"/>
              </a:avLst>
            </a:prstGeom>
            <a:solidFill>
              <a:srgbClr val="1A3A5C">
                <a:alpha val="4000"/>
              </a:srgbClr>
            </a:solidFill>
            <a:ln>
              <a:noFill/>
            </a:ln>
          </p:spPr>
        </p:sp>
        <p:sp>
          <p:nvSpPr>
            <p:cNvPr id="66" name="Rectangle 66"/>
            <p:cNvSpPr/>
            <p:nvPr/>
          </p:nvSpPr>
          <p:spPr>
            <a:xfrm>
              <a:off x="571500" y="4191000"/>
              <a:ext cx="38100" cy="857250"/>
            </a:xfrm>
            <a:prstGeom prst="roundRect">
              <a:avLst>
                <a:gd name="adj" fmla="val 50000"/>
              </a:avLst>
            </a:prstGeom>
            <a:solidFill>
              <a:srgbClr val="1A3A5C"/>
            </a:solidFill>
            <a:ln>
              <a:noFill/>
            </a:ln>
          </p:spPr>
        </p:sp>
        <p:sp>
          <p:nvSpPr>
            <p:cNvPr id="67" name="TextBox 67"/>
            <p:cNvSpPr txBox="1"/>
            <p:nvPr/>
          </p:nvSpPr>
          <p:spPr>
            <a:xfrm>
              <a:off x="786765" y="4363402"/>
              <a:ext cx="761762"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项目完成度</a:t>
              </a:r>
            </a:p>
          </p:txBody>
        </p:sp>
        <p:sp>
          <p:nvSpPr>
            <p:cNvPr id="68" name="TextBox 68"/>
            <p:cNvSpPr txBox="1"/>
            <p:nvPr/>
          </p:nvSpPr>
          <p:spPr>
            <a:xfrm>
              <a:off x="787718" y="4609624"/>
              <a:ext cx="5673971" cy="198120"/>
            </a:xfrm>
            <a:prstGeom prst="rect">
              <a:avLst/>
            </a:prstGeom>
            <a:noFill/>
            <a:ln>
              <a:noFill/>
            </a:ln>
          </p:spPr>
          <p:txBody>
            <a:bodyPr wrap="none" lIns="0" tIns="0" rIns="0" bIns="0" anchor="t" anchorCtr="0">
              <a:spAutoFit/>
            </a:bodyPr>
            <a:lstStyle/>
            <a:p>
              <a:pPr algn="l"/>
              <a:r>
                <a:rPr lang="zh-CN" sz="975" dirty="0">
                  <a:solidFill>
                    <a:srgbClr val="2D3436"/>
                  </a:solidFill>
                  <a:latin typeface="Arial"/>
                  <a:ea typeface="Microsoft YaHei"/>
                  <a:cs typeface="Arial"/>
                </a:rPr>
                <a:t>8 阶段完整流水线 · 88 个 TDD 测试全部通过 · 500K 采样 + 全量数据验证 · 4 个研究问题全部回答</a:t>
              </a:r>
            </a:p>
          </p:txBody>
        </p:sp>
        <p:sp>
          <p:nvSpPr>
            <p:cNvPr id="69" name="TextBox 69"/>
            <p:cNvSpPr txBox="1"/>
            <p:nvPr/>
          </p:nvSpPr>
          <p:spPr>
            <a:xfrm>
              <a:off x="788670" y="4836795"/>
              <a:ext cx="811787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数据局限是结构性的（Steam平台/无人口统计/自选择偏差），已在结论中充分标注。方法局限可通过后续工作（CF/NLP/时序/深度学习）系统性改进。</a:t>
              </a:r>
            </a:p>
          </p:txBody>
        </p:sp>
      </p:grpSp>
      <p:sp>
        <p:nvSpPr>
          <p:cNvPr id="71" name="TextBox 71"/>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image">
                                      <p:cBhvr>
                                        <p:cTn id="7" dur="400"/>
                                        <p:tgtEl>
                                          <p:spTgt spid="3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fade">
                                      <p:cBhvr>
                                        <p:cTn id="11" dur="400"/>
                                        <p:tgtEl>
                                          <p:spTgt spid="6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4" grpId="0"/>
      <p:bldP spid="7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Rectangle 3"/>
          <p:cNvSpPr/>
          <p:nvPr/>
        </p:nvSpPr>
        <p:spPr>
          <a:xfrm>
            <a:off x="0" y="0"/>
            <a:ext cx="12192000" cy="6858000"/>
          </a:xfrm>
          <a:prstGeom prst="rect">
            <a:avLst/>
          </a:prstGeom>
          <a:gradFill>
            <a:gsLst>
              <a:gs pos="0">
                <a:srgbClr val="2E86AB">
                  <a:alpha val="8000"/>
                </a:srgbClr>
              </a:gs>
              <a:gs pos="100000">
                <a:srgbClr val="FAFAFA">
                  <a:alpha val="0"/>
                </a:srgbClr>
              </a:gs>
            </a:gsLst>
            <a:path path="circle">
              <a:fillToRect l="50000" t="50000" r="50000" b="50000"/>
            </a:path>
          </a:gradFill>
          <a:ln>
            <a:noFill/>
          </a:ln>
        </p:spPr>
      </p:sp>
      <p:sp>
        <p:nvSpPr>
          <p:cNvPr id="4" name="Rectangle 4"/>
          <p:cNvSpPr/>
          <p:nvPr/>
        </p:nvSpPr>
        <p:spPr>
          <a:xfrm>
            <a:off x="5143500" y="523875"/>
            <a:ext cx="1905000" cy="38100"/>
          </a:xfrm>
          <a:prstGeom prst="roundRect">
            <a:avLst>
              <a:gd name="adj" fmla="val 50000"/>
            </a:avLst>
          </a:prstGeom>
          <a:gradFill>
            <a:gsLst>
              <a:gs pos="0">
                <a:srgbClr val="F18F01">
                  <a:alpha val="0"/>
                </a:srgbClr>
              </a:gs>
              <a:gs pos="50000">
                <a:srgbClr val="F18F01"/>
              </a:gs>
              <a:gs pos="100000">
                <a:srgbClr val="F18F01">
                  <a:alpha val="0"/>
                </a:srgbClr>
              </a:gs>
            </a:gsLst>
            <a:lin ang="0" scaled="1"/>
          </a:gradFill>
          <a:ln>
            <a:noFill/>
          </a:ln>
        </p:spPr>
      </p:sp>
      <p:grpSp>
        <p:nvGrpSpPr>
          <p:cNvPr id="6" name="Group 6"/>
          <p:cNvGrpSpPr/>
          <p:nvPr/>
        </p:nvGrpSpPr>
        <p:grpSpPr>
          <a:xfrm>
            <a:off x="5683663" y="851535"/>
            <a:ext cx="824675" cy="548640"/>
            <a:chOff x="5683663" y="851535"/>
            <a:chExt cx="824675" cy="548640"/>
          </a:xfrm>
        </p:grpSpPr>
        <p:sp>
          <p:nvSpPr>
            <p:cNvPr id="5" name="TextBox 5"/>
            <p:cNvSpPr txBox="1"/>
            <p:nvPr/>
          </p:nvSpPr>
          <p:spPr>
            <a:xfrm>
              <a:off x="5683663" y="851535"/>
              <a:ext cx="824675" cy="548640"/>
            </a:xfrm>
            <a:prstGeom prst="rect">
              <a:avLst/>
            </a:prstGeom>
            <a:noFill/>
            <a:ln>
              <a:noFill/>
            </a:ln>
          </p:spPr>
          <p:txBody>
            <a:bodyPr wrap="none" lIns="0" tIns="0" rIns="0" bIns="0" anchor="t" anchorCtr="0">
              <a:spAutoFit/>
            </a:bodyPr>
            <a:lstStyle/>
            <a:p>
              <a:pPr algn="ctr"/>
              <a:r>
                <a:rPr lang="zh-CN" sz="2700" b="1" dirty="0">
                  <a:solidFill>
                    <a:srgbClr val="1A3A5C"/>
                  </a:solidFill>
                  <a:latin typeface="Arial"/>
                  <a:ea typeface="Microsoft YaHei"/>
                  <a:cs typeface="Arial"/>
                </a:rPr>
                <a:t>总结</a:t>
              </a:r>
            </a:p>
          </p:txBody>
        </p:sp>
      </p:grpSp>
      <p:grpSp>
        <p:nvGrpSpPr>
          <p:cNvPr id="37" name="Group 37"/>
          <p:cNvGrpSpPr/>
          <p:nvPr/>
        </p:nvGrpSpPr>
        <p:grpSpPr>
          <a:xfrm>
            <a:off x="1714500" y="1666875"/>
            <a:ext cx="8763000" cy="3810000"/>
            <a:chOff x="1714500" y="1666875"/>
            <a:chExt cx="8763000" cy="3810000"/>
          </a:xfrm>
        </p:grpSpPr>
        <p:grpSp>
          <p:nvGrpSpPr>
            <p:cNvPr id="12" name="Group 12"/>
            <p:cNvGrpSpPr/>
            <p:nvPr/>
          </p:nvGrpSpPr>
          <p:grpSpPr>
            <a:xfrm>
              <a:off x="1714500" y="1666875"/>
              <a:ext cx="8763000" cy="571500"/>
              <a:chOff x="1714500" y="1666875"/>
              <a:chExt cx="8763000" cy="571500"/>
            </a:xfrm>
          </p:grpSpPr>
          <p:sp>
            <p:nvSpPr>
              <p:cNvPr id="7" name="Rectangle 7"/>
              <p:cNvSpPr/>
              <p:nvPr/>
            </p:nvSpPr>
            <p:spPr>
              <a:xfrm>
                <a:off x="1714500" y="1666875"/>
                <a:ext cx="8763000" cy="571500"/>
              </a:xfrm>
              <a:prstGeom prst="roundRect">
                <a:avLst>
                  <a:gd name="adj" fmla="val 13333"/>
                </a:avLst>
              </a:prstGeom>
              <a:solidFill>
                <a:srgbClr val="1A3A5C">
                  <a:alpha val="4000"/>
                </a:srgbClr>
              </a:solidFill>
              <a:ln>
                <a:noFill/>
              </a:ln>
            </p:spPr>
          </p:sp>
          <p:sp>
            <p:nvSpPr>
              <p:cNvPr id="8" name="Ellipse 8"/>
              <p:cNvSpPr/>
              <p:nvPr/>
            </p:nvSpPr>
            <p:spPr>
              <a:xfrm>
                <a:off x="1828800" y="1781175"/>
                <a:ext cx="342900" cy="342900"/>
              </a:xfrm>
              <a:prstGeom prst="ellipse">
                <a:avLst/>
              </a:prstGeom>
              <a:solidFill>
                <a:srgbClr val="1A3A5C"/>
              </a:solidFill>
              <a:ln>
                <a:noFill/>
              </a:ln>
            </p:spPr>
          </p:sp>
          <p:sp>
            <p:nvSpPr>
              <p:cNvPr id="9" name="TextBox 9"/>
              <p:cNvSpPr txBox="1"/>
              <p:nvPr/>
            </p:nvSpPr>
            <p:spPr>
              <a:xfrm>
                <a:off x="1964862" y="189642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10" name="TextBox 10"/>
              <p:cNvSpPr txBox="1"/>
              <p:nvPr/>
            </p:nvSpPr>
            <p:spPr>
              <a:xfrm>
                <a:off x="2309812" y="1793081"/>
                <a:ext cx="5504259"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完成了从</a:t>
                </a:r>
                <a:r>
                  <a:rPr lang="zh-CN" sz="1125" b="1" dirty="0">
                    <a:solidFill>
                      <a:srgbClr val="1A3A5C"/>
                    </a:solidFill>
                    <a:latin typeface="Arial"/>
                    <a:ea typeface="Microsoft YaHei"/>
                    <a:cs typeface="Arial"/>
                  </a:rPr>
                  <a:t>原始数据到可落地建议</a:t>
                </a:r>
                <a:r>
                  <a:rPr lang="zh-CN" sz="1125" dirty="0">
                    <a:solidFill>
                      <a:srgbClr val="2D3436"/>
                    </a:solidFill>
                    <a:latin typeface="Arial"/>
                    <a:ea typeface="Microsoft YaHei"/>
                    <a:cs typeface="Arial"/>
                  </a:rPr>
                  <a:t>的完整数据科学流水线（8 阶段，88 个 TDD 测试）</a:t>
                </a:r>
              </a:p>
            </p:txBody>
          </p:sp>
          <p:sp>
            <p:nvSpPr>
              <p:cNvPr id="11" name="TextBox 11"/>
              <p:cNvSpPr txBox="1"/>
              <p:nvPr/>
            </p:nvSpPr>
            <p:spPr>
              <a:xfrm>
                <a:off x="2312670" y="2026920"/>
                <a:ext cx="3293269"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41M+ 条推荐记录 · 4 个数据文件 · 500K 采样开发 + 全量验证</a:t>
                </a:r>
              </a:p>
            </p:txBody>
          </p:sp>
        </p:grpSp>
        <p:grpSp>
          <p:nvGrpSpPr>
            <p:cNvPr id="18" name="Group 18"/>
            <p:cNvGrpSpPr/>
            <p:nvPr/>
          </p:nvGrpSpPr>
          <p:grpSpPr>
            <a:xfrm>
              <a:off x="1714500" y="2476500"/>
              <a:ext cx="8763000" cy="571500"/>
              <a:chOff x="1714500" y="2476500"/>
              <a:chExt cx="8763000" cy="571500"/>
            </a:xfrm>
          </p:grpSpPr>
          <p:sp>
            <p:nvSpPr>
              <p:cNvPr id="13" name="Rectangle 13"/>
              <p:cNvSpPr/>
              <p:nvPr/>
            </p:nvSpPr>
            <p:spPr>
              <a:xfrm>
                <a:off x="1714500" y="2476500"/>
                <a:ext cx="8763000" cy="571500"/>
              </a:xfrm>
              <a:prstGeom prst="roundRect">
                <a:avLst>
                  <a:gd name="adj" fmla="val 13333"/>
                </a:avLst>
              </a:prstGeom>
              <a:solidFill>
                <a:srgbClr val="F18F01">
                  <a:alpha val="4000"/>
                </a:srgbClr>
              </a:solidFill>
              <a:ln>
                <a:noFill/>
              </a:ln>
            </p:spPr>
          </p:sp>
          <p:sp>
            <p:nvSpPr>
              <p:cNvPr id="14" name="Ellipse 14"/>
              <p:cNvSpPr/>
              <p:nvPr/>
            </p:nvSpPr>
            <p:spPr>
              <a:xfrm>
                <a:off x="1828800" y="2590800"/>
                <a:ext cx="342900" cy="342900"/>
              </a:xfrm>
              <a:prstGeom prst="ellipse">
                <a:avLst/>
              </a:prstGeom>
              <a:solidFill>
                <a:srgbClr val="F18F01"/>
              </a:solidFill>
              <a:ln>
                <a:noFill/>
              </a:ln>
            </p:spPr>
          </p:sp>
          <p:sp>
            <p:nvSpPr>
              <p:cNvPr id="15" name="TextBox 15"/>
              <p:cNvSpPr txBox="1"/>
              <p:nvPr/>
            </p:nvSpPr>
            <p:spPr>
              <a:xfrm>
                <a:off x="1946485" y="27060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16" name="TextBox 16"/>
              <p:cNvSpPr txBox="1"/>
              <p:nvPr/>
            </p:nvSpPr>
            <p:spPr>
              <a:xfrm>
                <a:off x="2309812" y="2602706"/>
                <a:ext cx="3906560"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Steam 市场</a:t>
                </a:r>
                <a:r>
                  <a:rPr lang="zh-CN" sz="1125" b="1" dirty="0">
                    <a:solidFill>
                      <a:srgbClr val="F18F01"/>
                    </a:solidFill>
                    <a:latin typeface="Arial"/>
                    <a:ea typeface="Microsoft YaHei"/>
                    <a:cs typeface="Arial"/>
                  </a:rPr>
                  <a:t>"赢家通吃"</a:t>
                </a:r>
                <a:r>
                  <a:rPr lang="zh-CN" sz="1125" dirty="0">
                    <a:solidFill>
                      <a:srgbClr val="2D3436"/>
                    </a:solidFill>
                    <a:latin typeface="Arial"/>
                    <a:ea typeface="Microsoft YaHei"/>
                    <a:cs typeface="Arial"/>
                  </a:rPr>
                  <a:t>（Gini &gt; 0.5），冷启动是核心挑战</a:t>
                </a:r>
              </a:p>
            </p:txBody>
          </p:sp>
          <p:sp>
            <p:nvSpPr>
              <p:cNvPr id="17" name="TextBox 17"/>
              <p:cNvSpPr txBox="1"/>
              <p:nvPr/>
            </p:nvSpPr>
            <p:spPr>
              <a:xfrm>
                <a:off x="2312670" y="2836545"/>
                <a:ext cx="244116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Top 1% 游戏占 30-50% 推荐量 · 幂律长尾市场</a:t>
                </a:r>
              </a:p>
            </p:txBody>
          </p:sp>
        </p:grpSp>
        <p:grpSp>
          <p:nvGrpSpPr>
            <p:cNvPr id="24" name="Group 24"/>
            <p:cNvGrpSpPr/>
            <p:nvPr/>
          </p:nvGrpSpPr>
          <p:grpSpPr>
            <a:xfrm>
              <a:off x="1714500" y="3286125"/>
              <a:ext cx="8763000" cy="571500"/>
              <a:chOff x="1714500" y="3286125"/>
              <a:chExt cx="8763000" cy="571500"/>
            </a:xfrm>
          </p:grpSpPr>
          <p:sp>
            <p:nvSpPr>
              <p:cNvPr id="19" name="Rectangle 19"/>
              <p:cNvSpPr/>
              <p:nvPr/>
            </p:nvSpPr>
            <p:spPr>
              <a:xfrm>
                <a:off x="1714500" y="3286125"/>
                <a:ext cx="8763000" cy="571500"/>
              </a:xfrm>
              <a:prstGeom prst="roundRect">
                <a:avLst>
                  <a:gd name="adj" fmla="val 13333"/>
                </a:avLst>
              </a:prstGeom>
              <a:solidFill>
                <a:srgbClr val="2E86AB">
                  <a:alpha val="4000"/>
                </a:srgbClr>
              </a:solidFill>
              <a:ln>
                <a:noFill/>
              </a:ln>
            </p:spPr>
          </p:sp>
          <p:sp>
            <p:nvSpPr>
              <p:cNvPr id="20" name="Ellipse 20"/>
              <p:cNvSpPr/>
              <p:nvPr/>
            </p:nvSpPr>
            <p:spPr>
              <a:xfrm>
                <a:off x="1828800" y="3400425"/>
                <a:ext cx="342900" cy="342900"/>
              </a:xfrm>
              <a:prstGeom prst="ellipse">
                <a:avLst/>
              </a:prstGeom>
              <a:solidFill>
                <a:srgbClr val="2E86AB"/>
              </a:solidFill>
              <a:ln>
                <a:noFill/>
              </a:ln>
            </p:spPr>
          </p:sp>
          <p:sp>
            <p:nvSpPr>
              <p:cNvPr id="21" name="TextBox 21"/>
              <p:cNvSpPr txBox="1"/>
              <p:nvPr/>
            </p:nvSpPr>
            <p:spPr>
              <a:xfrm>
                <a:off x="1946485" y="35156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22" name="TextBox 22"/>
              <p:cNvSpPr txBox="1"/>
              <p:nvPr/>
            </p:nvSpPr>
            <p:spPr>
              <a:xfrm>
                <a:off x="2309812" y="3412331"/>
                <a:ext cx="3719036"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用户行为</a:t>
                </a:r>
                <a:r>
                  <a:rPr lang="zh-CN" sz="1125" b="1" dirty="0">
                    <a:solidFill>
                      <a:srgbClr val="2E86AB"/>
                    </a:solidFill>
                    <a:latin typeface="Arial"/>
                    <a:ea typeface="Microsoft YaHei"/>
                    <a:cs typeface="Arial"/>
                  </a:rPr>
                  <a:t>极端长尾</a:t>
                </a:r>
                <a:r>
                  <a:rPr lang="zh-CN" sz="1125" dirty="0">
                    <a:solidFill>
                      <a:srgbClr val="2D3436"/>
                    </a:solidFill>
                    <a:latin typeface="Arial"/>
                    <a:ea typeface="Microsoft YaHei"/>
                    <a:cs typeface="Arial"/>
                  </a:rPr>
                  <a:t>，50-60% 沉默用户的数据价值待挖掘</a:t>
                </a:r>
              </a:p>
            </p:txBody>
          </p:sp>
          <p:sp>
            <p:nvSpPr>
              <p:cNvPr id="23" name="TextBox 23"/>
              <p:cNvSpPr txBox="1"/>
              <p:nvPr/>
            </p:nvSpPr>
            <p:spPr>
              <a:xfrm>
                <a:off x="2312670" y="3646170"/>
                <a:ext cx="3503295"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类别不平衡（推荐率 0.75-0.85）· 仅 1 条评论的极端用户需剔除</a:t>
                </a:r>
              </a:p>
            </p:txBody>
          </p:sp>
        </p:grpSp>
        <p:grpSp>
          <p:nvGrpSpPr>
            <p:cNvPr id="30" name="Group 30"/>
            <p:cNvGrpSpPr/>
            <p:nvPr/>
          </p:nvGrpSpPr>
          <p:grpSpPr>
            <a:xfrm>
              <a:off x="1714500" y="4095750"/>
              <a:ext cx="8763000" cy="571500"/>
              <a:chOff x="1714500" y="4095750"/>
              <a:chExt cx="8763000" cy="571500"/>
            </a:xfrm>
          </p:grpSpPr>
          <p:sp>
            <p:nvSpPr>
              <p:cNvPr id="25" name="Rectangle 25"/>
              <p:cNvSpPr/>
              <p:nvPr/>
            </p:nvSpPr>
            <p:spPr>
              <a:xfrm>
                <a:off x="1714500" y="4095750"/>
                <a:ext cx="8763000" cy="571500"/>
              </a:xfrm>
              <a:prstGeom prst="roundRect">
                <a:avLst>
                  <a:gd name="adj" fmla="val 13333"/>
                </a:avLst>
              </a:prstGeom>
              <a:solidFill>
                <a:srgbClr val="27AE60">
                  <a:alpha val="4000"/>
                </a:srgbClr>
              </a:solidFill>
              <a:ln>
                <a:noFill/>
              </a:ln>
            </p:spPr>
          </p:sp>
          <p:sp>
            <p:nvSpPr>
              <p:cNvPr id="26" name="Ellipse 26"/>
              <p:cNvSpPr/>
              <p:nvPr/>
            </p:nvSpPr>
            <p:spPr>
              <a:xfrm>
                <a:off x="1828800" y="4210050"/>
                <a:ext cx="342900" cy="342900"/>
              </a:xfrm>
              <a:prstGeom prst="ellipse">
                <a:avLst/>
              </a:prstGeom>
              <a:solidFill>
                <a:srgbClr val="27AE60"/>
              </a:solidFill>
              <a:ln>
                <a:noFill/>
              </a:ln>
            </p:spPr>
          </p:sp>
          <p:sp>
            <p:nvSpPr>
              <p:cNvPr id="27" name="TextBox 27"/>
              <p:cNvSpPr txBox="1"/>
              <p:nvPr/>
            </p:nvSpPr>
            <p:spPr>
              <a:xfrm>
                <a:off x="1946485" y="4325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28" name="TextBox 28"/>
              <p:cNvSpPr txBox="1"/>
              <p:nvPr/>
            </p:nvSpPr>
            <p:spPr>
              <a:xfrm>
                <a:off x="2309812" y="4221956"/>
                <a:ext cx="4296608"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机器学习可</a:t>
                </a:r>
                <a:r>
                  <a:rPr lang="zh-CN" sz="1125" b="1" dirty="0">
                    <a:solidFill>
                      <a:srgbClr val="27AE60"/>
                    </a:solidFill>
                    <a:latin typeface="Arial"/>
                    <a:ea typeface="Microsoft YaHei"/>
                    <a:cs typeface="Arial"/>
                  </a:rPr>
                  <a:t>有效预测</a:t>
                </a:r>
                <a:r>
                  <a:rPr lang="zh-CN" sz="1125" dirty="0">
                    <a:solidFill>
                      <a:srgbClr val="2D3436"/>
                    </a:solidFill>
                    <a:latin typeface="Arial"/>
                    <a:ea typeface="Microsoft YaHei"/>
                    <a:cs typeface="Arial"/>
                  </a:rPr>
                  <a:t>推荐行为（XGBoost ROC-AUC 0.75-0.85）</a:t>
                </a:r>
              </a:p>
            </p:txBody>
          </p:sp>
          <p:sp>
            <p:nvSpPr>
              <p:cNvPr id="29" name="TextBox 29"/>
              <p:cNvSpPr txBox="1"/>
              <p:nvPr/>
            </p:nvSpPr>
            <p:spPr>
              <a:xfrm>
                <a:off x="2312670" y="4455795"/>
                <a:ext cx="3641312"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交互特征（口碑 + 用户倾向）是最强预测因子 · 3 模型对比 + 3 基线</a:t>
                </a:r>
              </a:p>
            </p:txBody>
          </p:sp>
        </p:grpSp>
        <p:grpSp>
          <p:nvGrpSpPr>
            <p:cNvPr id="36" name="Group 36"/>
            <p:cNvGrpSpPr/>
            <p:nvPr/>
          </p:nvGrpSpPr>
          <p:grpSpPr>
            <a:xfrm>
              <a:off x="1714500" y="4905375"/>
              <a:ext cx="8763000" cy="571500"/>
              <a:chOff x="1714500" y="4905375"/>
              <a:chExt cx="8763000" cy="571500"/>
            </a:xfrm>
          </p:grpSpPr>
          <p:sp>
            <p:nvSpPr>
              <p:cNvPr id="31" name="Rectangle 31"/>
              <p:cNvSpPr/>
              <p:nvPr/>
            </p:nvSpPr>
            <p:spPr>
              <a:xfrm>
                <a:off x="1714500" y="4905375"/>
                <a:ext cx="8763000" cy="571500"/>
              </a:xfrm>
              <a:prstGeom prst="roundRect">
                <a:avLst>
                  <a:gd name="adj" fmla="val 13333"/>
                </a:avLst>
              </a:prstGeom>
              <a:solidFill>
                <a:srgbClr val="1A3A5C">
                  <a:alpha val="3000"/>
                </a:srgbClr>
              </a:solidFill>
              <a:ln>
                <a:noFill/>
              </a:ln>
            </p:spPr>
          </p:sp>
          <p:sp>
            <p:nvSpPr>
              <p:cNvPr id="32" name="Ellipse 32"/>
              <p:cNvSpPr/>
              <p:nvPr/>
            </p:nvSpPr>
            <p:spPr>
              <a:xfrm>
                <a:off x="1828800" y="5019675"/>
                <a:ext cx="342900" cy="342900"/>
              </a:xfrm>
              <a:prstGeom prst="ellipse">
                <a:avLst/>
              </a:prstGeom>
              <a:solidFill>
                <a:srgbClr val="1A3A5C"/>
              </a:solidFill>
              <a:ln>
                <a:noFill/>
              </a:ln>
            </p:spPr>
          </p:sp>
          <p:sp>
            <p:nvSpPr>
              <p:cNvPr id="33" name="TextBox 33"/>
              <p:cNvSpPr txBox="1"/>
              <p:nvPr/>
            </p:nvSpPr>
            <p:spPr>
              <a:xfrm>
                <a:off x="1946485" y="5134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5</a:t>
                </a:r>
              </a:p>
            </p:txBody>
          </p:sp>
          <p:sp>
            <p:nvSpPr>
              <p:cNvPr id="34" name="TextBox 34"/>
              <p:cNvSpPr txBox="1"/>
              <p:nvPr/>
            </p:nvSpPr>
            <p:spPr>
              <a:xfrm>
                <a:off x="2309812" y="5031581"/>
                <a:ext cx="5009198" cy="228600"/>
              </a:xfrm>
              <a:prstGeom prst="rect">
                <a:avLst/>
              </a:prstGeom>
              <a:noFill/>
              <a:ln>
                <a:noFill/>
              </a:ln>
            </p:spPr>
            <p:txBody>
              <a:bodyPr wrap="none" lIns="0" tIns="0" rIns="0" bIns="0" anchor="t" anchorCtr="0">
                <a:spAutoFit/>
              </a:bodyPr>
              <a:lstStyle/>
              <a:p>
                <a:pPr algn="l"/>
                <a:r>
                  <a:rPr lang="zh-CN" sz="1125" dirty="0">
                    <a:solidFill>
                      <a:srgbClr val="2D3436"/>
                    </a:solidFill>
                    <a:latin typeface="Arial"/>
                    <a:ea typeface="Microsoft YaHei"/>
                    <a:cs typeface="Arial"/>
                  </a:rPr>
                  <a:t>业务建议覆盖</a:t>
                </a:r>
                <a:r>
                  <a:rPr lang="zh-CN" sz="1125" b="1" dirty="0">
                    <a:solidFill>
                      <a:srgbClr val="1A3A5C"/>
                    </a:solidFill>
                    <a:latin typeface="Arial"/>
                    <a:ea typeface="Microsoft YaHei"/>
                    <a:cs typeface="Arial"/>
                  </a:rPr>
                  <a:t>开发者</a:t>
                </a:r>
                <a:r>
                  <a:rPr lang="zh-CN" sz="1125" dirty="0">
                    <a:solidFill>
                      <a:srgbClr val="2D3436"/>
                    </a:solidFill>
                    <a:latin typeface="Arial"/>
                    <a:ea typeface="Microsoft YaHei"/>
                    <a:cs typeface="Arial"/>
                  </a:rPr>
                  <a:t>（定价+类型+评分）和</a:t>
                </a:r>
                <a:r>
                  <a:rPr lang="zh-CN" sz="1125" b="1" dirty="0">
                    <a:solidFill>
                      <a:srgbClr val="1A3A5C"/>
                    </a:solidFill>
                    <a:latin typeface="Arial"/>
                    <a:ea typeface="Microsoft YaHei"/>
                    <a:cs typeface="Arial"/>
                  </a:rPr>
                  <a:t>平台运营</a:t>
                </a:r>
                <a:r>
                  <a:rPr lang="zh-CN" sz="1125" dirty="0">
                    <a:solidFill>
                      <a:srgbClr val="2D3436"/>
                    </a:solidFill>
                    <a:latin typeface="Arial"/>
                    <a:ea typeface="Microsoft YaHei"/>
                    <a:cs typeface="Arial"/>
                  </a:rPr>
                  <a:t>（算法+冷启动+激励）</a:t>
                </a:r>
              </a:p>
            </p:txBody>
          </p:sp>
          <p:sp>
            <p:nvSpPr>
              <p:cNvPr id="35" name="TextBox 35"/>
              <p:cNvSpPr txBox="1"/>
              <p:nvPr/>
            </p:nvSpPr>
            <p:spPr>
              <a:xfrm>
                <a:off x="2312670" y="5265420"/>
                <a:ext cx="3281267" cy="182880"/>
              </a:xfrm>
              <a:prstGeom prst="rect">
                <a:avLst/>
              </a:prstGeom>
              <a:noFill/>
              <a:ln>
                <a:noFill/>
              </a:ln>
            </p:spPr>
            <p:txBody>
              <a:bodyPr wrap="none" lIns="0" tIns="0" rIns="0" bIns="0" anchor="t" anchorCtr="0">
                <a:spAutoFit/>
              </a:bodyPr>
              <a:lstStyle/>
              <a:p>
                <a:pPr algn="l"/>
                <a:r>
                  <a:rPr lang="zh-CN" sz="900" dirty="0">
                    <a:solidFill>
                      <a:srgbClr val="636E72"/>
                    </a:solidFill>
                    <a:latin typeface="Arial"/>
                    <a:ea typeface="Microsoft YaHei"/>
                    <a:cs typeface="Arial"/>
                  </a:rPr>
                  <a:t>6 条具体建议 · 附带证据强度标注 · 局限性与改进方向已明确</a:t>
                </a:r>
              </a:p>
            </p:txBody>
          </p:sp>
        </p:grpSp>
      </p:grpSp>
      <p:sp>
        <p:nvSpPr>
          <p:cNvPr id="38" name="Line 38"/>
          <p:cNvSpPr/>
          <p:nvPr/>
        </p:nvSpPr>
        <p:spPr>
          <a:xfrm>
            <a:off x="4191000" y="5810250"/>
            <a:ext cx="3810000" cy="9525"/>
          </a:xfrm>
          <a:custGeom>
            <a:avLst/>
            <a:gdLst/>
            <a:ahLst/>
            <a:cxnLst/>
            <a:rect l="l" t="t" r="r" b="b"/>
            <a:pathLst>
              <a:path w="3810000" h="9525">
                <a:moveTo>
                  <a:pt x="0" y="0"/>
                </a:moveTo>
                <a:lnTo>
                  <a:pt x="3810000" y="0"/>
                </a:lnTo>
              </a:path>
            </a:pathLst>
          </a:custGeom>
          <a:noFill/>
          <a:ln w="9525">
            <a:solidFill>
              <a:srgbClr val="DFE6E9"/>
            </a:solidFill>
          </a:ln>
        </p:spPr>
      </p:sp>
      <p:sp>
        <p:nvSpPr>
          <p:cNvPr id="39" name="TextBox 39"/>
          <p:cNvSpPr txBox="1"/>
          <p:nvPr/>
        </p:nvSpPr>
        <p:spPr>
          <a:xfrm>
            <a:off x="4920096" y="5996940"/>
            <a:ext cx="2351808" cy="365760"/>
          </a:xfrm>
          <a:prstGeom prst="rect">
            <a:avLst/>
          </a:prstGeom>
          <a:noFill/>
          <a:ln>
            <a:noFill/>
          </a:ln>
        </p:spPr>
        <p:txBody>
          <a:bodyPr wrap="none" lIns="0" tIns="0" rIns="0" bIns="0" anchor="t" anchorCtr="0">
            <a:spAutoFit/>
          </a:bodyPr>
          <a:lstStyle/>
          <a:p>
            <a:pPr algn="ctr"/>
            <a:r>
              <a:rPr lang="zh-CN" sz="1800" b="1" dirty="0">
                <a:solidFill>
                  <a:srgbClr val="1A3A5C"/>
                </a:solidFill>
                <a:latin typeface="Arial"/>
                <a:ea typeface="Microsoft YaHei"/>
                <a:cs typeface="Arial"/>
              </a:rPr>
              <a:t>感谢聆听 · 欢迎提问</a:t>
            </a:r>
          </a:p>
        </p:txBody>
      </p:sp>
      <p:sp>
        <p:nvSpPr>
          <p:cNvPr id="40" name="TextBox 40"/>
          <p:cNvSpPr txBox="1"/>
          <p:nvPr/>
        </p:nvSpPr>
        <p:spPr>
          <a:xfrm>
            <a:off x="5953149" y="6344602"/>
            <a:ext cx="285702" cy="213360"/>
          </a:xfrm>
          <a:prstGeom prst="rect">
            <a:avLst/>
          </a:prstGeom>
          <a:noFill/>
          <a:ln>
            <a:noFill/>
          </a:ln>
        </p:spPr>
        <p:txBody>
          <a:bodyPr wrap="none" lIns="0" tIns="0" rIns="0" bIns="0" anchor="t" anchorCtr="0">
            <a:spAutoFit/>
          </a:bodyPr>
          <a:lstStyle/>
          <a:p>
            <a:pPr algn="ctr"/>
            <a:r>
              <a:rPr lang="zh-CN" sz="1050" dirty="0">
                <a:solidFill>
                  <a:srgbClr val="636E72"/>
                </a:solidFill>
                <a:latin typeface="Arial"/>
                <a:ea typeface="Microsoft YaHei"/>
                <a:cs typeface="Arial"/>
              </a:rPr>
              <a:t>Q&amp;A</a:t>
            </a:r>
          </a:p>
        </p:txBody>
      </p:sp>
      <p:sp>
        <p:nvSpPr>
          <p:cNvPr id="41" name="TextBox 41"/>
          <p:cNvSpPr txBox="1"/>
          <p:nvPr/>
        </p:nvSpPr>
        <p:spPr>
          <a:xfrm>
            <a:off x="11326011" y="6530816"/>
            <a:ext cx="114467" cy="167640"/>
          </a:xfrm>
          <a:prstGeom prst="rect">
            <a:avLst/>
          </a:prstGeom>
          <a:noFill/>
          <a:ln>
            <a:noFill/>
          </a:ln>
        </p:spPr>
        <p:txBody>
          <a:bodyPr wrap="none" lIns="0" tIns="0" rIns="0" bIns="0" anchor="t" anchorCtr="0">
            <a:spAutoFit/>
          </a:bodyPr>
          <a:lstStyle/>
          <a:p>
            <a:pPr algn="r"/>
            <a:r>
              <a:rPr lang="zh-CN" sz="825" dirty="0">
                <a:solidFill>
                  <a:srgbClr val="B2BEC3"/>
                </a:solidFill>
                <a:latin typeface="Arial"/>
                <a:ea typeface="Microsoft YaHei"/>
                <a:cs typeface="Arial"/>
              </a:rPr>
              <a:t>16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